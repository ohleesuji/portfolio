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Slides/notesSlide201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slides/slide901.xml" ContentType="application/vnd.openxmlformats-officedocument.presentationml.slide+xml"/>
  <Override PartName="/ppt/slides/slide910.xml" ContentType="application/vnd.openxmlformats-officedocument.presentationml.slide+xml"/>
  <Override PartName="/ppt/slides/slide911.xml" ContentType="application/vnd.openxmlformats-officedocument.presentationml.slide+xml"/>
  <Override PartName="/ppt/slides/slide9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9"/>
  </p:notesMasterIdLst>
  <p:sldIdLst>
    <p:sldId id="415" r:id="rId2"/>
    <p:sldId id="416" r:id="rIdTimeline"/>
    <p:sldId id="417" r:id="rIdHighlights"/>
    <p:sldId id="418" r:id="rIdApproach"/>
    <p:sldId id="419" r:id="rId4"/>
    <p:sldId id="420" r:id="rIdMultiturn"/>
    <p:sldId id="421" r:id="rIdKakao28"/>
    <p:sldId id="422" r:id="rIdKakao29"/>
    <p:sldId id="423" r:id="rIdKakao30"/>
    <p:sldId id="424" r:id="rIdKakao31"/>
    <p:sldId id="425" r:id="rId6"/>
    <p:sldId id="426" r:id="rId8"/>
    <p:sldId id="427" r:id="rId9"/>
    <p:sldId id="428" r:id="rId10"/>
    <p:sldId id="429" r:id="rId11"/>
    <p:sldId id="430" r:id="rId12"/>
    <p:sldId id="431" r:id="rId13"/>
    <p:sldId id="432" r:id="rId14"/>
    <p:sldId id="433" r:id="rId15"/>
    <p:sldId id="434" r:id="rId16"/>
    <p:sldId id="435" r:id="rId17"/>
    <p:sldId id="436" r:id="rId18"/>
    <p:sldId id="437" r:id="rId20"/>
    <p:sldId id="438" r:id="rId21"/>
    <p:sldId id="439" r:id="rId22"/>
    <p:sldId id="440" r:id="rId23"/>
    <p:sldId id="441" r:id="rId24"/>
    <p:sldId id="442" r:id="rId25"/>
    <p:sldId id="443" r:id="rId27"/>
    <p:sldId id="444" r:id="rId28"/>
  </p:sldIdLst>
  <p:sldSz cx="12192000" cy="6858000"/>
  <p:notesSz cx="6858000" cy="9144000"/>
  <p:embeddedFontLst>
    <p:embeddedFont>
      <p:font typeface="나눔스퀘어라운드OTF Regular" panose="020B0600000101010101" charset="-127"/>
      <p:regular r:id="rId30"/>
    </p:embeddedFont>
    <p:embeddedFont>
      <p:font typeface="Pretendard Medium" panose="02000603000000020004" pitchFamily="2" charset="-127"/>
      <p:regular r:id="rId3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51F5"/>
    <a:srgbClr val="002C5F"/>
    <a:srgbClr val="F4F4F4"/>
    <a:srgbClr val="FFDC00"/>
    <a:srgbClr val="EAEAEA"/>
    <a:srgbClr val="D04141"/>
    <a:srgbClr val="E01734"/>
    <a:srgbClr val="ED7B25"/>
    <a:srgbClr val="BFBFBF"/>
    <a:srgbClr val="1191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90" autoAdjust="0"/>
    <p:restoredTop sz="94493" autoAdjust="0"/>
  </p:normalViewPr>
  <p:slideViewPr>
    <p:cSldViewPr snapToGrid="0">
      <p:cViewPr varScale="1">
        <p:scale>
          <a:sx n="102" d="100"/>
          <a:sy n="102" d="100"/>
        </p:scale>
        <p:origin x="5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9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Kakao28" Type="http://schemas.openxmlformats.org/officeDocument/2006/relationships/slide" Target="slides/slide28.xml"/><Relationship Id="rIdKakao29" Type="http://schemas.openxmlformats.org/officeDocument/2006/relationships/slide" Target="slides/slide29.xml"/><Relationship Id="rIdKakao30" Type="http://schemas.openxmlformats.org/officeDocument/2006/relationships/slide" Target="slides/slide30.xml"/><Relationship Id="rIdKakao31" Type="http://schemas.openxmlformats.org/officeDocument/2006/relationships/slide" Target="slides/slide31.xml"/><Relationship Id="rIdMultiturn" Type="http://schemas.openxmlformats.org/officeDocument/2006/relationships/slide" Target="slides/slide901.xml"/><Relationship Id="rIdTimeline" Type="http://schemas.openxmlformats.org/officeDocument/2006/relationships/slide" Target="slides/slide910.xml"/><Relationship Id="rIdHighlights" Type="http://schemas.openxmlformats.org/officeDocument/2006/relationships/slide" Target="slides/slide911.xml"/><Relationship Id="rIdApproach" Type="http://schemas.openxmlformats.org/officeDocument/2006/relationships/slide" Target="slides/slide9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retendard Medium" panose="02000603000000020004" pitchFamily="2" charset="-127"/>
                <a:ea typeface="Pretendard Medium" panose="020006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retendard Medium" panose="02000603000000020004" pitchFamily="2" charset="-127"/>
                <a:ea typeface="Pretendard Medium" panose="02000603000000020004" pitchFamily="2" charset="-127"/>
              </a:defRPr>
            </a:lvl1pPr>
          </a:lstStyle>
          <a:p>
            <a:fld id="{139FC94C-0C0B-4879-B69B-452FC4957A24}" type="datetimeFigureOut">
              <a:rPr lang="ko-KR" altLang="en-US" smtClean="0"/>
              <a:pPr/>
              <a:t>2026-09-20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retendard Medium" panose="02000603000000020004" pitchFamily="2" charset="-127"/>
                <a:ea typeface="Pretendard Medium" panose="020006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retendard Medium" panose="02000603000000020004" pitchFamily="2" charset="-127"/>
                <a:ea typeface="Pretendard Medium" panose="02000603000000020004" pitchFamily="2" charset="-127"/>
              </a:defRPr>
            </a:lvl1pPr>
          </a:lstStyle>
          <a:p>
            <a:fld id="{C641A1EC-4CD8-4963-B29D-1D8809650A3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857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 Medium" panose="02000603000000020004" pitchFamily="2" charset="-127"/>
        <a:ea typeface="Pretendard Medium" panose="02000603000000020004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Pretendard Medium" panose="02000603000000020004" pitchFamily="2" charset="-127"/>
        <a:ea typeface="Pretendard Medium" panose="02000603000000020004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Pretendard Medium" panose="02000603000000020004" pitchFamily="2" charset="-127"/>
        <a:ea typeface="Pretendard Medium" panose="02000603000000020004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Pretendard Medium" panose="02000603000000020004" pitchFamily="2" charset="-127"/>
        <a:ea typeface="Pretendard Medium" panose="02000603000000020004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Pretendard Medium" panose="02000603000000020004" pitchFamily="2" charset="-127"/>
        <a:ea typeface="Pretendard Medium" panose="02000603000000020004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01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1.xml"/><ns0:Relationship Id="rId2" Type="http://schemas.openxmlformats.org/officeDocument/2006/relationships/notesMaster" Target="../notesMasters/notesMaster1.xml"/></ns0:Relationships>
</file>

<file path=ppt/notesSlides/_rels/notesSlide203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3.xml"/><ns0:Relationship Id="rId2" Type="http://schemas.openxmlformats.org/officeDocument/2006/relationships/notesMaster" Target="../notesMasters/notesMaster1.xml"/></ns0:Relationships>
</file>

<file path=ppt/notesSlides/_rels/notesSlide204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28.xml"/><ns0:Relationship Id="rId2" Type="http://schemas.openxmlformats.org/officeDocument/2006/relationships/notesMaster" Target="../notesMasters/notesMaster1.xml"/></ns0:Relationships>
</file>

<file path=ppt/notesSlides/_rels/notesSlide205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29.xml"/><ns0:Relationship Id="rId2" Type="http://schemas.openxmlformats.org/officeDocument/2006/relationships/notesMaster" Target="../notesMasters/notesMaster1.xml"/></ns0:Relationships>
</file>

<file path=ppt/notesSlides/_rels/notesSlide206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30.xml"/><ns0:Relationship Id="rId2" Type="http://schemas.openxmlformats.org/officeDocument/2006/relationships/notesMaster" Target="../notesMasters/notesMaster1.xml"/></ns0:Relationships>
</file>

<file path=ppt/notesSlides/_rels/notesSlide207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31.xml"/><ns0:Relationship Id="rId2" Type="http://schemas.openxmlformats.org/officeDocument/2006/relationships/notesMaster" Target="../notesMasters/notesMaster1.xml"/></ns0:Relationships>
</file>

<file path=ppt/notesSlides/_rels/notesSlide209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5.xml"/><ns0:Relationship Id="rId2" Type="http://schemas.openxmlformats.org/officeDocument/2006/relationships/notesMaster" Target="../notesMasters/notesMaster1.xml"/></ns0:Relationships>
</file>

<file path=ppt/notesSlides/_rels/notesSlide211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7.xml"/><ns0:Relationship Id="rId2" Type="http://schemas.openxmlformats.org/officeDocument/2006/relationships/notesMaster" Target="../notesMasters/notesMaster1.xml"/></ns0:Relationships>
</file>

<file path=ppt/notesSlides/_rels/notesSlide212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8.xml"/><ns0:Relationship Id="rId2" Type="http://schemas.openxmlformats.org/officeDocument/2006/relationships/notesMaster" Target="../notesMasters/notesMaster1.xml"/></ns0:Relationships>
</file>

<file path=ppt/notesSlides/_rels/notesSlide213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9.xml"/><ns0:Relationship Id="rId2" Type="http://schemas.openxmlformats.org/officeDocument/2006/relationships/notesMaster" Target="../notesMasters/notesMaster1.xml"/></ns0:Relationships>
</file>

<file path=ppt/notesSlides/_rels/notesSlide214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10.xml"/><ns0:Relationship Id="rId2" Type="http://schemas.openxmlformats.org/officeDocument/2006/relationships/notesMaster" Target="../notesMasters/notesMaster1.xml"/></ns0:Relationships>
</file>

<file path=ppt/notesSlides/_rels/notesSlide215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11.xml"/><ns0:Relationship Id="rId2" Type="http://schemas.openxmlformats.org/officeDocument/2006/relationships/notesMaster" Target="../notesMasters/notesMaster1.xml"/></ns0:Relationships>
</file>

<file path=ppt/notesSlides/_rels/notesSlide216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12.xml"/><ns0:Relationship Id="rId2" Type="http://schemas.openxmlformats.org/officeDocument/2006/relationships/notesMaster" Target="../notesMasters/notesMaster1.xml"/></ns0:Relationships>
</file>

<file path=ppt/notesSlides/_rels/notesSlide217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13.xml"/><ns0:Relationship Id="rId2" Type="http://schemas.openxmlformats.org/officeDocument/2006/relationships/notesMaster" Target="../notesMasters/notesMaster1.xml"/></ns0:Relationships>
</file>

<file path=ppt/notesSlides/_rels/notesSlide218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14.xml"/><ns0:Relationship Id="rId2" Type="http://schemas.openxmlformats.org/officeDocument/2006/relationships/notesMaster" Target="../notesMasters/notesMaster1.xml"/></ns0:Relationships>
</file>

<file path=ppt/notesSlides/_rels/notesSlide219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15.xml"/><ns0:Relationship Id="rId2" Type="http://schemas.openxmlformats.org/officeDocument/2006/relationships/notesMaster" Target="../notesMasters/notesMaster1.xml"/></ns0:Relationships>
</file>

<file path=ppt/notesSlides/_rels/notesSlide220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16.xml"/><ns0:Relationship Id="rId2" Type="http://schemas.openxmlformats.org/officeDocument/2006/relationships/notesMaster" Target="../notesMasters/notesMaster1.xml"/></ns0:Relationships>
</file>

<file path=ppt/notesSlides/_rels/notesSlide221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17.xml"/><ns0:Relationship Id="rId2" Type="http://schemas.openxmlformats.org/officeDocument/2006/relationships/notesMaster" Target="../notesMasters/notesMaster1.xml"/></ns0:Relationships>
</file>

<file path=ppt/notesSlides/_rels/notesSlide223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19.xml"/><ns0:Relationship Id="rId2" Type="http://schemas.openxmlformats.org/officeDocument/2006/relationships/notesMaster" Target="../notesMasters/notesMaster1.xml"/></ns0:Relationships>
</file>

<file path=ppt/notesSlides/_rels/notesSlide224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20.xml"/><ns0:Relationship Id="rId2" Type="http://schemas.openxmlformats.org/officeDocument/2006/relationships/notesMaster" Target="../notesMasters/notesMaster1.xml"/></ns0:Relationships>
</file>

<file path=ppt/notesSlides/_rels/notesSlide225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21.xml"/><ns0:Relationship Id="rId2" Type="http://schemas.openxmlformats.org/officeDocument/2006/relationships/notesMaster" Target="../notesMasters/notesMaster1.xml"/></ns0:Relationships>
</file>

<file path=ppt/notesSlides/_rels/notesSlide226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22.xml"/><ns0:Relationship Id="rId2" Type="http://schemas.openxmlformats.org/officeDocument/2006/relationships/notesMaster" Target="../notesMasters/notesMaster1.xml"/></ns0:Relationships>
</file>

<file path=ppt/notesSlides/_rels/notesSlide227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23.xml"/><ns0:Relationship Id="rId2" Type="http://schemas.openxmlformats.org/officeDocument/2006/relationships/notesMaster" Target="../notesMasters/notesMaster1.xml"/></ns0:Relationships>
</file>

<file path=ppt/notesSlides/_rels/notesSlide228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24.xml"/><ns0:Relationship Id="rId2" Type="http://schemas.openxmlformats.org/officeDocument/2006/relationships/notesMaster" Target="../notesMasters/notesMaster1.xml"/></ns0:Relationships>
</file>

<file path=ppt/notesSlides/_rels/notesSlide230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26.xml"/><ns0:Relationship Id="rId2" Type="http://schemas.openxmlformats.org/officeDocument/2006/relationships/notesMaster" Target="../notesMasters/notesMaster1.xml"/></ns0:Relationships>
</file>

<file path=ppt/notesSlides/_rels/notesSlide231.xml.rels><?xml version='1.0' encoding='UTF-8' standalone='yes'?>
<ns0:Relationships xmlns:ns0="http://schemas.openxmlformats.org/package/2006/relationships"><ns0:Relationship Id="rId1" Type="http://schemas.openxmlformats.org/officeDocument/2006/relationships/slide" Target="../slides/slide27.xml"/><ns0:Relationship Id="rId2" Type="http://schemas.openxmlformats.org/officeDocument/2006/relationships/notesMaster" Target="../notesMasters/notesMaster1.xml"/></ns0:Relationship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대화연동 에이전트 정책 v2.0, 작성 이력 luna.suji 및 4–25p. 첨부 PDF 2066910494, 2081212929, 2086491991, 2108393914, 2108408982, 2124008008. 이미지: Figma Kanana in Talk v1.0 디자인 가이드 file v1nGx9M7cPVc7oJ0OuEx3b node 17601:213480 초기 진입 시안 및 정책서 25p. 요청 유형은 기획 범위이며 모든 유형의 배포를 의미하지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정책 v2.0 33–40p, 첨부 PDF 2165108283 및 2218214376. 7일은 관측한 업로드 데이터와 대화량·토큰 환산 가정에 따른 설계 가이드이며 모든 사용자에게 적용되는 한도가 아님. 이미지: 정책서의 기간 추천 및 직접 선택 시안.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wiki 2185837404 피드백 분석, 첨부 PDF 2223845714 모델 실험 분석, wiki 2208179659 병렬 처리 및 응답 통합. 525회는 오프라인 실험 규모. 모델 후보 제안이며 모델 후보 제안 또는 서비스 개선율을 의미하지 않음. 이미지는 모델 실험 보고서 원본 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wiki 2248723632 메모리 MVP 1차 및 kanana-planning/kanana-specs의 specs/sp8-2/(MVP) Kanana Service Memory MVP Policy.md. 이미지: 해당 문서 memory-settings-delete-flow.png. 2026-09-20 기준 기획 및 출시 준비 단계로, 배포 또는 리텐션 상승을 주장하지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https://github.daumkakao.com/pages/luna-suji/product-notes/viral-items.html 및 사용자가 직접 제공한 실제 카나나 응답 캡처 2장. 말투 나이·TBTI는 대화 기반 재미 콘텐츠의 출력 예시이며 검증된 성격 진단 또는 성장 성과 지표가 아님. 공유율·신규 유입 등 정량 성과는 측정 자료가 없어 기재하지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사용자가 2026-09-20 제공한 삼성증권 프로젝트 설명 이미지 codex-clipboard-4f34a90f-ac3f-435c-ae1d-8f41916b7b54.png. 결과는 해당 자료의 정성 성과이며 개선율 수치를 임의로 추가하지 않음. 우측 이미지는 같은 자료에 있는 개선 전·후 화면의 원본 발췌.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26년_이력서_및_경력기술서_카카오_최종.pptx 및 기존 경력기술서. 성과 수치는 해당 자료의 당시 프로젝트 결과이며 비교 기간과 모집단이 제시되지 않은 항목에 임의의 기준을 추가하지 않음. 이미지는 같은 자료의 원본 화면 및 기획 문서 발췌. 목표 달성률 129%는 목표 대비 실적 1.29배를 뜻하며 129% 초과 달성을 뜻하지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26년_이력서_및_경력기술서_카카오_최종.pptx 및 기존 경력기술서. 성과 수치는 해당 자료의 당시 프로젝트 결과이며 비교 기간과 모집단이 제시되지 않은 항목에 임의의 기준을 추가하지 않음. 이미지는 같은 자료의 원본 화면 및 기획 문서 발췌.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26년_이력서_및_경력기술서_카카오_최종.pptx 및 기존 경력기술서. 성과 수치는 해당 자료의 당시 프로젝트 결과이며 비교 기간과 모집단이 제시되지 않은 항목에 임의의 기준을 추가하지 않음. 이미지는 같은 자료의 원본 화면 및 기획 문서 발췌.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26년_이력서_및_경력기술서_카카오_최종.pptx 및 기존 경력기술서. 성과 수치는 해당 자료의 당시 프로젝트 결과이며 비교 기간과 모집단이 제시되지 않은 항목에 임의의 기준을 추가하지 않음. 이미지는 같은 자료의 원본 화면 및 기획 문서 발췌.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26년_이력서_및_경력기술서_카카오_최종.pptx 및 기존 경력기술서. 성과 수치는 해당 자료의 당시 프로젝트 결과이며 비교 기간과 모집단이 제시되지 않은 항목에 임의의 기준을 추가하지 않음. 이미지는 같은 자료의 원본 화면 및 기획 문서 발췌.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26년_이력서_및_경력기술서_카카오_최종.pptx 및 기존 경력기술서. 성과 수치는 해당 자료의 당시 프로젝트 결과이며 비교 기간과 모집단이 제시되지 않은 항목에 임의의 기준을 추가하지 않음. 이미지는 같은 자료의 원본 화면 및 기획 문서 발췌. 업계 최고 실행액·전환율 주장은 비교 기준이 제시되지 않아 기재하지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26년_이력서_및_경력기술서_카카오_최종.pptx 및 기존 경력기술서. 성과 수치는 해당 자료의 당시 프로젝트 결과이며 비교 기간과 모집단이 제시되지 않은 항목에 임의의 기준을 추가하지 않음. 이미지는 같은 자료의 원본 화면 및 기획 문서 발췌.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26년_이력서_및_경력기술서_카카오_최종.pptx 및 기존 경력기술서. 성과 수치는 해당 자료의 당시 프로젝트 결과이며 비교 기간과 모집단이 제시되지 않은 항목에 임의의 기준을 추가하지 않음. 이미지는 같은 자료의 원본 화면 및 기획 문서 발췌. 11%p는 퍼센트포인트 상승으로 원자료 단위를 유지.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26년_이력서_및_경력기술서_카카오_최종.pptx 및 기존 경력기술서. 성과 수치는 해당 자료의 당시 프로젝트 결과이며 비교 기간과 모집단이 제시되지 않은 항목에 임의의 기준을 추가하지 않음. 이미지는 같은 자료의 원본 화면 및 기획 문서 발췌.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26년_이력서_및_경력기술서_카카오_최종.pptx 및 기존 경력기술서. 성과 수치는 해당 자료의 당시 프로젝트 결과이며 비교 기간과 모집단이 제시되지 않은 항목에 임의의 기준을 추가하지 않음. 이미지는 같은 자료의 원본 화면 및 기획 문서 발췌.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26년_이력서_및_경력기술서_카카오_최종.pptx 및 기존 경력기술서. 성과 수치는 해당 자료의 당시 프로젝트 결과이며 비교 기간과 모집단이 제시되지 않은 항목에 임의의 기준을 추가하지 않음. 이미지는 같은 자료의 원본 화면 및 기획 문서 발췌. 원본 21p의 세 가지 사용자 경험 개선 사례. 각 수치는 서로 다른 실험의 성과. 목적 인지율은 62%에서 87%로 변화.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26년_이력서_및_경력기술서_카카오_최종.pptx 및 기존 경력기술서. 성과 수치는 해당 자료의 당시 프로젝트 결과이며 비교 기간과 모집단이 제시되지 않은 항목에 임의의 기준을 추가하지 않음. 이미지는 같은 자료의 원본 화면 및 기획 문서 발췌. SSP는 광고 매체의 판매를, DSP는 광고주의 구매를 지원하는 플랫폼.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26년_이력서_및_경력기술서_카카오_최종.pptx 및 기존 경력기술서. 성과 수치는 해당 자료의 당시 프로젝트 결과이며 비교 기간과 모집단이 제시되지 않은 항목에 임의의 기준을 추가하지 않음. 이미지는 같은 자료의 원본 화면 및 기획 문서 발췌.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26년_이력서_및_경력기술서_카카오_최종.pptx 및 기존 경력기술서. 성과 수치는 해당 자료의 당시 프로젝트 결과이며 비교 기간과 모집단이 제시되지 않은 항목에 임의의 기준을 추가하지 않음. 이미지는 같은 자료의 원본 화면 및 기획 문서 발췌.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26년_이력서_및_경력기술서_카카오_최종.pptx 및 기존 경력기술서. 성과 수치는 해당 자료의 당시 프로젝트 결과이며 비교 기간과 모집단이 제시되지 않은 항목에 임의의 기준을 추가하지 않음. 이미지는 같은 자료의 원본 화면 및 기획 문서 발췌.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26년_이력서_및_경력기술서_카카오_최종.pptx 및 기존 경력기술서. 성과 수치는 해당 자료의 당시 프로젝트 결과이며 비교 기간과 모집단이 제시되지 않은 항목에 임의의 기준을 추가하지 않음. 이미지는 같은 자료의 원본 화면 및 기획 문서 발췌.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26년_이력서_및_경력기술서_카카오_최종.pptx 및 기존 경력기술서. 성과 수치는 해당 자료의 당시 프로젝트 결과이며 비교 기간과 모집단이 제시되지 않은 항목에 임의의 기준을 추가하지 않음. 이미지는 같은 자료의 원본 화면 및 기획 문서 발췌.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26년_이력서_및_경력기술서_카카오_최종.pptx 및 기존 경력기술서. 성과 수치는 해당 자료의 당시 프로젝트 결과이며 비교 기간과 모집단이 제시되지 않은 항목에 임의의 기준을 추가하지 않음. 이미지는 같은 자료의 원본 화면 및 기획 문서 발췌.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F34FD-9655-4B7A-84A9-F8ED3C3D680F}" type="datetime1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8627-25D6-4592-B260-0166C02F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4650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64508-E300-41FC-833A-253807A36C76}" type="datetime1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8627-25D6-4592-B260-0166C02F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686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389C1-69BE-4F78-8A34-31EADF0A2A48}" type="datetime1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8627-25D6-4592-B260-0166C02F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781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143A1-E849-4732-8C17-071BF632E592}" type="datetime1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8627-25D6-4592-B260-0166C02F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676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465E-19DD-4544-BC26-C1B0427860D5}" type="datetime1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8627-25D6-4592-B260-0166C02F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806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772F2-90D5-4DF4-8236-50E0FFC4409B}" type="datetime1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8627-25D6-4592-B260-0166C02F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983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BBEE-7BEB-4DA3-A72E-7E163DC22837}" type="datetime1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8627-25D6-4592-B260-0166C02F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865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DC829-C7FB-43D9-9696-546F2817580A}" type="datetime1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8627-25D6-4592-B260-0166C02F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044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C0C68-61AD-4816-93DF-D6506165E8C1}" type="datetime1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8627-25D6-4592-B260-0166C02F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044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CEB3-5FEF-492B-9C0D-B39A510121F9}" type="datetime1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8627-25D6-4592-B260-0166C02F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058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9B5C2-3FBE-4DA6-8BD4-C93F2A943522}" type="datetime1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48627-25D6-4592-B260-0166C02F7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877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defRPr>
            </a:lvl1pPr>
          </a:lstStyle>
          <a:p>
            <a:fld id="{6AC33F45-3EAF-4D26-B598-BDE328A35A56}" type="datetime1">
              <a:rPr lang="ko-KR" altLang="en-US" smtClean="0"/>
              <a:pPr/>
              <a:t>2026-09-20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defRPr>
            </a:lvl1pPr>
          </a:lstStyle>
          <a:p>
            <a:fld id="{80648627-25D6-4592-B260-0166C02F77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388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ntegratedSources" Type="http://schemas.openxmlformats.org/officeDocument/2006/relationships/notesSlide" Target="../notesSlides/notesSlide20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V4_R3da326eac7dd4860" Type="http://schemas.openxmlformats.org/officeDocument/2006/relationships/image" Target="../media/v4-image.png"/><Relationship Id="rIdV4_Rdb15fda9ec9f462c" Type="http://schemas.openxmlformats.org/officeDocument/2006/relationships/image" Target="../media/v4-image2.png"/><Relationship Id="rIdV4_R435cd03966314491" Type="http://schemas.openxmlformats.org/officeDocument/2006/relationships/image" Target="../media/v4-image3.png"/><Relationship Id="rIdIntegratedSources" Type="http://schemas.openxmlformats.org/officeDocument/2006/relationships/notesSlide" Target="../notesSlides/notesSlide203.xml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Integrated_R73e776e4ccf34d55" Type="http://schemas.openxmlformats.org/officeDocument/2006/relationships/image" Target="../media/integrated-9-image13.png"/><Relationship Id="rIdIntegrated_R07ec78cb86c14bb3" Type="http://schemas.openxmlformats.org/officeDocument/2006/relationships/image" Target="../media/integrated-9-image14.png"/><Relationship Id="rIdIntegratedSources" Type="http://schemas.openxmlformats.org/officeDocument/2006/relationships/notesSlide" Target="../notesSlides/notesSlide209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IntegratedSources" Type="http://schemas.openxmlformats.org/officeDocument/2006/relationships/notesSlide" Target="../notesSlides/notesSlide211.xm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IntegratedSources" Type="http://schemas.openxmlformats.org/officeDocument/2006/relationships/notesSlide" Target="../notesSlides/notesSlide212.xml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Relationship Id="rIdIntegratedSources" Type="http://schemas.openxmlformats.org/officeDocument/2006/relationships/notesSlide" Target="../notesSlides/notesSlide213.xml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Relationship Id="rIdIntegratedSources" Type="http://schemas.openxmlformats.org/officeDocument/2006/relationships/notesSlide" Target="../notesSlides/notesSlide214.xml"/></Relationships>
</file>

<file path=ppt/slides/_rels/slide11.xml.rels><?xml version='1.0' encoding='UTF-8' standalone='yes'?>
<Relationships xmlns="http://schemas.openxmlformats.org/package/2006/relationships"><Relationship Id="rId3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Relationship Id="rIdIntegratedSources" Type="http://schemas.openxmlformats.org/officeDocument/2006/relationships/notesSlide" Target="../notesSlides/notesSlide215.xml"/></Relationships>
</file>

<file path=ppt/slides/_rels/slide12.xml.rels><?xml version='1.0' encoding='UTF-8' standalone='yes'?>
<Relationships xmlns="http://schemas.openxmlformats.org/package/2006/relationships"><Relationship Id="rId3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Relationship Id="rIdIntegratedSources" Type="http://schemas.openxmlformats.org/officeDocument/2006/relationships/notesSlide" Target="../notesSlides/notesSlide216.xml"/></Relationships>
</file>

<file path=ppt/slides/_rels/slide13.xml.rels><?xml version='1.0' encoding='UTF-8' standalone='yes'?>
<Relationships xmlns="http://schemas.openxmlformats.org/package/2006/relationships"><Relationship Id="rId3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IntegratedSources" Type="http://schemas.openxmlformats.org/officeDocument/2006/relationships/notesSlide" Target="../notesSlides/notesSlide217.xml"/></Relationships>
</file>

<file path=ppt/slides/_rels/slide14.xml.rels><?xml version='1.0' encoding='UTF-8' standalone='yes'?>
<Relationships xmlns="http://schemas.openxmlformats.org/package/2006/relationships"><Relationship Id="rId3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IntegratedSources" Type="http://schemas.openxmlformats.org/officeDocument/2006/relationships/notesSlide" Target="../notesSlides/notesSlide218.xml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IntegratedSources" Type="http://schemas.openxmlformats.org/officeDocument/2006/relationships/notesSlide" Target="../notesSlides/notesSlide219.xml"/></Relationships>
</file>

<file path=ppt/slides/_rels/slide16.xml.rels><?xml version='1.0' encoding='UTF-8' standalone='yes'?>
<Relationships xmlns="http://schemas.openxmlformats.org/package/2006/relationships"><Relationship Id="rId3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IntegratedSources" Type="http://schemas.openxmlformats.org/officeDocument/2006/relationships/notesSlide" Target="../notesSlides/notesSlide220.xml"/></Relationships>
</file>

<file path=ppt/slides/_rels/slide17.xml.rels><?xml version='1.0' encoding='UTF-8' standalone='yes'?>
<Relationships xmlns="http://schemas.openxmlformats.org/package/2006/relationships"><Relationship Id="rId3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IntegratedSources" Type="http://schemas.openxmlformats.org/officeDocument/2006/relationships/notesSlide" Target="../notesSlides/notesSlide221.xml"/></Relationships>
</file>

<file path=ppt/slides/_rels/slide19.xml.rels><?xml version='1.0' encoding='UTF-8' standalone='yes'?>
<Relationships xmlns="http://schemas.openxmlformats.org/package/2006/relationships"><Relationship Id="rId3" Type="http://schemas.openxmlformats.org/officeDocument/2006/relationships/image" Target="../media/image2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g"/><Relationship Id="rIdIntegratedSources" Type="http://schemas.openxmlformats.org/officeDocument/2006/relationships/notesSlide" Target="../notesSlides/notesSlide223.xml"/></Relationships>
</file>

<file path=ppt/slides/_rels/slide20.xml.rels><?xml version='1.0' encoding='UTF-8' standalone='yes'?>
<Relationships xmlns="http://schemas.openxmlformats.org/package/2006/relationships"><Relationship Id="rId3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wmf"/><Relationship Id="rIdIntegratedSources" Type="http://schemas.openxmlformats.org/officeDocument/2006/relationships/notesSlide" Target="../notesSlides/notesSlide224.xml"/></Relationships>
</file>

<file path=ppt/slides/_rels/slide21.xml.rels><?xml version='1.0' encoding='UTF-8' standalone='yes'?>
<Relationships xmlns="http://schemas.openxmlformats.org/package/2006/relationships"><Relationship Id="rId3" Type="http://schemas.openxmlformats.org/officeDocument/2006/relationships/image" Target="../media/image26.jpg"/><Relationship Id="rId1" Type="http://schemas.openxmlformats.org/officeDocument/2006/relationships/slideLayout" Target="../slideLayouts/slideLayout7.xml"/><Relationship Id="rIdIntegratedSources" Type="http://schemas.openxmlformats.org/officeDocument/2006/relationships/notesSlide" Target="../notesSlides/notesSlide225.xml"/></Relationships>
</file>

<file path=ppt/slides/_rels/slide22.xml.rels><?xml version='1.0' encoding='UTF-8' standalone='yes'?>
<Relationships xmlns="http://schemas.openxmlformats.org/package/2006/relationships"><Relationship Id="rId3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IntegratedSources" Type="http://schemas.openxmlformats.org/officeDocument/2006/relationships/notesSlide" Target="../notesSlides/notesSlide226.xml"/></Relationships>
</file>

<file path=ppt/slides/_rels/slide23.xml.rels><?xml version='1.0' encoding='UTF-8' standalone='yes'?>
<Relationships xmlns="http://schemas.openxmlformats.org/package/2006/relationships"><Relationship Id="rId3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jpeg"/><Relationship Id="rIdIntegratedSources" Type="http://schemas.openxmlformats.org/officeDocument/2006/relationships/notesSlide" Target="../notesSlides/notesSlide227.xml"/></Relationships>
</file>

<file path=ppt/slides/_rels/slide24.xml.rels><?xml version='1.0' encoding='UTF-8' standalone='yes'?>
<Relationships xmlns="http://schemas.openxmlformats.org/package/2006/relationships"><Relationship Id="rId3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IntegratedSources" Type="http://schemas.openxmlformats.org/officeDocument/2006/relationships/notesSlide" Target="../notesSlides/notesSlide228.xml"/></Relationships>
</file>

<file path=ppt/slides/_rels/slide26.xml.rels><?xml version='1.0' encoding='UTF-8' standalone='yes'?>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IntegratedSources" Type="http://schemas.openxmlformats.org/officeDocument/2006/relationships/notesSlide" Target="../notesSlides/notesSlide23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IntegratedSources" Type="http://schemas.openxmlformats.org/officeDocument/2006/relationships/notesSlide" Target="../notesSlides/notesSlide23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V4_Rbce9dda9dbaa4340" Type="http://schemas.openxmlformats.org/officeDocument/2006/relationships/image" Target="../media/v4-image4.png"/><Relationship Id="rIdV4_R9ea127f23f674b5b" Type="http://schemas.openxmlformats.org/officeDocument/2006/relationships/image" Target="../media/v4-image5.png"/><Relationship Id="rIdIntegratedSources" Type="http://schemas.openxmlformats.org/officeDocument/2006/relationships/notesSlide" Target="../notesSlides/notesSlide20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V4_R4193b3c3a637480d" Type="http://schemas.openxmlformats.org/officeDocument/2006/relationships/image" Target="../media/v4-image6.png"/><Relationship Id="rIdV4_R04fa96135d514c3d" Type="http://schemas.openxmlformats.org/officeDocument/2006/relationships/image" Target="../media/v4-image7.png"/><Relationship Id="rIdIntegratedSources" Type="http://schemas.openxmlformats.org/officeDocument/2006/relationships/notesSlide" Target="../notesSlides/notesSlide20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V4_R404853f10d1c4fe1" Type="http://schemas.openxmlformats.org/officeDocument/2006/relationships/image" Target="../media/v4-image8.png"/><Relationship Id="rIdV4_Rc24baf96bf594cad" Type="http://schemas.openxmlformats.org/officeDocument/2006/relationships/image" Target="../media/v4-image9.png"/><Relationship Id="rIdV4_Ra4967e85b148446e" Type="http://schemas.openxmlformats.org/officeDocument/2006/relationships/image" Target="../media/v4-image10.png"/><Relationship Id="rIdIntegratedSources" Type="http://schemas.openxmlformats.org/officeDocument/2006/relationships/notesSlide" Target="../notesSlides/notesSlide20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V4_Rf587e09e2c8a416d" Type="http://schemas.openxmlformats.org/officeDocument/2006/relationships/image" Target="../media/v4-image11.png"/><Relationship Id="rIdV4_Rc852c71661a64233" Type="http://schemas.openxmlformats.org/officeDocument/2006/relationships/image" Target="../media/v4-image12.png"/><Relationship Id="rIdRealViral" Type="http://schemas.openxmlformats.org/officeDocument/2006/relationships/image" Target="../media/kakao_viral_real.png"/><Relationship Id="rIdIntegrated_R5f9d18ffdb3f4b7d" Type="http://schemas.openxmlformats.org/officeDocument/2006/relationships/image" Target="../media/integrated-7-image11.png"/><Relationship Id="rIdIntegrated_Re2c2477444a14c4d" Type="http://schemas.openxmlformats.org/officeDocument/2006/relationships/image" Target="../media/integrated-7-image12.png"/><Relationship Id="rIdIntegratedSources" Type="http://schemas.openxmlformats.org/officeDocument/2006/relationships/notesSlide" Target="../notesSlides/notesSlide207.xml"/></Relationships>
</file>

<file path=ppt/slides/_rels/slide9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Branch" Type="http://schemas.openxmlformats.org/officeDocument/2006/relationships/image" Target="../media/kanana_branch.png"/></Relationships>
</file>

<file path=ppt/slides/_rels/slide9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Nav5" Type="http://schemas.openxmlformats.org/officeDocument/2006/relationships/slide" Target="slide3.xml"/><Relationship Id="rIdNav11" Type="http://schemas.openxmlformats.org/officeDocument/2006/relationships/slide" Target="slide5.xml"/><Relationship Id="rIdNav12" Type="http://schemas.openxmlformats.org/officeDocument/2006/relationships/slide" Target="slide7.xml"/><Relationship Id="rIdNav23" Type="http://schemas.openxmlformats.org/officeDocument/2006/relationships/slide" Target="slide19.xml"/><Relationship Id="rIdNav29" Type="http://schemas.openxmlformats.org/officeDocument/2006/relationships/slide" Target="slide26.xml"/></Relationships>
</file>

<file path=ppt/slides/_rels/slide9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I:cover title">
            <a:extLst>
              <a:ext uri="{FF2B5EF4-FFF2-40B4-BE49-F238E27FC236}">
                <a16:creationId xmlns:a16="http://schemas.microsoft.com/office/drawing/2014/main" id="{7A341EC8-DD21-41E3-AE25-8CEFCD431FBA}"/>
              </a:ext>
            </a:extLst>
          </p:cNvPr>
          <p:cNvSpPr>
            <a:spLocks noGrp="1"/>
          </p:cNvSpPr>
          <p:nvPr/>
        </p:nvSpPr>
        <p:spPr>
          <a:xfrm>
            <a:off x="1143000" y="2450000"/>
            <a:ext cx="99060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5700" b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5700" b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경력기술서</a:t>
            </a:r>
          </a:p>
        </p:txBody>
      </p:sp>
      <p:sp>
        <p:nvSpPr>
          <p:cNvPr id="4" name="I:cover subtitle">
            <a:extLst>
              <a:ext uri="{FF2B5EF4-FFF2-40B4-BE49-F238E27FC236}">
                <a16:creationId xmlns:a16="http://schemas.microsoft.com/office/drawing/2014/main" id="{E650BE05-7391-40D0-82EF-8BC06CB4A288}"/>
              </a:ext>
            </a:extLst>
          </p:cNvPr>
          <p:cNvSpPr>
            <a:spLocks noGrp="1"/>
          </p:cNvSpPr>
          <p:nvPr/>
        </p:nvSpPr>
        <p:spPr>
          <a:xfrm>
            <a:off x="1333500" y="3600000"/>
            <a:ext cx="9525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1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사용자 문제 정의와 데이터 기반 제품 성장</a:t>
            </a:r>
          </a:p>
        </p:txBody>
      </p:sp>
      <p:sp>
        <p:nvSpPr>
          <p:cNvPr id="15" name="I:page">
            <a:extLst>
              <a:ext uri="{FF2B5EF4-FFF2-40B4-BE49-F238E27FC236}">
                <a16:creationId xmlns:a16="http://schemas.microsoft.com/office/drawing/2014/main" id="{E0D0FF53-A3A5-4A32-9E18-0B6015B72D1A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02046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직사각형 27">
            <a:extLst>
              <a:ext uri="{FF2B5EF4-FFF2-40B4-BE49-F238E27FC236}">
                <a16:creationId xmlns:a16="http://schemas.microsoft.com/office/drawing/2014/main" id="{B5392755-5865-F9B0-8A6B-497FC1FEFB7F}"/>
              </a:ext>
            </a:extLst>
          </p:cNvPr>
          <p:cNvSpPr>
            <a:spLocks noGrp="1"/>
          </p:cNvSpPr>
          <p:nvPr/>
        </p:nvSpPr>
        <p:spPr>
          <a:xfrm>
            <a:off x="0" y="824999"/>
            <a:ext cx="1041400" cy="4012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직사각형 24">
            <a:extLst>
              <a:ext uri="{FF2B5EF4-FFF2-40B4-BE49-F238E27FC236}">
                <a16:creationId xmlns:a16="http://schemas.microsoft.com/office/drawing/2014/main" id="{9300C823-004B-CBFA-D2AC-54CAF748651A}"/>
              </a:ext>
            </a:extLst>
          </p:cNvPr>
          <p:cNvSpPr>
            <a:spLocks noGrp="1"/>
          </p:cNvSpPr>
          <p:nvPr/>
        </p:nvSpPr>
        <p:spPr>
          <a:xfrm>
            <a:off x="0" y="56308"/>
            <a:ext cx="12192000" cy="595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직사각형 50">
            <a:extLst>
              <a:ext uri="{FF2B5EF4-FFF2-40B4-BE49-F238E27FC236}">
                <a16:creationId xmlns:a16="http://schemas.microsoft.com/office/drawing/2014/main" id="{3A7B5860-8D32-C866-0A67-DA9795350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선 연결선 15">
            <a:extLst>
              <a:ext uri="{FF2B5EF4-FFF2-40B4-BE49-F238E27FC236}">
                <a16:creationId xmlns:a16="http://schemas.microsoft.com/office/drawing/2014/main" id="{95C1A325-505D-4B67-8F4F-385E5E9505B2}"/>
              </a:ext>
            </a:extLst>
          </p:cNvPr>
          <p:cNvSpPr>
            <a:spLocks noGrp="1"/>
          </p:cNvSpPr>
          <p:nvPr/>
        </p:nvSpPr>
        <p:spPr>
          <a:xfrm>
            <a:off x="0" y="1229505"/>
            <a:ext cx="4204447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6" name="직사각형 16">
            <a:extLst>
              <a:ext uri="{FF2B5EF4-FFF2-40B4-BE49-F238E27FC236}">
                <a16:creationId xmlns:a16="http://schemas.microsoft.com/office/drawing/2014/main" id="{BB03FEB3-BCA6-E72B-25F6-6F59200B89FF}"/>
              </a:ext>
            </a:extLst>
          </p:cNvPr>
          <p:cNvSpPr>
            <a:spLocks noGrp="1"/>
          </p:cNvSpPr>
          <p:nvPr/>
        </p:nvSpPr>
        <p:spPr>
          <a:xfrm>
            <a:off x="762759" y="1601182"/>
            <a:ext cx="4931893" cy="4891685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" name="화면 설명">
            <a:extLst>
              <a:ext uri="{FF2B5EF4-FFF2-40B4-BE49-F238E27FC236}">
                <a16:creationId xmlns:a16="http://schemas.microsoft.com/office/drawing/2014/main" id="{7D26EC36-F5E8-4359-8EE2-6794C63E2434}"/>
              </a:ext>
            </a:extLst>
          </p:cNvPr>
          <p:cNvSpPr>
            <a:spLocks noGrp="1"/>
          </p:cNvSpPr>
          <p:nvPr/>
        </p:nvSpPr>
        <p:spPr>
          <a:xfrm>
            <a:off x="6143625" y="1704975"/>
            <a:ext cx="541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초기 MVP 사용자 흐름 · 대화 선택부터 분석 범위 확인까지</a:t>
            </a:r>
          </a:p>
        </p:txBody>
      </p:sp>
      <p:pic>
        <p:nvPicPr>
          <p:cNvPr id="8" name=""/>
          <p:cNvPicPr>
            <a:picLocks noChangeAspect="1"/>
          </p:cNvPicPr>
          <p:nvPr/>
        </p:nvPicPr>
        <p:blipFill>
          <a:blip r:embed="rIdV4_R3da326eac7dd4860"/>
          <a:stretch/>
        </p:blipFill>
        <p:spPr>
          <a:xfrm>
            <a:off x="6143625" y="2153995"/>
            <a:ext cx="1628775" cy="3531085"/>
          </a:xfrm>
          <a:prstGeom prst="rect">
            <a:avLst/>
          </a:prstGeom>
        </p:spPr>
      </p:pic>
      <p:pic>
        <p:nvPicPr>
          <p:cNvPr id="9" name=""/>
          <p:cNvPicPr>
            <a:picLocks noChangeAspect="1"/>
          </p:cNvPicPr>
          <p:nvPr/>
        </p:nvPicPr>
        <p:blipFill>
          <a:blip r:embed="rIdV4_Rdb15fda9ec9f462c"/>
          <a:stretch/>
        </p:blipFill>
        <p:spPr>
          <a:xfrm>
            <a:off x="7991475" y="2238275"/>
            <a:ext cx="1695450" cy="3362524"/>
          </a:xfrm>
          <a:prstGeom prst="rect">
            <a:avLst/>
          </a:prstGeom>
        </p:spPr>
      </p:pic>
      <p:pic>
        <p:nvPicPr>
          <p:cNvPr id="10" name=""/>
          <p:cNvPicPr>
            <a:picLocks noChangeAspect="1"/>
          </p:cNvPicPr>
          <p:nvPr/>
        </p:nvPicPr>
        <p:blipFill>
          <a:blip r:embed="rIdV4_R435cd03966314491"/>
          <a:stretch/>
        </p:blipFill>
        <p:spPr>
          <a:xfrm>
            <a:off x="9858375" y="2188739"/>
            <a:ext cx="1762125" cy="3461597"/>
          </a:xfrm>
          <a:prstGeom prst="rect">
            <a:avLst/>
          </a:prstGeom>
        </p:spPr>
      </p:pic>
      <p:sp>
        <p:nvSpPr>
          <p:cNvPr id="11" name="화면 단계0">
            <a:extLst>
              <a:ext uri="{FF2B5EF4-FFF2-40B4-BE49-F238E27FC236}">
                <a16:creationId xmlns:a16="http://schemas.microsoft.com/office/drawing/2014/main" id="{25051398-C57F-45D5-8860-09FACD1E04B1}"/>
              </a:ext>
            </a:extLst>
          </p:cNvPr>
          <p:cNvSpPr>
            <a:spLocks noGrp="1"/>
          </p:cNvSpPr>
          <p:nvPr/>
        </p:nvSpPr>
        <p:spPr>
          <a:xfrm>
            <a:off x="6124575" y="5848350"/>
            <a:ext cx="1790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분석할 대화 요청</a:t>
            </a:r>
          </a:p>
        </p:txBody>
      </p:sp>
      <p:sp>
        <p:nvSpPr>
          <p:cNvPr id="12" name="화면 단계1">
            <a:extLst>
              <a:ext uri="{FF2B5EF4-FFF2-40B4-BE49-F238E27FC236}">
                <a16:creationId xmlns:a16="http://schemas.microsoft.com/office/drawing/2014/main" id="{6539DB65-8407-4D5D-A551-E0D264AD4B6A}"/>
              </a:ext>
            </a:extLst>
          </p:cNvPr>
          <p:cNvSpPr>
            <a:spLocks noGrp="1"/>
          </p:cNvSpPr>
          <p:nvPr/>
        </p:nvSpPr>
        <p:spPr>
          <a:xfrm>
            <a:off x="7972425" y="5848350"/>
            <a:ext cx="1790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대상 채팅방 선택</a:t>
            </a:r>
          </a:p>
        </p:txBody>
      </p:sp>
      <p:sp>
        <p:nvSpPr>
          <p:cNvPr id="13" name="화면 단계2">
            <a:extLst>
              <a:ext uri="{FF2B5EF4-FFF2-40B4-BE49-F238E27FC236}">
                <a16:creationId xmlns:a16="http://schemas.microsoft.com/office/drawing/2014/main" id="{942C02D7-A4D7-4095-A035-09B642696AED}"/>
              </a:ext>
            </a:extLst>
          </p:cNvPr>
          <p:cNvSpPr>
            <a:spLocks noGrp="1"/>
          </p:cNvSpPr>
          <p:nvPr/>
        </p:nvSpPr>
        <p:spPr>
          <a:xfrm>
            <a:off x="9820275" y="5848350"/>
            <a:ext cx="1790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기간 확인·분석 시작</a:t>
            </a:r>
          </a:p>
        </p:txBody>
      </p:sp>
      <p:sp>
        <p:nvSpPr>
          <p:cNvPr id="14" name="시안 출처">
            <a:extLst>
              <a:ext uri="{FF2B5EF4-FFF2-40B4-BE49-F238E27FC236}">
                <a16:creationId xmlns:a16="http://schemas.microsoft.com/office/drawing/2014/main" id="{F9DD93CA-370C-452B-A490-4C666809E53A}"/>
              </a:ext>
            </a:extLst>
          </p:cNvPr>
          <p:cNvSpPr>
            <a:spLocks noGrp="1"/>
          </p:cNvSpPr>
          <p:nvPr/>
        </p:nvSpPr>
        <p:spPr>
          <a:xfrm>
            <a:off x="6143625" y="6238875"/>
            <a:ext cx="541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975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피그마·정책서의 초기 시안</a:t>
            </a:r>
          </a:p>
        </p:txBody>
      </p:sp>
      <p:sp>
        <p:nvSpPr>
          <p:cNvPr id="15" name="I:header">
            <a:extLst>
              <a:ext uri="{FF2B5EF4-FFF2-40B4-BE49-F238E27FC236}">
                <a16:creationId xmlns:a16="http://schemas.microsoft.com/office/drawing/2014/main" id="{848B25C0-C784-4864-9CAE-6F585F04A184}"/>
              </a:ext>
            </a:extLst>
          </p:cNvPr>
          <p:cNvSpPr>
            <a:spLocks noGrp="1"/>
          </p:cNvSpPr>
          <p:nvPr/>
        </p:nvSpPr>
        <p:spPr>
          <a:xfrm>
            <a:off x="190500" y="2000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카카오 / AI 서비스 기획</a:t>
            </a:r>
          </a:p>
        </p:txBody>
      </p:sp>
      <p:sp>
        <p:nvSpPr>
          <p:cNvPr id="16" name="I:category">
            <a:extLst>
              <a:ext uri="{FF2B5EF4-FFF2-40B4-BE49-F238E27FC236}">
                <a16:creationId xmlns:a16="http://schemas.microsoft.com/office/drawing/2014/main" id="{9EBEA607-0860-4A4F-B212-ED861FF15562}"/>
              </a:ext>
            </a:extLst>
          </p:cNvPr>
          <p:cNvSpPr>
            <a:spLocks noGrp="1"/>
          </p:cNvSpPr>
          <p:nvPr/>
        </p:nvSpPr>
        <p:spPr>
          <a:xfrm>
            <a:off x="0" y="923925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17" name="I:project">
            <a:extLst>
              <a:ext uri="{FF2B5EF4-FFF2-40B4-BE49-F238E27FC236}">
                <a16:creationId xmlns:a16="http://schemas.microsoft.com/office/drawing/2014/main" id="{99B85108-5BA7-49BD-8B4D-60627ADE09EC}"/>
              </a:ext>
            </a:extLst>
          </p:cNvPr>
          <p:cNvSpPr>
            <a:spLocks noGrp="1"/>
          </p:cNvSpPr>
          <p:nvPr/>
        </p:nvSpPr>
        <p:spPr>
          <a:xfrm>
            <a:off x="1171575" y="9144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대화연동 에이전트 초기 구축 및 MVP 정책 설계</a:t>
            </a:r>
          </a:p>
        </p:txBody>
      </p:sp>
      <p:sp>
        <p:nvSpPr>
          <p:cNvPr id="18" name="I:page">
            <a:extLst>
              <a:ext uri="{FF2B5EF4-FFF2-40B4-BE49-F238E27FC236}">
                <a16:creationId xmlns:a16="http://schemas.microsoft.com/office/drawing/2014/main" id="{CE471578-EAA6-461B-9CE4-9F5134520137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5</a:t>
            </a:r>
          </a:p>
        </p:txBody>
      </p:sp>
      <p:sp>
        <p:nvSpPr>
          <p:cNvPr id="19" name="I:section 0">
            <a:extLst>
              <a:ext uri="{FF2B5EF4-FFF2-40B4-BE49-F238E27FC236}">
                <a16:creationId xmlns:a16="http://schemas.microsoft.com/office/drawing/2014/main" id="{F45298B0-19D3-4D50-A6AD-5834E1276AF1}"/>
              </a:ext>
            </a:extLst>
          </p:cNvPr>
          <p:cNvSpPr>
            <a:spLocks noGrp="1"/>
          </p:cNvSpPr>
          <p:nvPr/>
        </p:nvSpPr>
        <p:spPr>
          <a:xfrm>
            <a:off x="1000125" y="179070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문제 의식 및 목표</a:t>
            </a:r>
          </a:p>
        </p:txBody>
      </p:sp>
      <p:sp>
        <p:nvSpPr>
          <p:cNvPr id="20" name="I:body 0">
            <a:extLst>
              <a:ext uri="{FF2B5EF4-FFF2-40B4-BE49-F238E27FC236}">
                <a16:creationId xmlns:a16="http://schemas.microsoft.com/office/drawing/2014/main" id="{98A59540-402E-4922-9201-E2789AC0F467}"/>
              </a:ext>
            </a:extLst>
          </p:cNvPr>
          <p:cNvSpPr>
            <a:spLocks noGrp="1"/>
          </p:cNvSpPr>
          <p:nvPr/>
        </p:nvSpPr>
        <p:spPr>
          <a:xfrm>
            <a:off x="1000125" y="2105025"/>
            <a:ext cx="44577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카카오톡 대화 맥락을 AI 차별화의 핵심 자산으로 정의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과거 대화 탐색·요약·분석 경험 기획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관계와 상황을 반영한 개인화 질문 대응</a:t>
            </a:r>
          </a:p>
        </p:txBody>
      </p:sp>
      <p:sp>
        <p:nvSpPr>
          <p:cNvPr id="21" name="I:section 1">
            <a:extLst>
              <a:ext uri="{FF2B5EF4-FFF2-40B4-BE49-F238E27FC236}">
                <a16:creationId xmlns:a16="http://schemas.microsoft.com/office/drawing/2014/main" id="{1E049EE3-1897-4C24-9819-9E007D5FF0D1}"/>
              </a:ext>
            </a:extLst>
          </p:cNvPr>
          <p:cNvSpPr>
            <a:spLocks noGrp="1"/>
          </p:cNvSpPr>
          <p:nvPr/>
        </p:nvSpPr>
        <p:spPr>
          <a:xfrm>
            <a:off x="1000125" y="286702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주요 업무</a:t>
            </a:r>
          </a:p>
        </p:txBody>
      </p:sp>
      <p:sp>
        <p:nvSpPr>
          <p:cNvPr id="22" name="I:body 1">
            <a:extLst>
              <a:ext uri="{FF2B5EF4-FFF2-40B4-BE49-F238E27FC236}">
                <a16:creationId xmlns:a16="http://schemas.microsoft.com/office/drawing/2014/main" id="{BC8BEC4B-61B7-43CF-AB25-2C0EA057A0A0}"/>
              </a:ext>
            </a:extLst>
          </p:cNvPr>
          <p:cNvSpPr>
            <a:spLocks noGrp="1"/>
          </p:cNvSpPr>
          <p:nvPr/>
        </p:nvSpPr>
        <p:spPr>
          <a:xfrm>
            <a:off x="1000125" y="3181350"/>
            <a:ext cx="4457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정보 탐색·요약·관계 분석 등 요청 유형 8종 정의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대화 선택부터 기간 확인·분석까지 사용자 흐름 설계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후속 질문의 결과 재사용·재분석·만료 정책 수립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토큰 한도에 맞춘 근거 추출과 채팅방별 분배 검토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이탈·재진입·실패 시 복구 및 재시도 기준 정의</a:t>
            </a:r>
          </a:p>
        </p:txBody>
      </p:sp>
      <p:sp>
        <p:nvSpPr>
          <p:cNvPr id="23" name="I:section 2">
            <a:extLst>
              <a:ext uri="{FF2B5EF4-FFF2-40B4-BE49-F238E27FC236}">
                <a16:creationId xmlns:a16="http://schemas.microsoft.com/office/drawing/2014/main" id="{11803DD3-9DE4-4166-B3D3-995BBBEED112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결과/성과</a:t>
            </a:r>
          </a:p>
        </p:txBody>
      </p:sp>
      <p:sp>
        <p:nvSpPr>
          <p:cNvPr id="24" name="I:body 2">
            <a:extLst>
              <a:ext uri="{FF2B5EF4-FFF2-40B4-BE49-F238E27FC236}">
                <a16:creationId xmlns:a16="http://schemas.microsoft.com/office/drawing/2014/main" id="{3983ADD2-5657-4671-A29A-BE0A3653B83E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44577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초기 MVP 기능 범위와 사용자 플로우 구체화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정책서 v2.0·입출력 명세·예외 처리 기준 정리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사용자 동의·격리 분석·원문 파기 정책 수립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조회 범위 확장과 후속 고도화의 정책 기반 마련</a:t>
            </a:r>
          </a:p>
        </p:txBody>
      </p:sp>
      <p:sp>
        <p:nvSpPr>
          <p:cNvPr id="25" name="I:section 3">
            <a:extLst>
              <a:ext uri="{FF2B5EF4-FFF2-40B4-BE49-F238E27FC236}">
                <a16:creationId xmlns:a16="http://schemas.microsoft.com/office/drawing/2014/main" id="{51D2E4D9-3245-4F2B-AB6B-F97C12DAE3B0}"/>
              </a:ext>
            </a:extLst>
          </p:cNvPr>
          <p:cNvSpPr>
            <a:spLocks noGrp="1"/>
          </p:cNvSpPr>
          <p:nvPr/>
        </p:nvSpPr>
        <p:spPr>
          <a:xfrm>
            <a:off x="1000125" y="5600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담당 역할</a:t>
            </a:r>
          </a:p>
        </p:txBody>
      </p:sp>
      <p:sp>
        <p:nvSpPr>
          <p:cNvPr id="26" name="I:body 3">
            <a:extLst>
              <a:ext uri="{FF2B5EF4-FFF2-40B4-BE49-F238E27FC236}">
                <a16:creationId xmlns:a16="http://schemas.microsoft.com/office/drawing/2014/main" id="{23E8446D-616A-413A-9EB8-9D30CE866C24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3600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서비스·UX·정책 기획</a:t>
            </a:r>
          </a:p>
        </p:txBody>
      </p:sp>
      <p:sp>
        <p:nvSpPr>
          <p:cNvPr id="9901" name="Role contribution label">
            <a:extLst>
              <a:ext uri="{FF2B5EF4-FFF2-40B4-BE49-F238E27FC236}">
                <a16:creationId xmlns:a16="http://schemas.microsoft.com/office/drawing/2014/main" id="{1DA49B90-A544-47FA-B0E7-9DA84857D7E3}"/>
              </a:ext>
            </a:extLst>
          </p:cNvPr>
          <p:cNvSpPr>
            <a:spLocks noGrp="1"/>
          </p:cNvSpPr>
          <p:nvPr/>
        </p:nvSpPr>
        <p:spPr>
          <a:xfrm>
            <a:off x="1000125" y="58769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기획 기여도</a:t>
            </a:r>
          </a:p>
        </p:txBody>
      </p:sp>
      <p:sp>
        <p:nvSpPr>
          <p:cNvPr id="9902" name="Role contribution value">
            <a:extLst>
              <a:ext uri="{FF2B5EF4-FFF2-40B4-BE49-F238E27FC236}">
                <a16:creationId xmlns:a16="http://schemas.microsoft.com/office/drawing/2014/main" id="{C0BADED3-7193-426C-B1B0-560389DE1634}"/>
              </a:ext>
            </a:extLst>
          </p:cNvPr>
          <p:cNvSpPr>
            <a:spLocks noGrp="1"/>
          </p:cNvSpPr>
          <p:nvPr/>
        </p:nvSpPr>
        <p:spPr>
          <a:xfrm>
            <a:off x="1905000" y="5876925"/>
            <a:ext cx="3600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100%</a:t>
            </a:r>
          </a:p>
        </p:txBody>
      </p:sp>
      <p:sp>
        <p:nvSpPr>
          <p:cNvPr id="9903" name="Team label">
            <a:extLst>
              <a:ext uri="{FF2B5EF4-FFF2-40B4-BE49-F238E27FC236}">
                <a16:creationId xmlns:a16="http://schemas.microsoft.com/office/drawing/2014/main" id="{A89ADE18-3928-4EBE-A211-ED2F7830D9F8}"/>
              </a:ext>
            </a:extLst>
          </p:cNvPr>
          <p:cNvSpPr>
            <a:spLocks noGrp="1"/>
          </p:cNvSpPr>
          <p:nvPr/>
        </p:nvSpPr>
        <p:spPr>
          <a:xfrm>
            <a:off x="1000125" y="61531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협업 구성</a:t>
            </a:r>
          </a:p>
        </p:txBody>
      </p:sp>
      <p:sp>
        <p:nvSpPr>
          <p:cNvPr id="9904" name="Team value">
            <a:extLst>
              <a:ext uri="{FF2B5EF4-FFF2-40B4-BE49-F238E27FC236}">
                <a16:creationId xmlns:a16="http://schemas.microsoft.com/office/drawing/2014/main" id="{6B2DA625-57EB-4150-955A-F8B3762EC421}"/>
              </a:ext>
            </a:extLst>
          </p:cNvPr>
          <p:cNvSpPr>
            <a:spLocks noGrp="1"/>
          </p:cNvSpPr>
          <p:nvPr/>
        </p:nvSpPr>
        <p:spPr>
          <a:xfrm>
            <a:off x="1905000" y="61531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rPr>
              <a:t>디자인·클라이언트·서버·모델</a:t>
            </a:r>
          </a:p>
        </p:txBody>
      </p:sp>
    </p:spTree>
    <p:extLst>
      <p:ext uri="{BB962C8B-B14F-4D97-AF65-F5344CB8AC3E}">
        <p14:creationId xmlns:p14="http://schemas.microsoft.com/office/powerpoint/2010/main" val="2397299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7F93D-47C7-FC33-98BD-499A488F4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27">
            <a:extLst>
              <a:ext uri="{FF2B5EF4-FFF2-40B4-BE49-F238E27FC236}">
                <a16:creationId xmlns:a16="http://schemas.microsoft.com/office/drawing/2014/main" id="{B5392755-5865-F9B0-8A6B-497FC1FEFB7F}"/>
              </a:ext>
            </a:extLst>
          </p:cNvPr>
          <p:cNvSpPr>
            <a:spLocks noGrp="1"/>
          </p:cNvSpPr>
          <p:nvPr/>
        </p:nvSpPr>
        <p:spPr>
          <a:xfrm>
            <a:off x="0" y="824999"/>
            <a:ext cx="1041400" cy="4012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직사각형 24">
            <a:extLst>
              <a:ext uri="{FF2B5EF4-FFF2-40B4-BE49-F238E27FC236}">
                <a16:creationId xmlns:a16="http://schemas.microsoft.com/office/drawing/2014/main" id="{9300C823-004B-CBFA-D2AC-54CAF748651A}"/>
              </a:ext>
            </a:extLst>
          </p:cNvPr>
          <p:cNvSpPr>
            <a:spLocks noGrp="1"/>
          </p:cNvSpPr>
          <p:nvPr/>
        </p:nvSpPr>
        <p:spPr>
          <a:xfrm>
            <a:off x="0" y="56308"/>
            <a:ext cx="12192000" cy="595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직사각형 50">
            <a:extLst>
              <a:ext uri="{FF2B5EF4-FFF2-40B4-BE49-F238E27FC236}">
                <a16:creationId xmlns:a16="http://schemas.microsoft.com/office/drawing/2014/main" id="{3A7B5860-8D32-C866-0A67-DA9795350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선 연결선 15">
            <a:extLst>
              <a:ext uri="{FF2B5EF4-FFF2-40B4-BE49-F238E27FC236}">
                <a16:creationId xmlns:a16="http://schemas.microsoft.com/office/drawing/2014/main" id="{95C1A325-505D-4B67-8F4F-385E5E9505B2}"/>
              </a:ext>
            </a:extLst>
          </p:cNvPr>
          <p:cNvSpPr>
            <a:spLocks noGrp="1"/>
          </p:cNvSpPr>
          <p:nvPr/>
        </p:nvSpPr>
        <p:spPr>
          <a:xfrm>
            <a:off x="0" y="1229505"/>
            <a:ext cx="4204447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6" name="직사각형 16">
            <a:extLst>
              <a:ext uri="{FF2B5EF4-FFF2-40B4-BE49-F238E27FC236}">
                <a16:creationId xmlns:a16="http://schemas.microsoft.com/office/drawing/2014/main" id="{BB03FEB3-BCA6-E72B-25F6-6F59200B89FF}"/>
              </a:ext>
            </a:extLst>
          </p:cNvPr>
          <p:cNvSpPr>
            <a:spLocks noGrp="1"/>
          </p:cNvSpPr>
          <p:nvPr/>
        </p:nvSpPr>
        <p:spPr>
          <a:xfrm>
            <a:off x="762759" y="1601182"/>
            <a:ext cx="4931893" cy="4891685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" name="I:header">
            <a:extLst>
              <a:ext uri="{FF2B5EF4-FFF2-40B4-BE49-F238E27FC236}">
                <a16:creationId xmlns:a16="http://schemas.microsoft.com/office/drawing/2014/main" id="{D4C00D8A-D8C0-499F-82B8-86B5304CCAAB}"/>
              </a:ext>
            </a:extLst>
          </p:cNvPr>
          <p:cNvSpPr>
            <a:spLocks noGrp="1"/>
          </p:cNvSpPr>
          <p:nvPr/>
        </p:nvSpPr>
        <p:spPr>
          <a:xfrm>
            <a:off x="190500" y="2000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삼성증권 / 모니모 서비스 기획·운영</a:t>
            </a:r>
          </a:p>
        </p:txBody>
      </p:sp>
      <p:sp>
        <p:nvSpPr>
          <p:cNvPr id="8" name="I:category">
            <a:extLst>
              <a:ext uri="{FF2B5EF4-FFF2-40B4-BE49-F238E27FC236}">
                <a16:creationId xmlns:a16="http://schemas.microsoft.com/office/drawing/2014/main" id="{AE8AF70D-0EF3-45C1-8A97-AD5DFEA87B90}"/>
              </a:ext>
            </a:extLst>
          </p:cNvPr>
          <p:cNvSpPr>
            <a:spLocks noGrp="1"/>
          </p:cNvSpPr>
          <p:nvPr/>
        </p:nvSpPr>
        <p:spPr>
          <a:xfrm>
            <a:off x="0" y="923925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9" name="I:project">
            <a:extLst>
              <a:ext uri="{FF2B5EF4-FFF2-40B4-BE49-F238E27FC236}">
                <a16:creationId xmlns:a16="http://schemas.microsoft.com/office/drawing/2014/main" id="{D1E9B160-5950-4BF0-A525-EB1B3653E1AE}"/>
              </a:ext>
            </a:extLst>
          </p:cNvPr>
          <p:cNvSpPr>
            <a:spLocks noGrp="1"/>
          </p:cNvSpPr>
          <p:nvPr/>
        </p:nvSpPr>
        <p:spPr>
          <a:xfrm>
            <a:off x="1171575" y="9144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사용자 여정 재설계를 통한 행동 유도 및 개선</a:t>
            </a:r>
          </a:p>
        </p:txBody>
      </p:sp>
      <p:sp>
        <p:nvSpPr>
          <p:cNvPr id="10" name="I:page">
            <a:extLst>
              <a:ext uri="{FF2B5EF4-FFF2-40B4-BE49-F238E27FC236}">
                <a16:creationId xmlns:a16="http://schemas.microsoft.com/office/drawing/2014/main" id="{E58FFA58-88EC-4E28-B49C-E8BFCC5AF63F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11</a:t>
            </a:r>
          </a:p>
        </p:txBody>
      </p:sp>
      <p:sp>
        <p:nvSpPr>
          <p:cNvPr id="11" name="I:section 0">
            <a:extLst>
              <a:ext uri="{FF2B5EF4-FFF2-40B4-BE49-F238E27FC236}">
                <a16:creationId xmlns:a16="http://schemas.microsoft.com/office/drawing/2014/main" id="{C76009C5-9C8A-4424-A070-DB282B28D106}"/>
              </a:ext>
            </a:extLst>
          </p:cNvPr>
          <p:cNvSpPr>
            <a:spLocks noGrp="1"/>
          </p:cNvSpPr>
          <p:nvPr/>
        </p:nvSpPr>
        <p:spPr>
          <a:xfrm>
            <a:off x="1000125" y="179070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문제 의식 및 목표</a:t>
            </a:r>
          </a:p>
        </p:txBody>
      </p:sp>
      <p:sp>
        <p:nvSpPr>
          <p:cNvPr id="12" name="I:body 0">
            <a:extLst>
              <a:ext uri="{FF2B5EF4-FFF2-40B4-BE49-F238E27FC236}">
                <a16:creationId xmlns:a16="http://schemas.microsoft.com/office/drawing/2014/main" id="{63D60C18-B285-4728-A7DD-18E7AD829AEA}"/>
              </a:ext>
            </a:extLst>
          </p:cNvPr>
          <p:cNvSpPr>
            <a:spLocks noGrp="1"/>
          </p:cNvSpPr>
          <p:nvPr/>
        </p:nvSpPr>
        <p:spPr>
          <a:xfrm>
            <a:off x="1000125" y="2105025"/>
            <a:ext cx="44577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대출 가능 금액·담보 비율의 확인 어려움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메뉴 일괄 노출에 따른 정보 탐색 부담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상태 확인에서 연장·신청으로 이어지는 여정 개선</a:t>
            </a:r>
          </a:p>
        </p:txBody>
      </p:sp>
      <p:sp>
        <p:nvSpPr>
          <p:cNvPr id="13" name="I:section 1">
            <a:extLst>
              <a:ext uri="{FF2B5EF4-FFF2-40B4-BE49-F238E27FC236}">
                <a16:creationId xmlns:a16="http://schemas.microsoft.com/office/drawing/2014/main" id="{2C2E9BB6-8AE6-4726-8D3E-82B0F53AEEFC}"/>
              </a:ext>
            </a:extLst>
          </p:cNvPr>
          <p:cNvSpPr>
            <a:spLocks noGrp="1"/>
          </p:cNvSpPr>
          <p:nvPr/>
        </p:nvSpPr>
        <p:spPr>
          <a:xfrm>
            <a:off x="1000125" y="286702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주요 업무</a:t>
            </a:r>
          </a:p>
        </p:txBody>
      </p:sp>
      <p:sp>
        <p:nvSpPr>
          <p:cNvPr id="14" name="I:body 1">
            <a:extLst>
              <a:ext uri="{FF2B5EF4-FFF2-40B4-BE49-F238E27FC236}">
                <a16:creationId xmlns:a16="http://schemas.microsoft.com/office/drawing/2014/main" id="{F7848B16-0D4B-4B0D-A7EE-6BDD950EF960}"/>
              </a:ext>
            </a:extLst>
          </p:cNvPr>
          <p:cNvSpPr>
            <a:spLocks noGrp="1"/>
          </p:cNvSpPr>
          <p:nvPr/>
        </p:nvSpPr>
        <p:spPr>
          <a:xfrm>
            <a:off x="1000125" y="3181350"/>
            <a:ext cx="4457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대출 가능 금액·담보 비율을 바 차트로 시각화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사용자 상황에 필요한 기능을 우선 노출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불필요한 메뉴를 숨겨 정보 탐색 부담 축소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담보 부족과 대출 연장 시점을 알리는 기능 추가</a:t>
            </a:r>
          </a:p>
        </p:txBody>
      </p:sp>
      <p:sp>
        <p:nvSpPr>
          <p:cNvPr id="15" name="I:section 2">
            <a:extLst>
              <a:ext uri="{FF2B5EF4-FFF2-40B4-BE49-F238E27FC236}">
                <a16:creationId xmlns:a16="http://schemas.microsoft.com/office/drawing/2014/main" id="{1F65D090-E3BF-4D73-B915-827D4F51B403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결과/성과</a:t>
            </a:r>
          </a:p>
        </p:txBody>
      </p:sp>
      <p:sp>
        <p:nvSpPr>
          <p:cNvPr id="16" name="I:body 2">
            <a:extLst>
              <a:ext uri="{FF2B5EF4-FFF2-40B4-BE49-F238E27FC236}">
                <a16:creationId xmlns:a16="http://schemas.microsoft.com/office/drawing/2014/main" id="{D93A9652-BA75-49E3-842D-69A940E9AE49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44577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대출 상태·담보 부족 여부의 직관적 확인 경험 제공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담보 부족 인지 개선과 연체 리스크 관리 지원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대출 연장률 및 실행 전환율 개선</a:t>
            </a:r>
          </a:p>
        </p:txBody>
      </p:sp>
      <p:sp>
        <p:nvSpPr>
          <p:cNvPr id="17" name="I:section 3">
            <a:extLst>
              <a:ext uri="{FF2B5EF4-FFF2-40B4-BE49-F238E27FC236}">
                <a16:creationId xmlns:a16="http://schemas.microsoft.com/office/drawing/2014/main" id="{91FFFBF3-8A08-4BBF-BF8D-F3A8E4FC6632}"/>
              </a:ext>
            </a:extLst>
          </p:cNvPr>
          <p:cNvSpPr>
            <a:spLocks noGrp="1"/>
          </p:cNvSpPr>
          <p:nvPr/>
        </p:nvSpPr>
        <p:spPr>
          <a:xfrm>
            <a:off x="1000125" y="5600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담당 역할</a:t>
            </a:r>
          </a:p>
        </p:txBody>
      </p:sp>
      <p:sp>
        <p:nvSpPr>
          <p:cNvPr id="18" name="I:body 3">
            <a:extLst>
              <a:ext uri="{FF2B5EF4-FFF2-40B4-BE49-F238E27FC236}">
                <a16:creationId xmlns:a16="http://schemas.microsoft.com/office/drawing/2014/main" id="{DD07AAC4-3871-4B6D-8BE5-5EE3DD3D8532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3600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제품 기획</a:t>
            </a:r>
          </a:p>
        </p:txBody>
      </p:sp>
      <p:sp>
        <p:nvSpPr>
          <p:cNvPr id="19" name="I:evidence caption">
            <a:extLst>
              <a:ext uri="{FF2B5EF4-FFF2-40B4-BE49-F238E27FC236}">
                <a16:creationId xmlns:a16="http://schemas.microsoft.com/office/drawing/2014/main" id="{96B4629F-E14B-471D-8A7F-1A6460DD843F}"/>
              </a:ext>
            </a:extLst>
          </p:cNvPr>
          <p:cNvSpPr>
            <a:spLocks noGrp="1"/>
          </p:cNvSpPr>
          <p:nvPr/>
        </p:nvSpPr>
        <p:spPr>
          <a:xfrm>
            <a:off x="6096000" y="1676400"/>
            <a:ext cx="5600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대출 정보 탐색 화면의 개선 전·후</a:t>
            </a:r>
          </a:p>
        </p:txBody>
      </p:sp>
      <p:sp>
        <p:nvSpPr>
          <p:cNvPr id="20" name="I:disclosure">
            <a:extLst>
              <a:ext uri="{FF2B5EF4-FFF2-40B4-BE49-F238E27FC236}">
                <a16:creationId xmlns:a16="http://schemas.microsoft.com/office/drawing/2014/main" id="{3E1D32B7-DBB8-4DED-A80C-3A9A5BA94180}"/>
              </a:ext>
            </a:extLst>
          </p:cNvPr>
          <p:cNvSpPr>
            <a:spLocks noGrp="1"/>
          </p:cNvSpPr>
          <p:nvPr/>
        </p:nvSpPr>
        <p:spPr>
          <a:xfrm>
            <a:off x="6096000" y="6410325"/>
            <a:ext cx="5486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공개 가능한 범위의 내부 자료 발췌 · 일부 데이터 비식별화</a:t>
            </a:r>
          </a:p>
        </p:txBody>
      </p:sp>
      <p:pic>
        <p:nvPicPr>
          <p:cNvPr id="21" name=""/>
          <p:cNvPicPr>
            <a:picLocks noChangeAspect="1"/>
          </p:cNvPicPr>
          <p:nvPr/>
        </p:nvPicPr>
        <p:blipFill>
          <a:blip r:embed="rIdIntegrated_R73e776e4ccf34d55"/>
          <a:stretch/>
        </p:blipFill>
        <p:spPr>
          <a:xfrm>
            <a:off x="6557033" y="2114550"/>
            <a:ext cx="1878284" cy="4086225"/>
          </a:xfrm>
          <a:prstGeom prst="rect">
            <a:avLst/>
          </a:prstGeom>
        </p:spPr>
      </p:pic>
      <p:pic>
        <p:nvPicPr>
          <p:cNvPr id="22" name=""/>
          <p:cNvPicPr>
            <a:picLocks noChangeAspect="1"/>
          </p:cNvPicPr>
          <p:nvPr/>
        </p:nvPicPr>
        <p:blipFill>
          <a:blip r:embed="rIdIntegrated_R07ec78cb86c14bb3"/>
          <a:stretch/>
        </p:blipFill>
        <p:spPr>
          <a:xfrm>
            <a:off x="9426149" y="2114550"/>
            <a:ext cx="1816952" cy="4086225"/>
          </a:xfrm>
          <a:prstGeom prst="rect">
            <a:avLst/>
          </a:prstGeom>
        </p:spPr>
      </p:pic>
      <p:sp>
        <p:nvSpPr>
          <p:cNvPr id="23" name="I:before">
            <a:extLst>
              <a:ext uri="{FF2B5EF4-FFF2-40B4-BE49-F238E27FC236}">
                <a16:creationId xmlns:a16="http://schemas.microsoft.com/office/drawing/2014/main" id="{A6B6AEE1-0A7F-4652-99FE-766D0DA89572}"/>
              </a:ext>
            </a:extLst>
          </p:cNvPr>
          <p:cNvSpPr>
            <a:spLocks noGrp="1"/>
          </p:cNvSpPr>
          <p:nvPr/>
        </p:nvSpPr>
        <p:spPr>
          <a:xfrm>
            <a:off x="6353175" y="6172200"/>
            <a:ext cx="2286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75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개선 전</a:t>
            </a:r>
          </a:p>
        </p:txBody>
      </p:sp>
      <p:sp>
        <p:nvSpPr>
          <p:cNvPr id="24" name="I:after">
            <a:extLst>
              <a:ext uri="{FF2B5EF4-FFF2-40B4-BE49-F238E27FC236}">
                <a16:creationId xmlns:a16="http://schemas.microsoft.com/office/drawing/2014/main" id="{9297718C-F147-427B-9FCA-1BBF5BFBDEE7}"/>
              </a:ext>
            </a:extLst>
          </p:cNvPr>
          <p:cNvSpPr>
            <a:spLocks noGrp="1"/>
          </p:cNvSpPr>
          <p:nvPr/>
        </p:nvSpPr>
        <p:spPr>
          <a:xfrm>
            <a:off x="9191625" y="6172200"/>
            <a:ext cx="2286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7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개선 후</a:t>
            </a:r>
          </a:p>
        </p:txBody>
      </p:sp>
      <p:sp>
        <p:nvSpPr>
          <p:cNvPr id="9901" name="Role contribution label">
            <a:extLst>
              <a:ext uri="{FF2B5EF4-FFF2-40B4-BE49-F238E27FC236}">
                <a16:creationId xmlns:a16="http://schemas.microsoft.com/office/drawing/2014/main" id="{66DEF34D-DEE6-48DC-92E3-28332859103B}"/>
              </a:ext>
            </a:extLst>
          </p:cNvPr>
          <p:cNvSpPr>
            <a:spLocks noGrp="1"/>
          </p:cNvSpPr>
          <p:nvPr/>
        </p:nvSpPr>
        <p:spPr>
          <a:xfrm>
            <a:off x="1000125" y="58769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기획 기여도</a:t>
            </a:r>
          </a:p>
        </p:txBody>
      </p:sp>
      <p:sp>
        <p:nvSpPr>
          <p:cNvPr id="9902" name="Role contribution value">
            <a:extLst>
              <a:ext uri="{FF2B5EF4-FFF2-40B4-BE49-F238E27FC236}">
                <a16:creationId xmlns:a16="http://schemas.microsoft.com/office/drawing/2014/main" id="{AD4FB2E4-D90C-4CB9-9A66-434A637AD984}"/>
              </a:ext>
            </a:extLst>
          </p:cNvPr>
          <p:cNvSpPr>
            <a:spLocks noGrp="1"/>
          </p:cNvSpPr>
          <p:nvPr/>
        </p:nvSpPr>
        <p:spPr>
          <a:xfrm>
            <a:off x="1905000" y="5876925"/>
            <a:ext cx="3600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100%</a:t>
            </a:r>
          </a:p>
        </p:txBody>
      </p:sp>
      <p:sp>
        <p:nvSpPr>
          <p:cNvPr id="9903" name="Team label">
            <a:extLst>
              <a:ext uri="{FF2B5EF4-FFF2-40B4-BE49-F238E27FC236}">
                <a16:creationId xmlns:a16="http://schemas.microsoft.com/office/drawing/2014/main" id="{34684470-9E6D-49E9-975D-5C728B3C8E63}"/>
              </a:ext>
            </a:extLst>
          </p:cNvPr>
          <p:cNvSpPr>
            <a:spLocks noGrp="1"/>
          </p:cNvSpPr>
          <p:nvPr/>
        </p:nvSpPr>
        <p:spPr>
          <a:xfrm>
            <a:off x="1000125" y="61531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협업 구성</a:t>
            </a:r>
          </a:p>
        </p:txBody>
      </p:sp>
      <p:sp>
        <p:nvSpPr>
          <p:cNvPr id="9904" name="Team value">
            <a:extLst>
              <a:ext uri="{FF2B5EF4-FFF2-40B4-BE49-F238E27FC236}">
                <a16:creationId xmlns:a16="http://schemas.microsoft.com/office/drawing/2014/main" id="{28009086-72D7-4F26-89F2-AE3423BFCD4A}"/>
              </a:ext>
            </a:extLst>
          </p:cNvPr>
          <p:cNvSpPr>
            <a:spLocks noGrp="1"/>
          </p:cNvSpPr>
          <p:nvPr/>
        </p:nvSpPr>
        <p:spPr>
          <a:xfrm>
            <a:off x="1905000" y="61531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rPr>
              <a:t>디자인 1명, 개발 4명, 데이터 분석 1명</a:t>
            </a:r>
          </a:p>
        </p:txBody>
      </p:sp>
    </p:spTree>
    <p:extLst>
      <p:ext uri="{BB962C8B-B14F-4D97-AF65-F5344CB8AC3E}">
        <p14:creationId xmlns:p14="http://schemas.microsoft.com/office/powerpoint/2010/main" val="2857313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27">
            <a:extLst>
              <a:ext uri="{FF2B5EF4-FFF2-40B4-BE49-F238E27FC236}">
                <a16:creationId xmlns:a16="http://schemas.microsoft.com/office/drawing/2014/main" id="{B5392755-5865-F9B0-8A6B-497FC1FEFB7F}"/>
              </a:ext>
            </a:extLst>
          </p:cNvPr>
          <p:cNvSpPr>
            <a:spLocks noGrp="1"/>
          </p:cNvSpPr>
          <p:nvPr/>
        </p:nvSpPr>
        <p:spPr>
          <a:xfrm>
            <a:off x="0" y="824999"/>
            <a:ext cx="1041400" cy="4012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직사각형 24">
            <a:extLst>
              <a:ext uri="{FF2B5EF4-FFF2-40B4-BE49-F238E27FC236}">
                <a16:creationId xmlns:a16="http://schemas.microsoft.com/office/drawing/2014/main" id="{9300C823-004B-CBFA-D2AC-54CAF748651A}"/>
              </a:ext>
            </a:extLst>
          </p:cNvPr>
          <p:cNvSpPr>
            <a:spLocks noGrp="1"/>
          </p:cNvSpPr>
          <p:nvPr/>
        </p:nvSpPr>
        <p:spPr>
          <a:xfrm>
            <a:off x="0" y="56308"/>
            <a:ext cx="12192000" cy="595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직사각형 50">
            <a:extLst>
              <a:ext uri="{FF2B5EF4-FFF2-40B4-BE49-F238E27FC236}">
                <a16:creationId xmlns:a16="http://schemas.microsoft.com/office/drawing/2014/main" id="{3A7B5860-8D32-C866-0A67-DA9795350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선 연결선 15">
            <a:extLst>
              <a:ext uri="{FF2B5EF4-FFF2-40B4-BE49-F238E27FC236}">
                <a16:creationId xmlns:a16="http://schemas.microsoft.com/office/drawing/2014/main" id="{95C1A325-505D-4B67-8F4F-385E5E9505B2}"/>
              </a:ext>
            </a:extLst>
          </p:cNvPr>
          <p:cNvSpPr>
            <a:spLocks noGrp="1"/>
          </p:cNvSpPr>
          <p:nvPr/>
        </p:nvSpPr>
        <p:spPr>
          <a:xfrm>
            <a:off x="0" y="1229505"/>
            <a:ext cx="4204447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6" name="직사각형 16">
            <a:extLst>
              <a:ext uri="{FF2B5EF4-FFF2-40B4-BE49-F238E27FC236}">
                <a16:creationId xmlns:a16="http://schemas.microsoft.com/office/drawing/2014/main" id="{BB03FEB3-BCA6-E72B-25F6-6F59200B89FF}"/>
              </a:ext>
            </a:extLst>
          </p:cNvPr>
          <p:cNvSpPr>
            <a:spLocks noGrp="1"/>
          </p:cNvSpPr>
          <p:nvPr/>
        </p:nvSpPr>
        <p:spPr>
          <a:xfrm>
            <a:off x="762759" y="1601182"/>
            <a:ext cx="4931893" cy="4891685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grpSp>
        <p:nvGrpSpPr>
          <p:cNvPr id="7" name="Original evidence"/>
          <p:cNvGrpSpPr/>
          <p:nvPr/>
        </p:nvGrpSpPr>
        <p:grpSpPr>
          <a:xfrm>
            <a:off x="6096000" y="2965883"/>
            <a:ext cx="5600700" cy="2402610"/>
            <a:chOff x="6435196" y="2707814"/>
            <a:chExt cx="5226715" cy="2242176"/>
          </a:xfrm>
        </p:grpSpPr>
        <p:pic>
          <p:nvPicPr>
            <p:cNvPr id="8" name="그림 3">
              <a:extLst>
                <a:ext uri="{FF2B5EF4-FFF2-40B4-BE49-F238E27FC236}">
                  <a16:creationId xmlns:a16="http://schemas.microsoft.com/office/drawing/2014/main" id="{E4A41B9E-FF46-7262-E346-EEDC07318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51118" y="2707814"/>
              <a:ext cx="5110793" cy="2242176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sp>
          <p:nvSpPr>
            <p:cNvPr id="9" name="Shape 150">
              <a:extLst>
                <a:ext uri="{FF2B5EF4-FFF2-40B4-BE49-F238E27FC236}">
                  <a16:creationId xmlns:a16="http://schemas.microsoft.com/office/drawing/2014/main" id="{219CECF0-7046-D30C-6612-11609AE89778}"/>
                </a:ext>
              </a:extLst>
            </p:cNvPr>
            <p:cNvSpPr/>
            <p:nvPr/>
          </p:nvSpPr>
          <p:spPr>
            <a:xfrm>
              <a:off x="6435196" y="2774018"/>
              <a:ext cx="1158222" cy="2308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8" tIns="45718" rIns="45718" bIns="45718">
              <a:spAutoFit/>
            </a:bodyPr>
            <a:lstStyle>
              <a:lvl1pPr>
                <a:defRPr sz="1200">
                  <a:ln w="9525">
                    <a:solidFill>
                      <a:srgbClr val="404040">
                        <a:alpha val="0"/>
                      </a:srgbClr>
                    </a:solidFill>
                  </a:ln>
                  <a:solidFill>
                    <a:srgbClr val="595959"/>
                  </a:solidFill>
                  <a:latin typeface="+mj-lt"/>
                  <a:ea typeface="+mj-ea"/>
                  <a:cs typeface="+mj-cs"/>
                  <a:sym typeface="나눔바른고딕"/>
                </a:defRPr>
              </a:lvl1pPr>
            </a:lstStyle>
            <a:p>
              <a:pPr algn="ctr"/>
              <a:r>
                <a:rPr lang="ko-KR" altLang="en-US" sz="900" dirty="0">
                  <a:solidFill>
                    <a:srgbClr val="2151F5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</a:rPr>
                <a:t>목표 대비 </a:t>
              </a:r>
              <a:r>
                <a:rPr lang="ko-KR" altLang="en-US" sz="900" dirty="0" err="1">
                  <a:solidFill>
                    <a:srgbClr val="2151F5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</a:rPr>
                <a:t>달성률</a:t>
              </a:r>
              <a:endParaRPr lang="ko-KR" altLang="en-US" sz="900" dirty="0">
                <a:solidFill>
                  <a:srgbClr val="2151F5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</a:endParaRPr>
            </a:p>
          </p:txBody>
        </p:sp>
        <p:sp>
          <p:nvSpPr>
            <p:cNvPr id="10" name="직사각형 36">
              <a:extLst>
                <a:ext uri="{FF2B5EF4-FFF2-40B4-BE49-F238E27FC236}">
                  <a16:creationId xmlns:a16="http://schemas.microsoft.com/office/drawing/2014/main" id="{3975DBB8-666C-D558-BD6B-995205B50E95}"/>
                </a:ext>
              </a:extLst>
            </p:cNvPr>
            <p:cNvSpPr/>
            <p:nvPr/>
          </p:nvSpPr>
          <p:spPr>
            <a:xfrm>
              <a:off x="7722367" y="4255164"/>
              <a:ext cx="115200" cy="180000"/>
            </a:xfrm>
            <a:prstGeom prst="rect">
              <a:avLst/>
            </a:prstGeom>
            <a:noFill/>
            <a:ln>
              <a:solidFill>
                <a:srgbClr val="2151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Shape 150">
              <a:extLst>
                <a:ext uri="{FF2B5EF4-FFF2-40B4-BE49-F238E27FC236}">
                  <a16:creationId xmlns:a16="http://schemas.microsoft.com/office/drawing/2014/main" id="{A61A46E2-7ED7-D17A-B11B-699973CB4CFD}"/>
                </a:ext>
              </a:extLst>
            </p:cNvPr>
            <p:cNvSpPr/>
            <p:nvPr/>
          </p:nvSpPr>
          <p:spPr>
            <a:xfrm>
              <a:off x="6692121" y="4229750"/>
              <a:ext cx="1158222" cy="2308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8" tIns="45718" rIns="45718" bIns="45718">
              <a:spAutoFit/>
            </a:bodyPr>
            <a:lstStyle>
              <a:lvl1pPr>
                <a:defRPr sz="1200">
                  <a:ln w="9525">
                    <a:solidFill>
                      <a:srgbClr val="404040">
                        <a:alpha val="0"/>
                      </a:srgbClr>
                    </a:solidFill>
                  </a:ln>
                  <a:solidFill>
                    <a:srgbClr val="595959"/>
                  </a:solidFill>
                  <a:latin typeface="+mj-lt"/>
                  <a:ea typeface="+mj-ea"/>
                  <a:cs typeface="+mj-cs"/>
                  <a:sym typeface="나눔바른고딕"/>
                </a:defRPr>
              </a:lvl1pPr>
            </a:lstStyle>
            <a:p>
              <a:pPr algn="ctr"/>
              <a:r>
                <a:rPr lang="ko-KR" altLang="en-US" sz="900" dirty="0">
                  <a:solidFill>
                    <a:srgbClr val="2151F5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</a:rPr>
                <a:t>목표 초과 달성 구간</a:t>
              </a:r>
            </a:p>
          </p:txBody>
        </p:sp>
        <p:sp>
          <p:nvSpPr>
            <p:cNvPr id="12" name="직사각형 38">
              <a:extLst>
                <a:ext uri="{FF2B5EF4-FFF2-40B4-BE49-F238E27FC236}">
                  <a16:creationId xmlns:a16="http://schemas.microsoft.com/office/drawing/2014/main" id="{CC9B8724-7800-64B9-18D2-A11FF7491998}"/>
                </a:ext>
              </a:extLst>
            </p:cNvPr>
            <p:cNvSpPr/>
            <p:nvPr/>
          </p:nvSpPr>
          <p:spPr>
            <a:xfrm>
              <a:off x="7421461" y="2807044"/>
              <a:ext cx="339259" cy="195263"/>
            </a:xfrm>
            <a:prstGeom prst="rect">
              <a:avLst/>
            </a:prstGeom>
            <a:noFill/>
            <a:ln>
              <a:solidFill>
                <a:srgbClr val="2151F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3" name="I:header">
            <a:extLst>
              <a:ext uri="{FF2B5EF4-FFF2-40B4-BE49-F238E27FC236}">
                <a16:creationId xmlns:a16="http://schemas.microsoft.com/office/drawing/2014/main" id="{F13226EE-9890-4F7A-BE12-ABB9B7411EB6}"/>
              </a:ext>
            </a:extLst>
          </p:cNvPr>
          <p:cNvSpPr>
            <a:spLocks noGrp="1"/>
          </p:cNvSpPr>
          <p:nvPr/>
        </p:nvSpPr>
        <p:spPr>
          <a:xfrm>
            <a:off x="190500" y="2000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토스 / 보험 Product Owner</a:t>
            </a:r>
          </a:p>
        </p:txBody>
      </p:sp>
      <p:sp>
        <p:nvSpPr>
          <p:cNvPr id="14" name="I:category">
            <a:extLst>
              <a:ext uri="{FF2B5EF4-FFF2-40B4-BE49-F238E27FC236}">
                <a16:creationId xmlns:a16="http://schemas.microsoft.com/office/drawing/2014/main" id="{CBE8FAAB-F8AD-4CE8-8615-B95A5F8B5773}"/>
              </a:ext>
            </a:extLst>
          </p:cNvPr>
          <p:cNvSpPr>
            <a:spLocks noGrp="1"/>
          </p:cNvSpPr>
          <p:nvPr/>
        </p:nvSpPr>
        <p:spPr>
          <a:xfrm>
            <a:off x="0" y="923925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15" name="I:project">
            <a:extLst>
              <a:ext uri="{FF2B5EF4-FFF2-40B4-BE49-F238E27FC236}">
                <a16:creationId xmlns:a16="http://schemas.microsoft.com/office/drawing/2014/main" id="{9D472659-F6FA-481D-8897-7F403CBEA867}"/>
              </a:ext>
            </a:extLst>
          </p:cNvPr>
          <p:cNvSpPr>
            <a:spLocks noGrp="1"/>
          </p:cNvSpPr>
          <p:nvPr/>
        </p:nvSpPr>
        <p:spPr>
          <a:xfrm>
            <a:off x="1171575" y="9144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보험 상담 신청 경로 최적화 및 매출 성장</a:t>
            </a:r>
          </a:p>
        </p:txBody>
      </p:sp>
      <p:sp>
        <p:nvSpPr>
          <p:cNvPr id="16" name="I:page">
            <a:extLst>
              <a:ext uri="{FF2B5EF4-FFF2-40B4-BE49-F238E27FC236}">
                <a16:creationId xmlns:a16="http://schemas.microsoft.com/office/drawing/2014/main" id="{9D5D3444-E4D5-4F99-8EB9-8235781D393F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12</a:t>
            </a:r>
          </a:p>
        </p:txBody>
      </p:sp>
      <p:sp>
        <p:nvSpPr>
          <p:cNvPr id="17" name="I:section 0">
            <a:extLst>
              <a:ext uri="{FF2B5EF4-FFF2-40B4-BE49-F238E27FC236}">
                <a16:creationId xmlns:a16="http://schemas.microsoft.com/office/drawing/2014/main" id="{87F2FE59-B8FF-4B76-8A91-9437E2D97AB8}"/>
              </a:ext>
            </a:extLst>
          </p:cNvPr>
          <p:cNvSpPr>
            <a:spLocks noGrp="1"/>
          </p:cNvSpPr>
          <p:nvPr/>
        </p:nvSpPr>
        <p:spPr>
          <a:xfrm>
            <a:off x="1000125" y="179070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문제 의식 및 목표</a:t>
            </a:r>
          </a:p>
        </p:txBody>
      </p:sp>
      <p:sp>
        <p:nvSpPr>
          <p:cNvPr id="18" name="I:body 0">
            <a:extLst>
              <a:ext uri="{FF2B5EF4-FFF2-40B4-BE49-F238E27FC236}">
                <a16:creationId xmlns:a16="http://schemas.microsoft.com/office/drawing/2014/main" id="{8475B2EC-0C1B-469A-B63A-2AC35CAB795F}"/>
              </a:ext>
            </a:extLst>
          </p:cNvPr>
          <p:cNvSpPr>
            <a:spLocks noGrp="1"/>
          </p:cNvSpPr>
          <p:nvPr/>
        </p:nvSpPr>
        <p:spPr>
          <a:xfrm>
            <a:off x="1000125" y="2105025"/>
            <a:ext cx="44577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보험 상담 수요의 신청 전환 확대 필요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유입 채널과 신청 경로의 병목 분석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상담 리드 확대와 매출 성장의 연결</a:t>
            </a:r>
          </a:p>
        </p:txBody>
      </p:sp>
      <p:sp>
        <p:nvSpPr>
          <p:cNvPr id="19" name="I:section 1">
            <a:extLst>
              <a:ext uri="{FF2B5EF4-FFF2-40B4-BE49-F238E27FC236}">
                <a16:creationId xmlns:a16="http://schemas.microsoft.com/office/drawing/2014/main" id="{C827F46D-F50E-4C8B-96AC-4956AD7F0C6D}"/>
              </a:ext>
            </a:extLst>
          </p:cNvPr>
          <p:cNvSpPr>
            <a:spLocks noGrp="1"/>
          </p:cNvSpPr>
          <p:nvPr/>
        </p:nvSpPr>
        <p:spPr>
          <a:xfrm>
            <a:off x="1000125" y="286702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주요 업무</a:t>
            </a:r>
          </a:p>
        </p:txBody>
      </p:sp>
      <p:sp>
        <p:nvSpPr>
          <p:cNvPr id="20" name="I:body 1">
            <a:extLst>
              <a:ext uri="{FF2B5EF4-FFF2-40B4-BE49-F238E27FC236}">
                <a16:creationId xmlns:a16="http://schemas.microsoft.com/office/drawing/2014/main" id="{565B0081-6F44-4CDA-A6AB-F28542809B20}"/>
              </a:ext>
            </a:extLst>
          </p:cNvPr>
          <p:cNvSpPr>
            <a:spLocks noGrp="1"/>
          </p:cNvSpPr>
          <p:nvPr/>
        </p:nvSpPr>
        <p:spPr>
          <a:xfrm>
            <a:off x="1000125" y="3181350"/>
            <a:ext cx="4457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상담 신청 경로와 전환 데이터를 분석해 개선안 도출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신규 유입 확대를 위한 채널·소재별 성과 분석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주요 지표 모니터링과 성과 리포팅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가설을 세우고 실험해 효과적인 신청 경로 검증</a:t>
            </a:r>
          </a:p>
        </p:txBody>
      </p:sp>
      <p:sp>
        <p:nvSpPr>
          <p:cNvPr id="21" name="I:section 2">
            <a:extLst>
              <a:ext uri="{FF2B5EF4-FFF2-40B4-BE49-F238E27FC236}">
                <a16:creationId xmlns:a16="http://schemas.microsoft.com/office/drawing/2014/main" id="{673CE736-1CCE-4621-8DDA-EFBF93795B93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결과/성과</a:t>
            </a:r>
          </a:p>
        </p:txBody>
      </p:sp>
      <p:sp>
        <p:nvSpPr>
          <p:cNvPr id="22" name="I:body 2">
            <a:extLst>
              <a:ext uri="{FF2B5EF4-FFF2-40B4-BE49-F238E27FC236}">
                <a16:creationId xmlns:a16="http://schemas.microsoft.com/office/drawing/2014/main" id="{5BDDDA90-BE2F-4CAC-9F4F-60DBD0E925FD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44577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보험 상담 신청 목표 달성률 </a:t>
            </a:r>
            <a:r>
              <a:rPr sz="132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129%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매출 </a:t>
            </a:r>
            <a:r>
              <a:rPr sz="132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120%</a:t>
            </a: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 증가 (2024년 8월 기준)</a:t>
            </a:r>
          </a:p>
        </p:txBody>
      </p:sp>
      <p:sp>
        <p:nvSpPr>
          <p:cNvPr id="23" name="I:section 3">
            <a:extLst>
              <a:ext uri="{FF2B5EF4-FFF2-40B4-BE49-F238E27FC236}">
                <a16:creationId xmlns:a16="http://schemas.microsoft.com/office/drawing/2014/main" id="{E261CCE5-576A-47BE-A2BA-1455C08E54C6}"/>
              </a:ext>
            </a:extLst>
          </p:cNvPr>
          <p:cNvSpPr>
            <a:spLocks noGrp="1"/>
          </p:cNvSpPr>
          <p:nvPr/>
        </p:nvSpPr>
        <p:spPr>
          <a:xfrm>
            <a:off x="1000125" y="5600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담당 역할</a:t>
            </a:r>
          </a:p>
        </p:txBody>
      </p:sp>
      <p:sp>
        <p:nvSpPr>
          <p:cNvPr id="24" name="I:body 3">
            <a:extLst>
              <a:ext uri="{FF2B5EF4-FFF2-40B4-BE49-F238E27FC236}">
                <a16:creationId xmlns:a16="http://schemas.microsoft.com/office/drawing/2014/main" id="{C2161323-179B-4C8E-8531-F7FB058EB075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3600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제품 총괄·실험·서비스 기획</a:t>
            </a:r>
          </a:p>
        </p:txBody>
      </p:sp>
      <p:sp>
        <p:nvSpPr>
          <p:cNvPr id="25" name="I:evidence caption">
            <a:extLst>
              <a:ext uri="{FF2B5EF4-FFF2-40B4-BE49-F238E27FC236}">
                <a16:creationId xmlns:a16="http://schemas.microsoft.com/office/drawing/2014/main" id="{B92F484B-838C-4D1A-AEB5-1A1CDD1E6276}"/>
              </a:ext>
            </a:extLst>
          </p:cNvPr>
          <p:cNvSpPr>
            <a:spLocks noGrp="1"/>
          </p:cNvSpPr>
          <p:nvPr/>
        </p:nvSpPr>
        <p:spPr>
          <a:xfrm>
            <a:off x="6096000" y="1676400"/>
            <a:ext cx="5600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보험 상담 신청 목표 달성 추이</a:t>
            </a:r>
          </a:p>
        </p:txBody>
      </p:sp>
      <p:sp>
        <p:nvSpPr>
          <p:cNvPr id="26" name="I:disclosure">
            <a:extLst>
              <a:ext uri="{FF2B5EF4-FFF2-40B4-BE49-F238E27FC236}">
                <a16:creationId xmlns:a16="http://schemas.microsoft.com/office/drawing/2014/main" id="{FD832CA0-E853-42E8-BCB3-FDA29B67A0F1}"/>
              </a:ext>
            </a:extLst>
          </p:cNvPr>
          <p:cNvSpPr>
            <a:spLocks noGrp="1"/>
          </p:cNvSpPr>
          <p:nvPr/>
        </p:nvSpPr>
        <p:spPr>
          <a:xfrm>
            <a:off x="6096000" y="6410325"/>
            <a:ext cx="5486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공개 가능한 범위의 내부 자료 발췌 · 일부 데이터 비식별화</a:t>
            </a:r>
          </a:p>
        </p:txBody>
      </p:sp>
      <p:sp>
        <p:nvSpPr>
          <p:cNvPr id="9901" name="Role contribution label">
            <a:extLst>
              <a:ext uri="{FF2B5EF4-FFF2-40B4-BE49-F238E27FC236}">
                <a16:creationId xmlns:a16="http://schemas.microsoft.com/office/drawing/2014/main" id="{D0D28F2A-1DA1-4FBE-9D65-22BF1DE7A046}"/>
              </a:ext>
            </a:extLst>
          </p:cNvPr>
          <p:cNvSpPr>
            <a:spLocks noGrp="1"/>
          </p:cNvSpPr>
          <p:nvPr/>
        </p:nvSpPr>
        <p:spPr>
          <a:xfrm>
            <a:off x="1000125" y="58769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기획 기여도</a:t>
            </a:r>
          </a:p>
        </p:txBody>
      </p:sp>
      <p:sp>
        <p:nvSpPr>
          <p:cNvPr id="9902" name="Role contribution value">
            <a:extLst>
              <a:ext uri="{FF2B5EF4-FFF2-40B4-BE49-F238E27FC236}">
                <a16:creationId xmlns:a16="http://schemas.microsoft.com/office/drawing/2014/main" id="{AA115C76-DC3B-4E33-9952-F2C65EAF4F2F}"/>
              </a:ext>
            </a:extLst>
          </p:cNvPr>
          <p:cNvSpPr>
            <a:spLocks noGrp="1"/>
          </p:cNvSpPr>
          <p:nvPr/>
        </p:nvSpPr>
        <p:spPr>
          <a:xfrm>
            <a:off x="1905000" y="5876925"/>
            <a:ext cx="3600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100%</a:t>
            </a:r>
          </a:p>
        </p:txBody>
      </p:sp>
      <p:sp>
        <p:nvSpPr>
          <p:cNvPr id="9903" name="Team label">
            <a:extLst>
              <a:ext uri="{FF2B5EF4-FFF2-40B4-BE49-F238E27FC236}">
                <a16:creationId xmlns:a16="http://schemas.microsoft.com/office/drawing/2014/main" id="{962CBA78-4FD4-4A15-88E1-AFF12F66ED8E}"/>
              </a:ext>
            </a:extLst>
          </p:cNvPr>
          <p:cNvSpPr>
            <a:spLocks noGrp="1"/>
          </p:cNvSpPr>
          <p:nvPr/>
        </p:nvSpPr>
        <p:spPr>
          <a:xfrm>
            <a:off x="1000125" y="61531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협업 구성</a:t>
            </a:r>
          </a:p>
        </p:txBody>
      </p:sp>
      <p:sp>
        <p:nvSpPr>
          <p:cNvPr id="9904" name="Team value">
            <a:extLst>
              <a:ext uri="{FF2B5EF4-FFF2-40B4-BE49-F238E27FC236}">
                <a16:creationId xmlns:a16="http://schemas.microsoft.com/office/drawing/2014/main" id="{D7800FAB-083D-49D3-8659-8EDFD21D9D16}"/>
              </a:ext>
            </a:extLst>
          </p:cNvPr>
          <p:cNvSpPr>
            <a:spLocks noGrp="1"/>
          </p:cNvSpPr>
          <p:nvPr/>
        </p:nvSpPr>
        <p:spPr>
          <a:xfrm>
            <a:off x="1905000" y="61531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rPr>
              <a:t>디자인 1명, 개발 2명, 데이터 분석 1명</a:t>
            </a:r>
          </a:p>
        </p:txBody>
      </p:sp>
    </p:spTree>
    <p:extLst>
      <p:ext uri="{BB962C8B-B14F-4D97-AF65-F5344CB8AC3E}">
        <p14:creationId xmlns:p14="http://schemas.microsoft.com/office/powerpoint/2010/main" val="1926715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27">
            <a:extLst>
              <a:ext uri="{FF2B5EF4-FFF2-40B4-BE49-F238E27FC236}">
                <a16:creationId xmlns:a16="http://schemas.microsoft.com/office/drawing/2014/main" id="{B5392755-5865-F9B0-8A6B-497FC1FEFB7F}"/>
              </a:ext>
            </a:extLst>
          </p:cNvPr>
          <p:cNvSpPr>
            <a:spLocks noGrp="1"/>
          </p:cNvSpPr>
          <p:nvPr/>
        </p:nvSpPr>
        <p:spPr>
          <a:xfrm>
            <a:off x="0" y="824999"/>
            <a:ext cx="1041400" cy="4012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직사각형 24">
            <a:extLst>
              <a:ext uri="{FF2B5EF4-FFF2-40B4-BE49-F238E27FC236}">
                <a16:creationId xmlns:a16="http://schemas.microsoft.com/office/drawing/2014/main" id="{9300C823-004B-CBFA-D2AC-54CAF748651A}"/>
              </a:ext>
            </a:extLst>
          </p:cNvPr>
          <p:cNvSpPr>
            <a:spLocks noGrp="1"/>
          </p:cNvSpPr>
          <p:nvPr/>
        </p:nvSpPr>
        <p:spPr>
          <a:xfrm>
            <a:off x="0" y="56308"/>
            <a:ext cx="12192000" cy="595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직사각형 50">
            <a:extLst>
              <a:ext uri="{FF2B5EF4-FFF2-40B4-BE49-F238E27FC236}">
                <a16:creationId xmlns:a16="http://schemas.microsoft.com/office/drawing/2014/main" id="{3A7B5860-8D32-C866-0A67-DA9795350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선 연결선 15">
            <a:extLst>
              <a:ext uri="{FF2B5EF4-FFF2-40B4-BE49-F238E27FC236}">
                <a16:creationId xmlns:a16="http://schemas.microsoft.com/office/drawing/2014/main" id="{95C1A325-505D-4B67-8F4F-385E5E9505B2}"/>
              </a:ext>
            </a:extLst>
          </p:cNvPr>
          <p:cNvSpPr>
            <a:spLocks noGrp="1"/>
          </p:cNvSpPr>
          <p:nvPr/>
        </p:nvSpPr>
        <p:spPr>
          <a:xfrm>
            <a:off x="0" y="1229505"/>
            <a:ext cx="4204447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6" name="직사각형 16">
            <a:extLst>
              <a:ext uri="{FF2B5EF4-FFF2-40B4-BE49-F238E27FC236}">
                <a16:creationId xmlns:a16="http://schemas.microsoft.com/office/drawing/2014/main" id="{BB03FEB3-BCA6-E72B-25F6-6F59200B89FF}"/>
              </a:ext>
            </a:extLst>
          </p:cNvPr>
          <p:cNvSpPr>
            <a:spLocks noGrp="1"/>
          </p:cNvSpPr>
          <p:nvPr/>
        </p:nvSpPr>
        <p:spPr>
          <a:xfrm>
            <a:off x="762759" y="1601182"/>
            <a:ext cx="4931893" cy="4891685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grpSp>
        <p:nvGrpSpPr>
          <p:cNvPr id="7" name="Original evidence"/>
          <p:cNvGrpSpPr/>
          <p:nvPr/>
        </p:nvGrpSpPr>
        <p:grpSpPr>
          <a:xfrm>
            <a:off x="6847024" y="2047875"/>
            <a:ext cx="4098652" cy="4238625"/>
            <a:chOff x="6693424" y="1371774"/>
            <a:chExt cx="4656413" cy="4815434"/>
          </a:xfrm>
        </p:grpSpPr>
        <p:pic>
          <p:nvPicPr>
            <p:cNvPr id="8" name="그림 3">
              <a:extLst>
                <a:ext uri="{FF2B5EF4-FFF2-40B4-BE49-F238E27FC236}">
                  <a16:creationId xmlns:a16="http://schemas.microsoft.com/office/drawing/2014/main" id="{33BC2A32-E863-D558-907D-9831E1FB8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93424" y="1371774"/>
              <a:ext cx="1763817" cy="2359731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pic>
          <p:nvPicPr>
            <p:cNvPr id="9" name="그림 4">
              <a:extLst>
                <a:ext uri="{FF2B5EF4-FFF2-40B4-BE49-F238E27FC236}">
                  <a16:creationId xmlns:a16="http://schemas.microsoft.com/office/drawing/2014/main" id="{5C51EF2A-E8DB-AC19-31AA-2E3C2C174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11669" y="1371775"/>
              <a:ext cx="2838168" cy="2374700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pic>
          <p:nvPicPr>
            <p:cNvPr id="10" name="그림 10">
              <a:extLst>
                <a:ext uri="{FF2B5EF4-FFF2-40B4-BE49-F238E27FC236}">
                  <a16:creationId xmlns:a16="http://schemas.microsoft.com/office/drawing/2014/main" id="{B6F1DFCA-2745-9C13-94DE-0505EC20C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61847" y="4133836"/>
              <a:ext cx="2623953" cy="2053372"/>
            </a:xfrm>
            <a:prstGeom prst="rect">
              <a:avLst/>
            </a:prstGeom>
          </p:spPr>
        </p:pic>
      </p:grpSp>
      <p:sp>
        <p:nvSpPr>
          <p:cNvPr id="11" name="I:header">
            <a:extLst>
              <a:ext uri="{FF2B5EF4-FFF2-40B4-BE49-F238E27FC236}">
                <a16:creationId xmlns:a16="http://schemas.microsoft.com/office/drawing/2014/main" id="{2B3D2B2C-567C-41C2-A01F-6BDCD07CB26E}"/>
              </a:ext>
            </a:extLst>
          </p:cNvPr>
          <p:cNvSpPr>
            <a:spLocks noGrp="1"/>
          </p:cNvSpPr>
          <p:nvPr/>
        </p:nvSpPr>
        <p:spPr>
          <a:xfrm>
            <a:off x="190500" y="2000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토스 / 보험 Product Owner</a:t>
            </a:r>
          </a:p>
        </p:txBody>
      </p:sp>
      <p:sp>
        <p:nvSpPr>
          <p:cNvPr id="12" name="I:category">
            <a:extLst>
              <a:ext uri="{FF2B5EF4-FFF2-40B4-BE49-F238E27FC236}">
                <a16:creationId xmlns:a16="http://schemas.microsoft.com/office/drawing/2014/main" id="{46389FC1-B0A6-4CC0-948D-9EF8B6ABE533}"/>
              </a:ext>
            </a:extLst>
          </p:cNvPr>
          <p:cNvSpPr>
            <a:spLocks noGrp="1"/>
          </p:cNvSpPr>
          <p:nvPr/>
        </p:nvSpPr>
        <p:spPr>
          <a:xfrm>
            <a:off x="0" y="923925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13" name="I:project">
            <a:extLst>
              <a:ext uri="{FF2B5EF4-FFF2-40B4-BE49-F238E27FC236}">
                <a16:creationId xmlns:a16="http://schemas.microsoft.com/office/drawing/2014/main" id="{E36BD7BD-9C3C-482B-B85F-5E9D76741BA6}"/>
              </a:ext>
            </a:extLst>
          </p:cNvPr>
          <p:cNvSpPr>
            <a:spLocks noGrp="1"/>
          </p:cNvSpPr>
          <p:nvPr/>
        </p:nvSpPr>
        <p:spPr>
          <a:xfrm>
            <a:off x="1171575" y="9144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보험 관리 수요를 반영한 홈 화면 및 전환율 개선</a:t>
            </a:r>
          </a:p>
        </p:txBody>
      </p:sp>
      <p:sp>
        <p:nvSpPr>
          <p:cNvPr id="14" name="I:page">
            <a:extLst>
              <a:ext uri="{FF2B5EF4-FFF2-40B4-BE49-F238E27FC236}">
                <a16:creationId xmlns:a16="http://schemas.microsoft.com/office/drawing/2014/main" id="{0BEC2055-8C9B-444D-9CC2-8EC1A87528F2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13</a:t>
            </a:r>
          </a:p>
        </p:txBody>
      </p:sp>
      <p:sp>
        <p:nvSpPr>
          <p:cNvPr id="15" name="I:section 0">
            <a:extLst>
              <a:ext uri="{FF2B5EF4-FFF2-40B4-BE49-F238E27FC236}">
                <a16:creationId xmlns:a16="http://schemas.microsoft.com/office/drawing/2014/main" id="{CC0487B1-37AC-41D6-86E4-275E833654A1}"/>
              </a:ext>
            </a:extLst>
          </p:cNvPr>
          <p:cNvSpPr>
            <a:spLocks noGrp="1"/>
          </p:cNvSpPr>
          <p:nvPr/>
        </p:nvSpPr>
        <p:spPr>
          <a:xfrm>
            <a:off x="1000125" y="179070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문제 의식 및 목표</a:t>
            </a:r>
          </a:p>
        </p:txBody>
      </p:sp>
      <p:sp>
        <p:nvSpPr>
          <p:cNvPr id="16" name="I:body 0">
            <a:extLst>
              <a:ext uri="{FF2B5EF4-FFF2-40B4-BE49-F238E27FC236}">
                <a16:creationId xmlns:a16="http://schemas.microsoft.com/office/drawing/2014/main" id="{55C512BD-E36F-4DF9-92C5-C96151FF3A98}"/>
              </a:ext>
            </a:extLst>
          </p:cNvPr>
          <p:cNvSpPr>
            <a:spLocks noGrp="1"/>
          </p:cNvSpPr>
          <p:nvPr/>
        </p:nvSpPr>
        <p:spPr>
          <a:xfrm>
            <a:off x="1000125" y="2105025"/>
            <a:ext cx="44577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광고 중심 보험 홈과 보유 보험 관리 수요의 불일치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보험 확인·분석 수요 대비 낮은 광고 영역 클릭률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보험 관리 경험의 상담·상품 이용 연결 필요</a:t>
            </a:r>
          </a:p>
        </p:txBody>
      </p:sp>
      <p:sp>
        <p:nvSpPr>
          <p:cNvPr id="17" name="I:section 1">
            <a:extLst>
              <a:ext uri="{FF2B5EF4-FFF2-40B4-BE49-F238E27FC236}">
                <a16:creationId xmlns:a16="http://schemas.microsoft.com/office/drawing/2014/main" id="{9F2BA90F-6415-4228-AD06-3A17BA5E52C6}"/>
              </a:ext>
            </a:extLst>
          </p:cNvPr>
          <p:cNvSpPr>
            <a:spLocks noGrp="1"/>
          </p:cNvSpPr>
          <p:nvPr/>
        </p:nvSpPr>
        <p:spPr>
          <a:xfrm>
            <a:off x="1000125" y="286702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주요 업무</a:t>
            </a:r>
          </a:p>
        </p:txBody>
      </p:sp>
      <p:sp>
        <p:nvSpPr>
          <p:cNvPr id="18" name="I:body 1">
            <a:extLst>
              <a:ext uri="{FF2B5EF4-FFF2-40B4-BE49-F238E27FC236}">
                <a16:creationId xmlns:a16="http://schemas.microsoft.com/office/drawing/2014/main" id="{9763C2AE-E496-42D7-9560-5B91F49D0951}"/>
              </a:ext>
            </a:extLst>
          </p:cNvPr>
          <p:cNvSpPr>
            <a:spLocks noGrp="1"/>
          </p:cNvSpPr>
          <p:nvPr/>
        </p:nvSpPr>
        <p:spPr>
          <a:xfrm>
            <a:off x="1000125" y="3181350"/>
            <a:ext cx="4457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사용자 인터뷰와 이용 데이터로 핵심 수요 확인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보험 확인·분석 기능에 쉽게 접근하는 정보 구조 설계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관리 기능과 보험 혜택·상담을 연결하는 화면 기획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개편 후 이탈과 주요 기능의 전환 지표 확인</a:t>
            </a:r>
          </a:p>
        </p:txBody>
      </p:sp>
      <p:sp>
        <p:nvSpPr>
          <p:cNvPr id="19" name="I:section 2">
            <a:extLst>
              <a:ext uri="{FF2B5EF4-FFF2-40B4-BE49-F238E27FC236}">
                <a16:creationId xmlns:a16="http://schemas.microsoft.com/office/drawing/2014/main" id="{4176ED72-0C47-4DC9-9EE5-86BE80924882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결과/성과</a:t>
            </a:r>
          </a:p>
        </p:txBody>
      </p:sp>
      <p:sp>
        <p:nvSpPr>
          <p:cNvPr id="20" name="I:body 2">
            <a:extLst>
              <a:ext uri="{FF2B5EF4-FFF2-40B4-BE49-F238E27FC236}">
                <a16:creationId xmlns:a16="http://schemas.microsoft.com/office/drawing/2014/main" id="{61A22E6E-16F0-4B37-BBEB-17749E47299A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44577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보험 홈 이탈 사용자 </a:t>
            </a:r>
            <a:r>
              <a:rPr sz="132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22%</a:t>
            </a: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 감소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보험 혜택 서비스 전환율 </a:t>
            </a:r>
            <a:r>
              <a:rPr sz="132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38%</a:t>
            </a: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 증가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보험 상담 신청 전환율 </a:t>
            </a:r>
            <a:r>
              <a:rPr sz="132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15%</a:t>
            </a: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 증가</a:t>
            </a:r>
          </a:p>
        </p:txBody>
      </p:sp>
      <p:sp>
        <p:nvSpPr>
          <p:cNvPr id="21" name="I:section 3">
            <a:extLst>
              <a:ext uri="{FF2B5EF4-FFF2-40B4-BE49-F238E27FC236}">
                <a16:creationId xmlns:a16="http://schemas.microsoft.com/office/drawing/2014/main" id="{AA127B49-93BB-49B5-BC61-8A05C1BA9775}"/>
              </a:ext>
            </a:extLst>
          </p:cNvPr>
          <p:cNvSpPr>
            <a:spLocks noGrp="1"/>
          </p:cNvSpPr>
          <p:nvPr/>
        </p:nvSpPr>
        <p:spPr>
          <a:xfrm>
            <a:off x="1000125" y="5600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담당 역할</a:t>
            </a:r>
          </a:p>
        </p:txBody>
      </p:sp>
      <p:sp>
        <p:nvSpPr>
          <p:cNvPr id="22" name="I:body 3">
            <a:extLst>
              <a:ext uri="{FF2B5EF4-FFF2-40B4-BE49-F238E27FC236}">
                <a16:creationId xmlns:a16="http://schemas.microsoft.com/office/drawing/2014/main" id="{1505B0BB-4F82-4EE1-BCD6-B25F7516B1E8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3600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제품 총괄·실험·서비스 기획</a:t>
            </a:r>
          </a:p>
        </p:txBody>
      </p:sp>
      <p:sp>
        <p:nvSpPr>
          <p:cNvPr id="23" name="I:evidence caption">
            <a:extLst>
              <a:ext uri="{FF2B5EF4-FFF2-40B4-BE49-F238E27FC236}">
                <a16:creationId xmlns:a16="http://schemas.microsoft.com/office/drawing/2014/main" id="{12CF7FD1-538C-47B6-883E-30F181301148}"/>
              </a:ext>
            </a:extLst>
          </p:cNvPr>
          <p:cNvSpPr>
            <a:spLocks noGrp="1"/>
          </p:cNvSpPr>
          <p:nvPr/>
        </p:nvSpPr>
        <p:spPr>
          <a:xfrm>
            <a:off x="6096000" y="1676400"/>
            <a:ext cx="5600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보험 홈 이용 분석과 개선 화면</a:t>
            </a:r>
          </a:p>
        </p:txBody>
      </p:sp>
      <p:sp>
        <p:nvSpPr>
          <p:cNvPr id="24" name="I:disclosure">
            <a:extLst>
              <a:ext uri="{FF2B5EF4-FFF2-40B4-BE49-F238E27FC236}">
                <a16:creationId xmlns:a16="http://schemas.microsoft.com/office/drawing/2014/main" id="{09B1E138-045A-4FEE-A931-B57030B485F3}"/>
              </a:ext>
            </a:extLst>
          </p:cNvPr>
          <p:cNvSpPr>
            <a:spLocks noGrp="1"/>
          </p:cNvSpPr>
          <p:nvPr/>
        </p:nvSpPr>
        <p:spPr>
          <a:xfrm>
            <a:off x="6096000" y="6410325"/>
            <a:ext cx="5486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공개 가능한 범위의 내부 자료 발췌 · 일부 데이터 비식별화</a:t>
            </a:r>
          </a:p>
        </p:txBody>
      </p:sp>
      <p:sp>
        <p:nvSpPr>
          <p:cNvPr id="9901" name="Role contribution label">
            <a:extLst>
              <a:ext uri="{FF2B5EF4-FFF2-40B4-BE49-F238E27FC236}">
                <a16:creationId xmlns:a16="http://schemas.microsoft.com/office/drawing/2014/main" id="{51EC6578-6D48-4438-BEC3-CCBA119B49F1}"/>
              </a:ext>
            </a:extLst>
          </p:cNvPr>
          <p:cNvSpPr>
            <a:spLocks noGrp="1"/>
          </p:cNvSpPr>
          <p:nvPr/>
        </p:nvSpPr>
        <p:spPr>
          <a:xfrm>
            <a:off x="1000125" y="58769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기획 기여도</a:t>
            </a:r>
          </a:p>
        </p:txBody>
      </p:sp>
      <p:sp>
        <p:nvSpPr>
          <p:cNvPr id="9902" name="Role contribution value">
            <a:extLst>
              <a:ext uri="{FF2B5EF4-FFF2-40B4-BE49-F238E27FC236}">
                <a16:creationId xmlns:a16="http://schemas.microsoft.com/office/drawing/2014/main" id="{D40B1780-78D3-4DE0-84C8-6200AEF6D52F}"/>
              </a:ext>
            </a:extLst>
          </p:cNvPr>
          <p:cNvSpPr>
            <a:spLocks noGrp="1"/>
          </p:cNvSpPr>
          <p:nvPr/>
        </p:nvSpPr>
        <p:spPr>
          <a:xfrm>
            <a:off x="1905000" y="5876925"/>
            <a:ext cx="3600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100%</a:t>
            </a:r>
          </a:p>
        </p:txBody>
      </p:sp>
      <p:sp>
        <p:nvSpPr>
          <p:cNvPr id="9903" name="Team label">
            <a:extLst>
              <a:ext uri="{FF2B5EF4-FFF2-40B4-BE49-F238E27FC236}">
                <a16:creationId xmlns:a16="http://schemas.microsoft.com/office/drawing/2014/main" id="{661E6FEA-D45E-44D1-9AA4-04FA1C4979D6}"/>
              </a:ext>
            </a:extLst>
          </p:cNvPr>
          <p:cNvSpPr>
            <a:spLocks noGrp="1"/>
          </p:cNvSpPr>
          <p:nvPr/>
        </p:nvSpPr>
        <p:spPr>
          <a:xfrm>
            <a:off x="1000125" y="61531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협업 구성</a:t>
            </a:r>
          </a:p>
        </p:txBody>
      </p:sp>
      <p:sp>
        <p:nvSpPr>
          <p:cNvPr id="9904" name="Team value">
            <a:extLst>
              <a:ext uri="{FF2B5EF4-FFF2-40B4-BE49-F238E27FC236}">
                <a16:creationId xmlns:a16="http://schemas.microsoft.com/office/drawing/2014/main" id="{975B721E-807D-45B7-8C3A-C3E4E56C7961}"/>
              </a:ext>
            </a:extLst>
          </p:cNvPr>
          <p:cNvSpPr>
            <a:spLocks noGrp="1"/>
          </p:cNvSpPr>
          <p:nvPr/>
        </p:nvSpPr>
        <p:spPr>
          <a:xfrm>
            <a:off x="1905000" y="61531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rPr>
              <a:t>디자인 1명, 개발 2명, 데이터 분석 1명</a:t>
            </a:r>
          </a:p>
        </p:txBody>
      </p:sp>
    </p:spTree>
    <p:extLst>
      <p:ext uri="{BB962C8B-B14F-4D97-AF65-F5344CB8AC3E}">
        <p14:creationId xmlns:p14="http://schemas.microsoft.com/office/powerpoint/2010/main" val="1660658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27">
            <a:extLst>
              <a:ext uri="{FF2B5EF4-FFF2-40B4-BE49-F238E27FC236}">
                <a16:creationId xmlns:a16="http://schemas.microsoft.com/office/drawing/2014/main" id="{B5392755-5865-F9B0-8A6B-497FC1FEFB7F}"/>
              </a:ext>
            </a:extLst>
          </p:cNvPr>
          <p:cNvSpPr>
            <a:spLocks noGrp="1"/>
          </p:cNvSpPr>
          <p:nvPr/>
        </p:nvSpPr>
        <p:spPr>
          <a:xfrm>
            <a:off x="0" y="824999"/>
            <a:ext cx="1041400" cy="4012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직사각형 24">
            <a:extLst>
              <a:ext uri="{FF2B5EF4-FFF2-40B4-BE49-F238E27FC236}">
                <a16:creationId xmlns:a16="http://schemas.microsoft.com/office/drawing/2014/main" id="{9300C823-004B-CBFA-D2AC-54CAF748651A}"/>
              </a:ext>
            </a:extLst>
          </p:cNvPr>
          <p:cNvSpPr>
            <a:spLocks noGrp="1"/>
          </p:cNvSpPr>
          <p:nvPr/>
        </p:nvSpPr>
        <p:spPr>
          <a:xfrm>
            <a:off x="0" y="56308"/>
            <a:ext cx="12192000" cy="595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직사각형 50">
            <a:extLst>
              <a:ext uri="{FF2B5EF4-FFF2-40B4-BE49-F238E27FC236}">
                <a16:creationId xmlns:a16="http://schemas.microsoft.com/office/drawing/2014/main" id="{3A7B5860-8D32-C866-0A67-DA9795350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선 연결선 15">
            <a:extLst>
              <a:ext uri="{FF2B5EF4-FFF2-40B4-BE49-F238E27FC236}">
                <a16:creationId xmlns:a16="http://schemas.microsoft.com/office/drawing/2014/main" id="{95C1A325-505D-4B67-8F4F-385E5E9505B2}"/>
              </a:ext>
            </a:extLst>
          </p:cNvPr>
          <p:cNvSpPr>
            <a:spLocks noGrp="1"/>
          </p:cNvSpPr>
          <p:nvPr/>
        </p:nvSpPr>
        <p:spPr>
          <a:xfrm>
            <a:off x="0" y="1229505"/>
            <a:ext cx="4204447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6" name="직사각형 16">
            <a:extLst>
              <a:ext uri="{FF2B5EF4-FFF2-40B4-BE49-F238E27FC236}">
                <a16:creationId xmlns:a16="http://schemas.microsoft.com/office/drawing/2014/main" id="{BB03FEB3-BCA6-E72B-25F6-6F59200B89FF}"/>
              </a:ext>
            </a:extLst>
          </p:cNvPr>
          <p:cNvSpPr>
            <a:spLocks noGrp="1"/>
          </p:cNvSpPr>
          <p:nvPr/>
        </p:nvSpPr>
        <p:spPr>
          <a:xfrm>
            <a:off x="762759" y="1601182"/>
            <a:ext cx="4931893" cy="4891685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grpSp>
        <p:nvGrpSpPr>
          <p:cNvPr id="7" name="Original evidence"/>
          <p:cNvGrpSpPr/>
          <p:nvPr/>
        </p:nvGrpSpPr>
        <p:grpSpPr>
          <a:xfrm>
            <a:off x="6756574" y="2047875"/>
            <a:ext cx="4279552" cy="4238625"/>
            <a:chOff x="6151622" y="1704360"/>
            <a:chExt cx="4705696" cy="4660694"/>
          </a:xfrm>
        </p:grpSpPr>
        <p:pic>
          <p:nvPicPr>
            <p:cNvPr id="8" name="그림 34">
              <a:extLst>
                <a:ext uri="{FF2B5EF4-FFF2-40B4-BE49-F238E27FC236}">
                  <a16:creationId xmlns:a16="http://schemas.microsoft.com/office/drawing/2014/main" id="{37CF4EF1-D912-43AC-5587-B8BF33D01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56716" y="1704360"/>
              <a:ext cx="4700602" cy="2692623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pic>
          <p:nvPicPr>
            <p:cNvPr id="9" name="그림 12">
              <a:extLst>
                <a:ext uri="{FF2B5EF4-FFF2-40B4-BE49-F238E27FC236}">
                  <a16:creationId xmlns:a16="http://schemas.microsoft.com/office/drawing/2014/main" id="{52FCBECB-99CE-18A7-A42C-E3585B90C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13" b="2113"/>
            <a:stretch/>
          </p:blipFill>
          <p:spPr>
            <a:xfrm>
              <a:off x="6151622" y="4712382"/>
              <a:ext cx="4644979" cy="1652672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</p:grpSp>
      <p:sp>
        <p:nvSpPr>
          <p:cNvPr id="10" name="I:header">
            <a:extLst>
              <a:ext uri="{FF2B5EF4-FFF2-40B4-BE49-F238E27FC236}">
                <a16:creationId xmlns:a16="http://schemas.microsoft.com/office/drawing/2014/main" id="{29E7C216-1394-43E6-94B0-42807D95ED48}"/>
              </a:ext>
            </a:extLst>
          </p:cNvPr>
          <p:cNvSpPr>
            <a:spLocks noGrp="1"/>
          </p:cNvSpPr>
          <p:nvPr/>
        </p:nvSpPr>
        <p:spPr>
          <a:xfrm>
            <a:off x="190500" y="2000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토스 / 대출 Product Owner</a:t>
            </a:r>
          </a:p>
        </p:txBody>
      </p:sp>
      <p:sp>
        <p:nvSpPr>
          <p:cNvPr id="11" name="I:category">
            <a:extLst>
              <a:ext uri="{FF2B5EF4-FFF2-40B4-BE49-F238E27FC236}">
                <a16:creationId xmlns:a16="http://schemas.microsoft.com/office/drawing/2014/main" id="{F8AE18D5-7F00-4C81-8FEC-8CF65873BA04}"/>
              </a:ext>
            </a:extLst>
          </p:cNvPr>
          <p:cNvSpPr>
            <a:spLocks noGrp="1"/>
          </p:cNvSpPr>
          <p:nvPr/>
        </p:nvSpPr>
        <p:spPr>
          <a:xfrm>
            <a:off x="0" y="923925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12" name="I:project">
            <a:extLst>
              <a:ext uri="{FF2B5EF4-FFF2-40B4-BE49-F238E27FC236}">
                <a16:creationId xmlns:a16="http://schemas.microsoft.com/office/drawing/2014/main" id="{4FAA4E54-A584-4646-8306-938A5A8AE6E2}"/>
              </a:ext>
            </a:extLst>
          </p:cNvPr>
          <p:cNvSpPr>
            <a:spLocks noGrp="1"/>
          </p:cNvSpPr>
          <p:nvPr/>
        </p:nvSpPr>
        <p:spPr>
          <a:xfrm>
            <a:off x="1171575" y="9144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퍼널 분석과 사용자 조사 기반 대출 제품 성장</a:t>
            </a:r>
          </a:p>
        </p:txBody>
      </p:sp>
      <p:sp>
        <p:nvSpPr>
          <p:cNvPr id="13" name="I:page">
            <a:extLst>
              <a:ext uri="{FF2B5EF4-FFF2-40B4-BE49-F238E27FC236}">
                <a16:creationId xmlns:a16="http://schemas.microsoft.com/office/drawing/2014/main" id="{B04ACAA7-DFC6-415E-B447-6602BF5FECC9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14</a:t>
            </a:r>
          </a:p>
        </p:txBody>
      </p:sp>
      <p:sp>
        <p:nvSpPr>
          <p:cNvPr id="14" name="I:section 0">
            <a:extLst>
              <a:ext uri="{FF2B5EF4-FFF2-40B4-BE49-F238E27FC236}">
                <a16:creationId xmlns:a16="http://schemas.microsoft.com/office/drawing/2014/main" id="{D8D7455B-7AAB-46ED-AB2E-536AC0E2F176}"/>
              </a:ext>
            </a:extLst>
          </p:cNvPr>
          <p:cNvSpPr>
            <a:spLocks noGrp="1"/>
          </p:cNvSpPr>
          <p:nvPr/>
        </p:nvSpPr>
        <p:spPr>
          <a:xfrm>
            <a:off x="1000125" y="179070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문제 의식 및 목표</a:t>
            </a:r>
          </a:p>
        </p:txBody>
      </p:sp>
      <p:sp>
        <p:nvSpPr>
          <p:cNvPr id="15" name="I:body 0">
            <a:extLst>
              <a:ext uri="{FF2B5EF4-FFF2-40B4-BE49-F238E27FC236}">
                <a16:creationId xmlns:a16="http://schemas.microsoft.com/office/drawing/2014/main" id="{73C7C5C0-F54D-4EB1-898C-4A839B25C545}"/>
              </a:ext>
            </a:extLst>
          </p:cNvPr>
          <p:cNvSpPr>
            <a:spLocks noGrp="1"/>
          </p:cNvSpPr>
          <p:nvPr/>
        </p:nvSpPr>
        <p:spPr>
          <a:xfrm>
            <a:off x="1000125" y="2105025"/>
            <a:ext cx="44577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서비스 진입부터 최종 실행까지의 전환 개선 필요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사용자 이탈 지점과 원인 분석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사용자 조사·퍼널 분석 기반 개선 과제 발굴</a:t>
            </a:r>
          </a:p>
        </p:txBody>
      </p:sp>
      <p:sp>
        <p:nvSpPr>
          <p:cNvPr id="16" name="I:section 1">
            <a:extLst>
              <a:ext uri="{FF2B5EF4-FFF2-40B4-BE49-F238E27FC236}">
                <a16:creationId xmlns:a16="http://schemas.microsoft.com/office/drawing/2014/main" id="{2CEA27E4-1CCC-43FC-90D8-21549A8C788E}"/>
              </a:ext>
            </a:extLst>
          </p:cNvPr>
          <p:cNvSpPr>
            <a:spLocks noGrp="1"/>
          </p:cNvSpPr>
          <p:nvPr/>
        </p:nvSpPr>
        <p:spPr>
          <a:xfrm>
            <a:off x="1000125" y="286702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주요 업무</a:t>
            </a:r>
          </a:p>
        </p:txBody>
      </p:sp>
      <p:sp>
        <p:nvSpPr>
          <p:cNvPr id="17" name="I:body 1">
            <a:extLst>
              <a:ext uri="{FF2B5EF4-FFF2-40B4-BE49-F238E27FC236}">
                <a16:creationId xmlns:a16="http://schemas.microsoft.com/office/drawing/2014/main" id="{7C0CC379-BFC5-4E04-9F89-6989CB4BE2B5}"/>
              </a:ext>
            </a:extLst>
          </p:cNvPr>
          <p:cNvSpPr>
            <a:spLocks noGrp="1"/>
          </p:cNvSpPr>
          <p:nvPr/>
        </p:nvSpPr>
        <p:spPr>
          <a:xfrm>
            <a:off x="1000125" y="3181350"/>
            <a:ext cx="4457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단계별 퍼널과 신청·실행 결과 데이터를 분석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정기 사용자 인터뷰로 불편과 미충족 수요 발굴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가설을 검증할 실험 과제와 사용자 요구사항 정의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사용자 흐름을 설계하고 결과에 따라 개선 반복</a:t>
            </a:r>
          </a:p>
        </p:txBody>
      </p:sp>
      <p:sp>
        <p:nvSpPr>
          <p:cNvPr id="18" name="I:section 2">
            <a:extLst>
              <a:ext uri="{FF2B5EF4-FFF2-40B4-BE49-F238E27FC236}">
                <a16:creationId xmlns:a16="http://schemas.microsoft.com/office/drawing/2014/main" id="{98CA9187-F1E7-43E0-B0AC-45AC0D7B7BC8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결과/성과</a:t>
            </a:r>
          </a:p>
        </p:txBody>
      </p:sp>
      <p:sp>
        <p:nvSpPr>
          <p:cNvPr id="19" name="I:body 2">
            <a:extLst>
              <a:ext uri="{FF2B5EF4-FFF2-40B4-BE49-F238E27FC236}">
                <a16:creationId xmlns:a16="http://schemas.microsoft.com/office/drawing/2014/main" id="{F2A0623F-456B-4FFC-896B-7F5A86E43E02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44577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서비스 진입 대비 최종 전환율 </a:t>
            </a:r>
            <a:r>
              <a:rPr sz="132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8배</a:t>
            </a: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 개선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매출 </a:t>
            </a:r>
            <a:r>
              <a:rPr sz="132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28배</a:t>
            </a: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 증가</a:t>
            </a:r>
          </a:p>
        </p:txBody>
      </p:sp>
      <p:sp>
        <p:nvSpPr>
          <p:cNvPr id="20" name="I:section 3">
            <a:extLst>
              <a:ext uri="{FF2B5EF4-FFF2-40B4-BE49-F238E27FC236}">
                <a16:creationId xmlns:a16="http://schemas.microsoft.com/office/drawing/2014/main" id="{02E6B56E-C2EE-433A-AD44-135DD43CB43B}"/>
              </a:ext>
            </a:extLst>
          </p:cNvPr>
          <p:cNvSpPr>
            <a:spLocks noGrp="1"/>
          </p:cNvSpPr>
          <p:nvPr/>
        </p:nvSpPr>
        <p:spPr>
          <a:xfrm>
            <a:off x="1000125" y="5600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담당 역할</a:t>
            </a:r>
          </a:p>
        </p:txBody>
      </p:sp>
      <p:sp>
        <p:nvSpPr>
          <p:cNvPr id="21" name="I:body 3">
            <a:extLst>
              <a:ext uri="{FF2B5EF4-FFF2-40B4-BE49-F238E27FC236}">
                <a16:creationId xmlns:a16="http://schemas.microsoft.com/office/drawing/2014/main" id="{3D84AA78-D829-4225-A1D9-9FA4C6D2A2E0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3600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제품 총괄·실험·서비스 기획</a:t>
            </a:r>
          </a:p>
        </p:txBody>
      </p:sp>
      <p:sp>
        <p:nvSpPr>
          <p:cNvPr id="22" name="I:evidence caption">
            <a:extLst>
              <a:ext uri="{FF2B5EF4-FFF2-40B4-BE49-F238E27FC236}">
                <a16:creationId xmlns:a16="http://schemas.microsoft.com/office/drawing/2014/main" id="{B12DC1FE-268A-4B4F-B856-1CD807FC5FFD}"/>
              </a:ext>
            </a:extLst>
          </p:cNvPr>
          <p:cNvSpPr>
            <a:spLocks noGrp="1"/>
          </p:cNvSpPr>
          <p:nvPr/>
        </p:nvSpPr>
        <p:spPr>
          <a:xfrm>
            <a:off x="6096000" y="1676400"/>
            <a:ext cx="5600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가설 검증 과제와 단계별 전환 데이터</a:t>
            </a:r>
          </a:p>
        </p:txBody>
      </p:sp>
      <p:sp>
        <p:nvSpPr>
          <p:cNvPr id="23" name="I:disclosure">
            <a:extLst>
              <a:ext uri="{FF2B5EF4-FFF2-40B4-BE49-F238E27FC236}">
                <a16:creationId xmlns:a16="http://schemas.microsoft.com/office/drawing/2014/main" id="{68057A18-BB89-4093-AD03-6B0195935B0D}"/>
              </a:ext>
            </a:extLst>
          </p:cNvPr>
          <p:cNvSpPr>
            <a:spLocks noGrp="1"/>
          </p:cNvSpPr>
          <p:nvPr/>
        </p:nvSpPr>
        <p:spPr>
          <a:xfrm>
            <a:off x="6096000" y="6410325"/>
            <a:ext cx="5486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공개 가능한 범위의 내부 자료 발췌 · 일부 데이터 비식별화</a:t>
            </a:r>
          </a:p>
        </p:txBody>
      </p:sp>
      <p:sp>
        <p:nvSpPr>
          <p:cNvPr id="9901" name="Role contribution label">
            <a:extLst>
              <a:ext uri="{FF2B5EF4-FFF2-40B4-BE49-F238E27FC236}">
                <a16:creationId xmlns:a16="http://schemas.microsoft.com/office/drawing/2014/main" id="{2AB5D02E-288C-494D-A494-57EE43C602E9}"/>
              </a:ext>
            </a:extLst>
          </p:cNvPr>
          <p:cNvSpPr>
            <a:spLocks noGrp="1"/>
          </p:cNvSpPr>
          <p:nvPr/>
        </p:nvSpPr>
        <p:spPr>
          <a:xfrm>
            <a:off x="1000125" y="58769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기획 기여도</a:t>
            </a:r>
          </a:p>
        </p:txBody>
      </p:sp>
      <p:sp>
        <p:nvSpPr>
          <p:cNvPr id="9902" name="Role contribution value">
            <a:extLst>
              <a:ext uri="{FF2B5EF4-FFF2-40B4-BE49-F238E27FC236}">
                <a16:creationId xmlns:a16="http://schemas.microsoft.com/office/drawing/2014/main" id="{3B09820D-6910-476A-B53E-33B6E56C1A1E}"/>
              </a:ext>
            </a:extLst>
          </p:cNvPr>
          <p:cNvSpPr>
            <a:spLocks noGrp="1"/>
          </p:cNvSpPr>
          <p:nvPr/>
        </p:nvSpPr>
        <p:spPr>
          <a:xfrm>
            <a:off x="1905000" y="5876925"/>
            <a:ext cx="3600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100%</a:t>
            </a:r>
          </a:p>
        </p:txBody>
      </p:sp>
      <p:sp>
        <p:nvSpPr>
          <p:cNvPr id="9903" name="Team label">
            <a:extLst>
              <a:ext uri="{FF2B5EF4-FFF2-40B4-BE49-F238E27FC236}">
                <a16:creationId xmlns:a16="http://schemas.microsoft.com/office/drawing/2014/main" id="{BE0FD238-7103-4CCA-8D01-11B8BE1C6582}"/>
              </a:ext>
            </a:extLst>
          </p:cNvPr>
          <p:cNvSpPr>
            <a:spLocks noGrp="1"/>
          </p:cNvSpPr>
          <p:nvPr/>
        </p:nvSpPr>
        <p:spPr>
          <a:xfrm>
            <a:off x="1000125" y="61531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협업 구성</a:t>
            </a:r>
          </a:p>
        </p:txBody>
      </p:sp>
      <p:sp>
        <p:nvSpPr>
          <p:cNvPr id="9904" name="Team value">
            <a:extLst>
              <a:ext uri="{FF2B5EF4-FFF2-40B4-BE49-F238E27FC236}">
                <a16:creationId xmlns:a16="http://schemas.microsoft.com/office/drawing/2014/main" id="{E4306B0F-2A92-4A38-BB42-84A6A584CDD0}"/>
              </a:ext>
            </a:extLst>
          </p:cNvPr>
          <p:cNvSpPr>
            <a:spLocks noGrp="1"/>
          </p:cNvSpPr>
          <p:nvPr/>
        </p:nvSpPr>
        <p:spPr>
          <a:xfrm>
            <a:off x="1905000" y="61531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rPr>
              <a:t>디자인 1명, 개발 5명, 분석 1명, 사업개발 3명</a:t>
            </a:r>
          </a:p>
        </p:txBody>
      </p:sp>
    </p:spTree>
    <p:extLst>
      <p:ext uri="{BB962C8B-B14F-4D97-AF65-F5344CB8AC3E}">
        <p14:creationId xmlns:p14="http://schemas.microsoft.com/office/powerpoint/2010/main" val="281407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27">
            <a:extLst>
              <a:ext uri="{FF2B5EF4-FFF2-40B4-BE49-F238E27FC236}">
                <a16:creationId xmlns:a16="http://schemas.microsoft.com/office/drawing/2014/main" id="{B5392755-5865-F9B0-8A6B-497FC1FEFB7F}"/>
              </a:ext>
            </a:extLst>
          </p:cNvPr>
          <p:cNvSpPr>
            <a:spLocks noGrp="1"/>
          </p:cNvSpPr>
          <p:nvPr/>
        </p:nvSpPr>
        <p:spPr>
          <a:xfrm>
            <a:off x="0" y="824999"/>
            <a:ext cx="1041400" cy="4012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직사각형 24">
            <a:extLst>
              <a:ext uri="{FF2B5EF4-FFF2-40B4-BE49-F238E27FC236}">
                <a16:creationId xmlns:a16="http://schemas.microsoft.com/office/drawing/2014/main" id="{9300C823-004B-CBFA-D2AC-54CAF748651A}"/>
              </a:ext>
            </a:extLst>
          </p:cNvPr>
          <p:cNvSpPr>
            <a:spLocks noGrp="1"/>
          </p:cNvSpPr>
          <p:nvPr/>
        </p:nvSpPr>
        <p:spPr>
          <a:xfrm>
            <a:off x="0" y="56308"/>
            <a:ext cx="12192000" cy="595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직사각형 50">
            <a:extLst>
              <a:ext uri="{FF2B5EF4-FFF2-40B4-BE49-F238E27FC236}">
                <a16:creationId xmlns:a16="http://schemas.microsoft.com/office/drawing/2014/main" id="{3A7B5860-8D32-C866-0A67-DA9795350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선 연결선 15">
            <a:extLst>
              <a:ext uri="{FF2B5EF4-FFF2-40B4-BE49-F238E27FC236}">
                <a16:creationId xmlns:a16="http://schemas.microsoft.com/office/drawing/2014/main" id="{95C1A325-505D-4B67-8F4F-385E5E9505B2}"/>
              </a:ext>
            </a:extLst>
          </p:cNvPr>
          <p:cNvSpPr>
            <a:spLocks noGrp="1"/>
          </p:cNvSpPr>
          <p:nvPr/>
        </p:nvSpPr>
        <p:spPr>
          <a:xfrm>
            <a:off x="0" y="1229505"/>
            <a:ext cx="4204447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6" name="직사각형 16">
            <a:extLst>
              <a:ext uri="{FF2B5EF4-FFF2-40B4-BE49-F238E27FC236}">
                <a16:creationId xmlns:a16="http://schemas.microsoft.com/office/drawing/2014/main" id="{BB03FEB3-BCA6-E72B-25F6-6F59200B89FF}"/>
              </a:ext>
            </a:extLst>
          </p:cNvPr>
          <p:cNvSpPr>
            <a:spLocks noGrp="1"/>
          </p:cNvSpPr>
          <p:nvPr/>
        </p:nvSpPr>
        <p:spPr>
          <a:xfrm>
            <a:off x="762759" y="1601182"/>
            <a:ext cx="4931893" cy="4891685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grpSp>
        <p:nvGrpSpPr>
          <p:cNvPr id="7" name="Original evidence"/>
          <p:cNvGrpSpPr/>
          <p:nvPr/>
        </p:nvGrpSpPr>
        <p:grpSpPr>
          <a:xfrm>
            <a:off x="6411364" y="2047875"/>
            <a:ext cx="4969972" cy="4238625"/>
            <a:chOff x="5952722" y="1486165"/>
            <a:chExt cx="5246125" cy="4474141"/>
          </a:xfrm>
        </p:grpSpPr>
        <p:pic>
          <p:nvPicPr>
            <p:cNvPr id="8" name="그림 22">
              <a:extLst>
                <a:ext uri="{FF2B5EF4-FFF2-40B4-BE49-F238E27FC236}">
                  <a16:creationId xmlns:a16="http://schemas.microsoft.com/office/drawing/2014/main" id="{7DF2AE42-7555-B5B8-BED1-E9C2606D86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52722" y="1486165"/>
              <a:ext cx="4767943" cy="2284355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pic>
          <p:nvPicPr>
            <p:cNvPr id="9" name="그림 3">
              <a:extLst>
                <a:ext uri="{FF2B5EF4-FFF2-40B4-BE49-F238E27FC236}">
                  <a16:creationId xmlns:a16="http://schemas.microsoft.com/office/drawing/2014/main" id="{7D57423A-9920-3093-D1E3-FD1D1C8816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883919" y="2290703"/>
              <a:ext cx="4314928" cy="3669603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</p:grpSp>
      <p:sp>
        <p:nvSpPr>
          <p:cNvPr id="10" name="I:header">
            <a:extLst>
              <a:ext uri="{FF2B5EF4-FFF2-40B4-BE49-F238E27FC236}">
                <a16:creationId xmlns:a16="http://schemas.microsoft.com/office/drawing/2014/main" id="{2BF6F635-30B3-4AAE-976D-5436239D65D6}"/>
              </a:ext>
            </a:extLst>
          </p:cNvPr>
          <p:cNvSpPr>
            <a:spLocks noGrp="1"/>
          </p:cNvSpPr>
          <p:nvPr/>
        </p:nvSpPr>
        <p:spPr>
          <a:xfrm>
            <a:off x="190500" y="2000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토스 / 대출 Product Owner</a:t>
            </a:r>
          </a:p>
        </p:txBody>
      </p:sp>
      <p:sp>
        <p:nvSpPr>
          <p:cNvPr id="11" name="I:category">
            <a:extLst>
              <a:ext uri="{FF2B5EF4-FFF2-40B4-BE49-F238E27FC236}">
                <a16:creationId xmlns:a16="http://schemas.microsoft.com/office/drawing/2014/main" id="{BB0F3563-57C6-4EFE-B2A3-D234CD3C3CF6}"/>
              </a:ext>
            </a:extLst>
          </p:cNvPr>
          <p:cNvSpPr>
            <a:spLocks noGrp="1"/>
          </p:cNvSpPr>
          <p:nvPr/>
        </p:nvSpPr>
        <p:spPr>
          <a:xfrm>
            <a:off x="0" y="923925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12" name="I:project">
            <a:extLst>
              <a:ext uri="{FF2B5EF4-FFF2-40B4-BE49-F238E27FC236}">
                <a16:creationId xmlns:a16="http://schemas.microsoft.com/office/drawing/2014/main" id="{50BE03A9-488F-4F75-984B-EA98343926B3}"/>
              </a:ext>
            </a:extLst>
          </p:cNvPr>
          <p:cNvSpPr>
            <a:spLocks noGrp="1"/>
          </p:cNvSpPr>
          <p:nvPr/>
        </p:nvSpPr>
        <p:spPr>
          <a:xfrm>
            <a:off x="1171575" y="9144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금융사 제휴 연동 및 대출 실행 전환 개선</a:t>
            </a:r>
          </a:p>
        </p:txBody>
      </p:sp>
      <p:sp>
        <p:nvSpPr>
          <p:cNvPr id="13" name="I:page">
            <a:extLst>
              <a:ext uri="{FF2B5EF4-FFF2-40B4-BE49-F238E27FC236}">
                <a16:creationId xmlns:a16="http://schemas.microsoft.com/office/drawing/2014/main" id="{FF0E52C3-E6B3-4B63-8A7B-5503D0809E15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15</a:t>
            </a:r>
          </a:p>
        </p:txBody>
      </p:sp>
      <p:sp>
        <p:nvSpPr>
          <p:cNvPr id="14" name="I:section 0">
            <a:extLst>
              <a:ext uri="{FF2B5EF4-FFF2-40B4-BE49-F238E27FC236}">
                <a16:creationId xmlns:a16="http://schemas.microsoft.com/office/drawing/2014/main" id="{59E7075E-B18D-49FC-9D06-4D5104EDC10F}"/>
              </a:ext>
            </a:extLst>
          </p:cNvPr>
          <p:cNvSpPr>
            <a:spLocks noGrp="1"/>
          </p:cNvSpPr>
          <p:nvPr/>
        </p:nvSpPr>
        <p:spPr>
          <a:xfrm>
            <a:off x="1000125" y="179070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문제 의식 및 목표</a:t>
            </a:r>
          </a:p>
        </p:txBody>
      </p:sp>
      <p:sp>
        <p:nvSpPr>
          <p:cNvPr id="15" name="I:body 0">
            <a:extLst>
              <a:ext uri="{FF2B5EF4-FFF2-40B4-BE49-F238E27FC236}">
                <a16:creationId xmlns:a16="http://schemas.microsoft.com/office/drawing/2014/main" id="{68EF0D97-E5A6-40BC-A26F-7662F7EB66CE}"/>
              </a:ext>
            </a:extLst>
          </p:cNvPr>
          <p:cNvSpPr>
            <a:spLocks noGrp="1"/>
          </p:cNvSpPr>
          <p:nvPr/>
        </p:nvSpPr>
        <p:spPr>
          <a:xfrm>
            <a:off x="1000125" y="2105025"/>
            <a:ext cx="44577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다양한 금융사 상품 연동을 통한 사용자 선택지 확대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금융사별 정책·연동 차이에 따른 실행 장벽 확인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대출 신청 이후 실행 과정의 불편 개선</a:t>
            </a:r>
          </a:p>
        </p:txBody>
      </p:sp>
      <p:sp>
        <p:nvSpPr>
          <p:cNvPr id="16" name="I:section 1">
            <a:extLst>
              <a:ext uri="{FF2B5EF4-FFF2-40B4-BE49-F238E27FC236}">
                <a16:creationId xmlns:a16="http://schemas.microsoft.com/office/drawing/2014/main" id="{08CC4588-8B1F-4179-B031-8738D55E3DE4}"/>
              </a:ext>
            </a:extLst>
          </p:cNvPr>
          <p:cNvSpPr>
            <a:spLocks noGrp="1"/>
          </p:cNvSpPr>
          <p:nvPr/>
        </p:nvSpPr>
        <p:spPr>
          <a:xfrm>
            <a:off x="1000125" y="286702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주요 업무</a:t>
            </a:r>
          </a:p>
        </p:txBody>
      </p:sp>
      <p:sp>
        <p:nvSpPr>
          <p:cNvPr id="17" name="I:body 1">
            <a:extLst>
              <a:ext uri="{FF2B5EF4-FFF2-40B4-BE49-F238E27FC236}">
                <a16:creationId xmlns:a16="http://schemas.microsoft.com/office/drawing/2014/main" id="{345F5D9B-A602-401A-A78B-F38A1F00FAF9}"/>
              </a:ext>
            </a:extLst>
          </p:cNvPr>
          <p:cNvSpPr>
            <a:spLocks noGrp="1"/>
          </p:cNvSpPr>
          <p:nvPr/>
        </p:nvSpPr>
        <p:spPr>
          <a:xfrm>
            <a:off x="1000125" y="3181350"/>
            <a:ext cx="4457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금융사 연동을 위한 표준 API 설계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제휴사의 운영·개발 담당자와 정책 및 이슈 협의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제품 QA와 실제 환경 테스트 진행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제휴사별 연동 일정·개발 리소스 조율</a:t>
            </a:r>
          </a:p>
        </p:txBody>
      </p:sp>
      <p:sp>
        <p:nvSpPr>
          <p:cNvPr id="18" name="I:section 2">
            <a:extLst>
              <a:ext uri="{FF2B5EF4-FFF2-40B4-BE49-F238E27FC236}">
                <a16:creationId xmlns:a16="http://schemas.microsoft.com/office/drawing/2014/main" id="{82E35544-1288-4799-BCE3-315A57672D6F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결과/성과</a:t>
            </a:r>
          </a:p>
        </p:txBody>
      </p:sp>
      <p:sp>
        <p:nvSpPr>
          <p:cNvPr id="19" name="I:body 2">
            <a:extLst>
              <a:ext uri="{FF2B5EF4-FFF2-40B4-BE49-F238E27FC236}">
                <a16:creationId xmlns:a16="http://schemas.microsoft.com/office/drawing/2014/main" id="{A296C5F6-7D65-4474-BB15-47CCBC7C5FB6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44577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약 </a:t>
            </a:r>
            <a:r>
              <a:rPr sz="132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22개</a:t>
            </a: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 금융사 연동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대출 신청 대비 실행률 </a:t>
            </a:r>
            <a:r>
              <a:rPr sz="132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6배</a:t>
            </a: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 개선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제휴 상품과 대출 선택지 확대</a:t>
            </a:r>
          </a:p>
        </p:txBody>
      </p:sp>
      <p:sp>
        <p:nvSpPr>
          <p:cNvPr id="20" name="I:section 3">
            <a:extLst>
              <a:ext uri="{FF2B5EF4-FFF2-40B4-BE49-F238E27FC236}">
                <a16:creationId xmlns:a16="http://schemas.microsoft.com/office/drawing/2014/main" id="{915B2333-99DD-4727-A7E5-64A05DC4AF10}"/>
              </a:ext>
            </a:extLst>
          </p:cNvPr>
          <p:cNvSpPr>
            <a:spLocks noGrp="1"/>
          </p:cNvSpPr>
          <p:nvPr/>
        </p:nvSpPr>
        <p:spPr>
          <a:xfrm>
            <a:off x="1000125" y="5600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담당 역할</a:t>
            </a:r>
          </a:p>
        </p:txBody>
      </p:sp>
      <p:sp>
        <p:nvSpPr>
          <p:cNvPr id="21" name="I:body 3">
            <a:extLst>
              <a:ext uri="{FF2B5EF4-FFF2-40B4-BE49-F238E27FC236}">
                <a16:creationId xmlns:a16="http://schemas.microsoft.com/office/drawing/2014/main" id="{074B4394-9316-477B-8A84-0263D41B6E61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3600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제품 총괄·실험·서비스 기획</a:t>
            </a:r>
          </a:p>
        </p:txBody>
      </p:sp>
      <p:sp>
        <p:nvSpPr>
          <p:cNvPr id="22" name="I:evidence caption">
            <a:extLst>
              <a:ext uri="{FF2B5EF4-FFF2-40B4-BE49-F238E27FC236}">
                <a16:creationId xmlns:a16="http://schemas.microsoft.com/office/drawing/2014/main" id="{44FCA5DD-30D2-4516-97BB-F208F3078E0C}"/>
              </a:ext>
            </a:extLst>
          </p:cNvPr>
          <p:cNvSpPr>
            <a:spLocks noGrp="1"/>
          </p:cNvSpPr>
          <p:nvPr/>
        </p:nvSpPr>
        <p:spPr>
          <a:xfrm>
            <a:off x="6096000" y="1676400"/>
            <a:ext cx="5600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제휴사 협의 및 API 설계 자료</a:t>
            </a:r>
          </a:p>
        </p:txBody>
      </p:sp>
      <p:sp>
        <p:nvSpPr>
          <p:cNvPr id="23" name="I:disclosure">
            <a:extLst>
              <a:ext uri="{FF2B5EF4-FFF2-40B4-BE49-F238E27FC236}">
                <a16:creationId xmlns:a16="http://schemas.microsoft.com/office/drawing/2014/main" id="{229AB6CE-621F-40F4-8BB8-4B0CEA861458}"/>
              </a:ext>
            </a:extLst>
          </p:cNvPr>
          <p:cNvSpPr>
            <a:spLocks noGrp="1"/>
          </p:cNvSpPr>
          <p:nvPr/>
        </p:nvSpPr>
        <p:spPr>
          <a:xfrm>
            <a:off x="6096000" y="6410325"/>
            <a:ext cx="5486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공개 가능한 범위의 내부 자료 발췌 · 일부 데이터 비식별화</a:t>
            </a:r>
          </a:p>
        </p:txBody>
      </p:sp>
      <p:sp>
        <p:nvSpPr>
          <p:cNvPr id="9901" name="Role contribution label">
            <a:extLst>
              <a:ext uri="{FF2B5EF4-FFF2-40B4-BE49-F238E27FC236}">
                <a16:creationId xmlns:a16="http://schemas.microsoft.com/office/drawing/2014/main" id="{04316C31-78D4-4F36-8595-A4ADBFC91568}"/>
              </a:ext>
            </a:extLst>
          </p:cNvPr>
          <p:cNvSpPr>
            <a:spLocks noGrp="1"/>
          </p:cNvSpPr>
          <p:nvPr/>
        </p:nvSpPr>
        <p:spPr>
          <a:xfrm>
            <a:off x="1000125" y="58769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기획 기여도</a:t>
            </a:r>
          </a:p>
        </p:txBody>
      </p:sp>
      <p:sp>
        <p:nvSpPr>
          <p:cNvPr id="9902" name="Role contribution value">
            <a:extLst>
              <a:ext uri="{FF2B5EF4-FFF2-40B4-BE49-F238E27FC236}">
                <a16:creationId xmlns:a16="http://schemas.microsoft.com/office/drawing/2014/main" id="{196BED31-8EF4-4950-9F99-008828129D8F}"/>
              </a:ext>
            </a:extLst>
          </p:cNvPr>
          <p:cNvSpPr>
            <a:spLocks noGrp="1"/>
          </p:cNvSpPr>
          <p:nvPr/>
        </p:nvSpPr>
        <p:spPr>
          <a:xfrm>
            <a:off x="1905000" y="5876925"/>
            <a:ext cx="3600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100%</a:t>
            </a:r>
          </a:p>
        </p:txBody>
      </p:sp>
      <p:sp>
        <p:nvSpPr>
          <p:cNvPr id="9903" name="Team label">
            <a:extLst>
              <a:ext uri="{FF2B5EF4-FFF2-40B4-BE49-F238E27FC236}">
                <a16:creationId xmlns:a16="http://schemas.microsoft.com/office/drawing/2014/main" id="{2DD4817C-6228-4528-B45D-5E63B83C470B}"/>
              </a:ext>
            </a:extLst>
          </p:cNvPr>
          <p:cNvSpPr>
            <a:spLocks noGrp="1"/>
          </p:cNvSpPr>
          <p:nvPr/>
        </p:nvSpPr>
        <p:spPr>
          <a:xfrm>
            <a:off x="1000125" y="61531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협업 구성</a:t>
            </a:r>
          </a:p>
        </p:txBody>
      </p:sp>
      <p:sp>
        <p:nvSpPr>
          <p:cNvPr id="9904" name="Team value">
            <a:extLst>
              <a:ext uri="{FF2B5EF4-FFF2-40B4-BE49-F238E27FC236}">
                <a16:creationId xmlns:a16="http://schemas.microsoft.com/office/drawing/2014/main" id="{6A6941B4-F591-4153-91D0-CF2FD9223E1E}"/>
              </a:ext>
            </a:extLst>
          </p:cNvPr>
          <p:cNvSpPr>
            <a:spLocks noGrp="1"/>
          </p:cNvSpPr>
          <p:nvPr/>
        </p:nvSpPr>
        <p:spPr>
          <a:xfrm>
            <a:off x="1905000" y="61531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rPr>
              <a:t>디자인 1명, 개발 5명, 분석 1명, 사업개발 3명</a:t>
            </a:r>
          </a:p>
        </p:txBody>
      </p:sp>
    </p:spTree>
    <p:extLst>
      <p:ext uri="{BB962C8B-B14F-4D97-AF65-F5344CB8AC3E}">
        <p14:creationId xmlns:p14="http://schemas.microsoft.com/office/powerpoint/2010/main" val="669434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27">
            <a:extLst>
              <a:ext uri="{FF2B5EF4-FFF2-40B4-BE49-F238E27FC236}">
                <a16:creationId xmlns:a16="http://schemas.microsoft.com/office/drawing/2014/main" id="{B5392755-5865-F9B0-8A6B-497FC1FEFB7F}"/>
              </a:ext>
            </a:extLst>
          </p:cNvPr>
          <p:cNvSpPr>
            <a:spLocks noGrp="1"/>
          </p:cNvSpPr>
          <p:nvPr/>
        </p:nvSpPr>
        <p:spPr>
          <a:xfrm>
            <a:off x="0" y="824999"/>
            <a:ext cx="1041400" cy="4012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직사각형 24">
            <a:extLst>
              <a:ext uri="{FF2B5EF4-FFF2-40B4-BE49-F238E27FC236}">
                <a16:creationId xmlns:a16="http://schemas.microsoft.com/office/drawing/2014/main" id="{9300C823-004B-CBFA-D2AC-54CAF748651A}"/>
              </a:ext>
            </a:extLst>
          </p:cNvPr>
          <p:cNvSpPr>
            <a:spLocks noGrp="1"/>
          </p:cNvSpPr>
          <p:nvPr/>
        </p:nvSpPr>
        <p:spPr>
          <a:xfrm>
            <a:off x="0" y="56308"/>
            <a:ext cx="12192000" cy="595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직사각형 50">
            <a:extLst>
              <a:ext uri="{FF2B5EF4-FFF2-40B4-BE49-F238E27FC236}">
                <a16:creationId xmlns:a16="http://schemas.microsoft.com/office/drawing/2014/main" id="{3A7B5860-8D32-C866-0A67-DA9795350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선 연결선 15">
            <a:extLst>
              <a:ext uri="{FF2B5EF4-FFF2-40B4-BE49-F238E27FC236}">
                <a16:creationId xmlns:a16="http://schemas.microsoft.com/office/drawing/2014/main" id="{95C1A325-505D-4B67-8F4F-385E5E9505B2}"/>
              </a:ext>
            </a:extLst>
          </p:cNvPr>
          <p:cNvSpPr>
            <a:spLocks noGrp="1"/>
          </p:cNvSpPr>
          <p:nvPr/>
        </p:nvSpPr>
        <p:spPr>
          <a:xfrm>
            <a:off x="0" y="1229505"/>
            <a:ext cx="4204447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6" name="직사각형 16">
            <a:extLst>
              <a:ext uri="{FF2B5EF4-FFF2-40B4-BE49-F238E27FC236}">
                <a16:creationId xmlns:a16="http://schemas.microsoft.com/office/drawing/2014/main" id="{BB03FEB3-BCA6-E72B-25F6-6F59200B89FF}"/>
              </a:ext>
            </a:extLst>
          </p:cNvPr>
          <p:cNvSpPr>
            <a:spLocks noGrp="1"/>
          </p:cNvSpPr>
          <p:nvPr/>
        </p:nvSpPr>
        <p:spPr>
          <a:xfrm>
            <a:off x="762759" y="1601182"/>
            <a:ext cx="4931893" cy="4891685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grpSp>
        <p:nvGrpSpPr>
          <p:cNvPr id="7" name="Original evidence"/>
          <p:cNvGrpSpPr/>
          <p:nvPr/>
        </p:nvGrpSpPr>
        <p:grpSpPr>
          <a:xfrm>
            <a:off x="6393104" y="2047875"/>
            <a:ext cx="5006491" cy="4238625"/>
            <a:chOff x="6001597" y="1616168"/>
            <a:chExt cx="5541990" cy="4691992"/>
          </a:xfrm>
        </p:grpSpPr>
        <p:pic>
          <p:nvPicPr>
            <p:cNvPr id="8" name="그림 3">
              <a:extLst>
                <a:ext uri="{FF2B5EF4-FFF2-40B4-BE49-F238E27FC236}">
                  <a16:creationId xmlns:a16="http://schemas.microsoft.com/office/drawing/2014/main" id="{1853EFEE-6344-284F-68B8-CE111B1FD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01597" y="1616168"/>
              <a:ext cx="3720600" cy="3682806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pic>
          <p:nvPicPr>
            <p:cNvPr id="9" name="그림 4">
              <a:extLst>
                <a:ext uri="{FF2B5EF4-FFF2-40B4-BE49-F238E27FC236}">
                  <a16:creationId xmlns:a16="http://schemas.microsoft.com/office/drawing/2014/main" id="{F6F3278A-190D-27D0-6205-8892741150F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39700"/>
            <a:stretch/>
          </p:blipFill>
          <p:spPr>
            <a:xfrm>
              <a:off x="8259548" y="3944944"/>
              <a:ext cx="3284039" cy="2363216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</p:grpSp>
      <p:sp>
        <p:nvSpPr>
          <p:cNvPr id="10" name="I:header">
            <a:extLst>
              <a:ext uri="{FF2B5EF4-FFF2-40B4-BE49-F238E27FC236}">
                <a16:creationId xmlns:a16="http://schemas.microsoft.com/office/drawing/2014/main" id="{25F45A48-0BEC-4BEA-9AE7-E0F067828BE8}"/>
              </a:ext>
            </a:extLst>
          </p:cNvPr>
          <p:cNvSpPr>
            <a:spLocks noGrp="1"/>
          </p:cNvSpPr>
          <p:nvPr/>
        </p:nvSpPr>
        <p:spPr>
          <a:xfrm>
            <a:off x="190500" y="2000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토스 / 대출 Product Owner</a:t>
            </a:r>
          </a:p>
        </p:txBody>
      </p:sp>
      <p:sp>
        <p:nvSpPr>
          <p:cNvPr id="11" name="I:category">
            <a:extLst>
              <a:ext uri="{FF2B5EF4-FFF2-40B4-BE49-F238E27FC236}">
                <a16:creationId xmlns:a16="http://schemas.microsoft.com/office/drawing/2014/main" id="{AB4260B9-2602-4282-8B60-8558C80F1BC6}"/>
              </a:ext>
            </a:extLst>
          </p:cNvPr>
          <p:cNvSpPr>
            <a:spLocks noGrp="1"/>
          </p:cNvSpPr>
          <p:nvPr/>
        </p:nvSpPr>
        <p:spPr>
          <a:xfrm>
            <a:off x="0" y="923925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12" name="I:project">
            <a:extLst>
              <a:ext uri="{FF2B5EF4-FFF2-40B4-BE49-F238E27FC236}">
                <a16:creationId xmlns:a16="http://schemas.microsoft.com/office/drawing/2014/main" id="{6816AF2A-941C-46C4-BAD5-B7A1857F06CF}"/>
              </a:ext>
            </a:extLst>
          </p:cNvPr>
          <p:cNvSpPr>
            <a:spLocks noGrp="1"/>
          </p:cNvSpPr>
          <p:nvPr/>
        </p:nvSpPr>
        <p:spPr>
          <a:xfrm>
            <a:off x="1171575" y="9144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개발 우선순위·일정·리소스 관리</a:t>
            </a:r>
          </a:p>
        </p:txBody>
      </p:sp>
      <p:sp>
        <p:nvSpPr>
          <p:cNvPr id="13" name="I:page">
            <a:extLst>
              <a:ext uri="{FF2B5EF4-FFF2-40B4-BE49-F238E27FC236}">
                <a16:creationId xmlns:a16="http://schemas.microsoft.com/office/drawing/2014/main" id="{54329578-FF46-43BE-92E6-FA08E70699BB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16</a:t>
            </a:r>
          </a:p>
        </p:txBody>
      </p:sp>
      <p:sp>
        <p:nvSpPr>
          <p:cNvPr id="14" name="I:section 0">
            <a:extLst>
              <a:ext uri="{FF2B5EF4-FFF2-40B4-BE49-F238E27FC236}">
                <a16:creationId xmlns:a16="http://schemas.microsoft.com/office/drawing/2014/main" id="{5EAC6756-F5BF-495C-9E16-E59BA0E29925}"/>
              </a:ext>
            </a:extLst>
          </p:cNvPr>
          <p:cNvSpPr>
            <a:spLocks noGrp="1"/>
          </p:cNvSpPr>
          <p:nvPr/>
        </p:nvSpPr>
        <p:spPr>
          <a:xfrm>
            <a:off x="1000125" y="179070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문제 의식 및 목표</a:t>
            </a:r>
          </a:p>
        </p:txBody>
      </p:sp>
      <p:sp>
        <p:nvSpPr>
          <p:cNvPr id="15" name="I:body 0">
            <a:extLst>
              <a:ext uri="{FF2B5EF4-FFF2-40B4-BE49-F238E27FC236}">
                <a16:creationId xmlns:a16="http://schemas.microsoft.com/office/drawing/2014/main" id="{4C6FDA2F-740D-4B95-A149-65C72603E988}"/>
              </a:ext>
            </a:extLst>
          </p:cNvPr>
          <p:cNvSpPr>
            <a:spLocks noGrp="1"/>
          </p:cNvSpPr>
          <p:nvPr/>
        </p:nvSpPr>
        <p:spPr>
          <a:xfrm>
            <a:off x="1000125" y="2105025"/>
            <a:ext cx="44577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여러 제품 과제의 병행에 따른 우선순위 조율 필요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과제별 의존성과 담당 리소스의 명확화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계획한 일정 내 과제 완료를 위한 실행 관리</a:t>
            </a:r>
          </a:p>
        </p:txBody>
      </p:sp>
      <p:sp>
        <p:nvSpPr>
          <p:cNvPr id="16" name="I:section 1">
            <a:extLst>
              <a:ext uri="{FF2B5EF4-FFF2-40B4-BE49-F238E27FC236}">
                <a16:creationId xmlns:a16="http://schemas.microsoft.com/office/drawing/2014/main" id="{9E310FD8-CC7D-4E0A-83D5-B07BF92F6BCF}"/>
              </a:ext>
            </a:extLst>
          </p:cNvPr>
          <p:cNvSpPr>
            <a:spLocks noGrp="1"/>
          </p:cNvSpPr>
          <p:nvPr/>
        </p:nvSpPr>
        <p:spPr>
          <a:xfrm>
            <a:off x="1000125" y="286702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주요 업무</a:t>
            </a:r>
          </a:p>
        </p:txBody>
      </p:sp>
      <p:sp>
        <p:nvSpPr>
          <p:cNvPr id="17" name="I:body 1">
            <a:extLst>
              <a:ext uri="{FF2B5EF4-FFF2-40B4-BE49-F238E27FC236}">
                <a16:creationId xmlns:a16="http://schemas.microsoft.com/office/drawing/2014/main" id="{3A3043B1-00E3-4D05-9710-3093E789A567}"/>
              </a:ext>
            </a:extLst>
          </p:cNvPr>
          <p:cNvSpPr>
            <a:spLocks noGrp="1"/>
          </p:cNvSpPr>
          <p:nvPr/>
        </p:nvSpPr>
        <p:spPr>
          <a:xfrm>
            <a:off x="1000125" y="3181350"/>
            <a:ext cx="4457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요구사항을 정리하고 과제별 우선순위 설정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일정 계획과 담당 리소스 배정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주간·일일 스크럼으로 진행 상황과 이슈 점검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일정 변경과 병렬 작업 범위를 팀에 공유</a:t>
            </a:r>
          </a:p>
        </p:txBody>
      </p:sp>
      <p:sp>
        <p:nvSpPr>
          <p:cNvPr id="18" name="I:section 2">
            <a:extLst>
              <a:ext uri="{FF2B5EF4-FFF2-40B4-BE49-F238E27FC236}">
                <a16:creationId xmlns:a16="http://schemas.microsoft.com/office/drawing/2014/main" id="{7F435749-1D89-4F06-BD8A-6D6A571A60D1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결과/성과</a:t>
            </a:r>
          </a:p>
        </p:txBody>
      </p:sp>
      <p:sp>
        <p:nvSpPr>
          <p:cNvPr id="19" name="I:body 2">
            <a:extLst>
              <a:ext uri="{FF2B5EF4-FFF2-40B4-BE49-F238E27FC236}">
                <a16:creationId xmlns:a16="http://schemas.microsoft.com/office/drawing/2014/main" id="{39AE3530-42AE-404F-8BEE-B91223B3B7FD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44577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팀이 우선순위와 병렬 수행 범위를 공유하도록 정리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과제별 진행 상황과 지연 요인을 확인하는 체계 운영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계획한 일정 내 프로젝트 완료율 개선</a:t>
            </a:r>
          </a:p>
        </p:txBody>
      </p:sp>
      <p:sp>
        <p:nvSpPr>
          <p:cNvPr id="20" name="I:section 3">
            <a:extLst>
              <a:ext uri="{FF2B5EF4-FFF2-40B4-BE49-F238E27FC236}">
                <a16:creationId xmlns:a16="http://schemas.microsoft.com/office/drawing/2014/main" id="{F7CD72CB-9854-4ADE-80A1-4D1BEAD9D8FF}"/>
              </a:ext>
            </a:extLst>
          </p:cNvPr>
          <p:cNvSpPr>
            <a:spLocks noGrp="1"/>
          </p:cNvSpPr>
          <p:nvPr/>
        </p:nvSpPr>
        <p:spPr>
          <a:xfrm>
            <a:off x="1000125" y="5600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담당 역할</a:t>
            </a:r>
          </a:p>
        </p:txBody>
      </p:sp>
      <p:sp>
        <p:nvSpPr>
          <p:cNvPr id="21" name="I:body 3">
            <a:extLst>
              <a:ext uri="{FF2B5EF4-FFF2-40B4-BE49-F238E27FC236}">
                <a16:creationId xmlns:a16="http://schemas.microsoft.com/office/drawing/2014/main" id="{9B96AF32-11D6-460D-94E5-A7B6091E4BCF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3600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제품 총괄·프로젝트 진행 관리</a:t>
            </a:r>
          </a:p>
        </p:txBody>
      </p:sp>
      <p:sp>
        <p:nvSpPr>
          <p:cNvPr id="22" name="I:evidence caption">
            <a:extLst>
              <a:ext uri="{FF2B5EF4-FFF2-40B4-BE49-F238E27FC236}">
                <a16:creationId xmlns:a16="http://schemas.microsoft.com/office/drawing/2014/main" id="{FB38AE62-3786-463F-BF4F-A1B6BAD8C461}"/>
              </a:ext>
            </a:extLst>
          </p:cNvPr>
          <p:cNvSpPr>
            <a:spLocks noGrp="1"/>
          </p:cNvSpPr>
          <p:nvPr/>
        </p:nvSpPr>
        <p:spPr>
          <a:xfrm>
            <a:off x="6096000" y="1676400"/>
            <a:ext cx="5600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우선순위·리소스 배정과 프로젝트 진행 현황</a:t>
            </a:r>
          </a:p>
        </p:txBody>
      </p:sp>
      <p:sp>
        <p:nvSpPr>
          <p:cNvPr id="23" name="I:disclosure">
            <a:extLst>
              <a:ext uri="{FF2B5EF4-FFF2-40B4-BE49-F238E27FC236}">
                <a16:creationId xmlns:a16="http://schemas.microsoft.com/office/drawing/2014/main" id="{99D7B92B-525A-4E10-B342-E8B80CE4CB82}"/>
              </a:ext>
            </a:extLst>
          </p:cNvPr>
          <p:cNvSpPr>
            <a:spLocks noGrp="1"/>
          </p:cNvSpPr>
          <p:nvPr/>
        </p:nvSpPr>
        <p:spPr>
          <a:xfrm>
            <a:off x="6096000" y="6410325"/>
            <a:ext cx="5486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공개 가능한 범위의 내부 자료 발췌 · 일부 데이터 비식별화</a:t>
            </a:r>
          </a:p>
        </p:txBody>
      </p:sp>
      <p:sp>
        <p:nvSpPr>
          <p:cNvPr id="9901" name="Role contribution label">
            <a:extLst>
              <a:ext uri="{FF2B5EF4-FFF2-40B4-BE49-F238E27FC236}">
                <a16:creationId xmlns:a16="http://schemas.microsoft.com/office/drawing/2014/main" id="{7B1AB963-2FEF-4F0E-B688-87AD9FEA70D1}"/>
              </a:ext>
            </a:extLst>
          </p:cNvPr>
          <p:cNvSpPr>
            <a:spLocks noGrp="1"/>
          </p:cNvSpPr>
          <p:nvPr/>
        </p:nvSpPr>
        <p:spPr>
          <a:xfrm>
            <a:off x="1000125" y="58769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기획 기여도</a:t>
            </a:r>
          </a:p>
        </p:txBody>
      </p:sp>
      <p:sp>
        <p:nvSpPr>
          <p:cNvPr id="9902" name="Role contribution value">
            <a:extLst>
              <a:ext uri="{FF2B5EF4-FFF2-40B4-BE49-F238E27FC236}">
                <a16:creationId xmlns:a16="http://schemas.microsoft.com/office/drawing/2014/main" id="{9709AA71-0A68-4840-AE76-39EA144F40B1}"/>
              </a:ext>
            </a:extLst>
          </p:cNvPr>
          <p:cNvSpPr>
            <a:spLocks noGrp="1"/>
          </p:cNvSpPr>
          <p:nvPr/>
        </p:nvSpPr>
        <p:spPr>
          <a:xfrm>
            <a:off x="1905000" y="5876925"/>
            <a:ext cx="3600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100%</a:t>
            </a:r>
          </a:p>
        </p:txBody>
      </p:sp>
      <p:sp>
        <p:nvSpPr>
          <p:cNvPr id="9903" name="Team label">
            <a:extLst>
              <a:ext uri="{FF2B5EF4-FFF2-40B4-BE49-F238E27FC236}">
                <a16:creationId xmlns:a16="http://schemas.microsoft.com/office/drawing/2014/main" id="{2C495F37-2D51-47ED-8E79-11C583CEA8A6}"/>
              </a:ext>
            </a:extLst>
          </p:cNvPr>
          <p:cNvSpPr>
            <a:spLocks noGrp="1"/>
          </p:cNvSpPr>
          <p:nvPr/>
        </p:nvSpPr>
        <p:spPr>
          <a:xfrm>
            <a:off x="1000125" y="61531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협업 구성</a:t>
            </a:r>
          </a:p>
        </p:txBody>
      </p:sp>
      <p:sp>
        <p:nvSpPr>
          <p:cNvPr id="9904" name="Team value">
            <a:extLst>
              <a:ext uri="{FF2B5EF4-FFF2-40B4-BE49-F238E27FC236}">
                <a16:creationId xmlns:a16="http://schemas.microsoft.com/office/drawing/2014/main" id="{E83BE211-7982-4F72-9F38-1B040626E243}"/>
              </a:ext>
            </a:extLst>
          </p:cNvPr>
          <p:cNvSpPr>
            <a:spLocks noGrp="1"/>
          </p:cNvSpPr>
          <p:nvPr/>
        </p:nvSpPr>
        <p:spPr>
          <a:xfrm>
            <a:off x="1905000" y="61531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rPr>
              <a:t>디자인·개발·분석·사업개발</a:t>
            </a:r>
          </a:p>
        </p:txBody>
      </p:sp>
    </p:spTree>
    <p:extLst>
      <p:ext uri="{BB962C8B-B14F-4D97-AF65-F5344CB8AC3E}">
        <p14:creationId xmlns:p14="http://schemas.microsoft.com/office/powerpoint/2010/main" val="1699849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27">
            <a:extLst>
              <a:ext uri="{FF2B5EF4-FFF2-40B4-BE49-F238E27FC236}">
                <a16:creationId xmlns:a16="http://schemas.microsoft.com/office/drawing/2014/main" id="{B5392755-5865-F9B0-8A6B-497FC1FEFB7F}"/>
              </a:ext>
            </a:extLst>
          </p:cNvPr>
          <p:cNvSpPr>
            <a:spLocks noGrp="1"/>
          </p:cNvSpPr>
          <p:nvPr/>
        </p:nvSpPr>
        <p:spPr>
          <a:xfrm>
            <a:off x="0" y="824999"/>
            <a:ext cx="1041400" cy="4012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직사각형 24">
            <a:extLst>
              <a:ext uri="{FF2B5EF4-FFF2-40B4-BE49-F238E27FC236}">
                <a16:creationId xmlns:a16="http://schemas.microsoft.com/office/drawing/2014/main" id="{9300C823-004B-CBFA-D2AC-54CAF748651A}"/>
              </a:ext>
            </a:extLst>
          </p:cNvPr>
          <p:cNvSpPr>
            <a:spLocks noGrp="1"/>
          </p:cNvSpPr>
          <p:nvPr/>
        </p:nvSpPr>
        <p:spPr>
          <a:xfrm>
            <a:off x="0" y="56308"/>
            <a:ext cx="12192000" cy="595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직사각형 50">
            <a:extLst>
              <a:ext uri="{FF2B5EF4-FFF2-40B4-BE49-F238E27FC236}">
                <a16:creationId xmlns:a16="http://schemas.microsoft.com/office/drawing/2014/main" id="{3A7B5860-8D32-C866-0A67-DA9795350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선 연결선 15">
            <a:extLst>
              <a:ext uri="{FF2B5EF4-FFF2-40B4-BE49-F238E27FC236}">
                <a16:creationId xmlns:a16="http://schemas.microsoft.com/office/drawing/2014/main" id="{95C1A325-505D-4B67-8F4F-385E5E9505B2}"/>
              </a:ext>
            </a:extLst>
          </p:cNvPr>
          <p:cNvSpPr>
            <a:spLocks noGrp="1"/>
          </p:cNvSpPr>
          <p:nvPr/>
        </p:nvSpPr>
        <p:spPr>
          <a:xfrm>
            <a:off x="0" y="1229505"/>
            <a:ext cx="4204447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6" name="직사각형 16">
            <a:extLst>
              <a:ext uri="{FF2B5EF4-FFF2-40B4-BE49-F238E27FC236}">
                <a16:creationId xmlns:a16="http://schemas.microsoft.com/office/drawing/2014/main" id="{BB03FEB3-BCA6-E72B-25F6-6F59200B89FF}"/>
              </a:ext>
            </a:extLst>
          </p:cNvPr>
          <p:cNvSpPr>
            <a:spLocks noGrp="1"/>
          </p:cNvSpPr>
          <p:nvPr/>
        </p:nvSpPr>
        <p:spPr>
          <a:xfrm>
            <a:off x="762759" y="1601182"/>
            <a:ext cx="4931893" cy="4891685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grpSp>
        <p:nvGrpSpPr>
          <p:cNvPr id="7" name="Original evidence"/>
          <p:cNvGrpSpPr/>
          <p:nvPr/>
        </p:nvGrpSpPr>
        <p:grpSpPr>
          <a:xfrm>
            <a:off x="6631666" y="2047875"/>
            <a:ext cx="4529368" cy="4238625"/>
            <a:chOff x="6421148" y="1662201"/>
            <a:chExt cx="4516697" cy="4226767"/>
          </a:xfrm>
        </p:grpSpPr>
        <p:pic>
          <p:nvPicPr>
            <p:cNvPr id="8" name="그림 21">
              <a:extLst>
                <a:ext uri="{FF2B5EF4-FFF2-40B4-BE49-F238E27FC236}">
                  <a16:creationId xmlns:a16="http://schemas.microsoft.com/office/drawing/2014/main" id="{CF6EA411-E449-BF88-270F-DE4507151B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21148" y="1662201"/>
              <a:ext cx="2157329" cy="4226767"/>
            </a:xfrm>
            <a:prstGeom prst="rect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</p:pic>
        <p:pic>
          <p:nvPicPr>
            <p:cNvPr id="9" name="그림 23">
              <a:extLst>
                <a:ext uri="{FF2B5EF4-FFF2-40B4-BE49-F238E27FC236}">
                  <a16:creationId xmlns:a16="http://schemas.microsoft.com/office/drawing/2014/main" id="{2CD56B95-26C0-D8C4-E651-3B0106C0A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80994" y="1662201"/>
              <a:ext cx="2256851" cy="4226767"/>
            </a:xfrm>
            <a:prstGeom prst="rect">
              <a:avLst/>
            </a:prstGeom>
            <a:ln w="3175">
              <a:solidFill>
                <a:schemeClr val="bg1">
                  <a:lumMod val="65000"/>
                </a:schemeClr>
              </a:solidFill>
            </a:ln>
          </p:spPr>
        </p:pic>
      </p:grpSp>
      <p:sp>
        <p:nvSpPr>
          <p:cNvPr id="10" name="I:header">
            <a:extLst>
              <a:ext uri="{FF2B5EF4-FFF2-40B4-BE49-F238E27FC236}">
                <a16:creationId xmlns:a16="http://schemas.microsoft.com/office/drawing/2014/main" id="{37C92AFC-ACD2-4BEA-A79F-8786BD39AEA2}"/>
              </a:ext>
            </a:extLst>
          </p:cNvPr>
          <p:cNvSpPr>
            <a:spLocks noGrp="1"/>
          </p:cNvSpPr>
          <p:nvPr/>
        </p:nvSpPr>
        <p:spPr>
          <a:xfrm>
            <a:off x="190500" y="2000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토스 / 대출 Product Owner</a:t>
            </a:r>
          </a:p>
        </p:txBody>
      </p:sp>
      <p:sp>
        <p:nvSpPr>
          <p:cNvPr id="11" name="I:category">
            <a:extLst>
              <a:ext uri="{FF2B5EF4-FFF2-40B4-BE49-F238E27FC236}">
                <a16:creationId xmlns:a16="http://schemas.microsoft.com/office/drawing/2014/main" id="{1B5C0314-9D99-402D-986A-5ADE20014BF1}"/>
              </a:ext>
            </a:extLst>
          </p:cNvPr>
          <p:cNvSpPr>
            <a:spLocks noGrp="1"/>
          </p:cNvSpPr>
          <p:nvPr/>
        </p:nvSpPr>
        <p:spPr>
          <a:xfrm>
            <a:off x="0" y="923925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12" name="I:project">
            <a:extLst>
              <a:ext uri="{FF2B5EF4-FFF2-40B4-BE49-F238E27FC236}">
                <a16:creationId xmlns:a16="http://schemas.microsoft.com/office/drawing/2014/main" id="{40902EAD-5918-48EE-B77B-605462339F86}"/>
              </a:ext>
            </a:extLst>
          </p:cNvPr>
          <p:cNvSpPr>
            <a:spLocks noGrp="1"/>
          </p:cNvSpPr>
          <p:nvPr/>
        </p:nvSpPr>
        <p:spPr>
          <a:xfrm>
            <a:off x="1171575" y="9144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주택담보대출 갈아타기 서비스 기획·출시·운영</a:t>
            </a:r>
          </a:p>
        </p:txBody>
      </p:sp>
      <p:sp>
        <p:nvSpPr>
          <p:cNvPr id="13" name="I:page">
            <a:extLst>
              <a:ext uri="{FF2B5EF4-FFF2-40B4-BE49-F238E27FC236}">
                <a16:creationId xmlns:a16="http://schemas.microsoft.com/office/drawing/2014/main" id="{F7EBEA80-B910-4D7A-893A-C201170D2AF3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17</a:t>
            </a:r>
          </a:p>
        </p:txBody>
      </p:sp>
      <p:sp>
        <p:nvSpPr>
          <p:cNvPr id="14" name="I:section 0">
            <a:extLst>
              <a:ext uri="{FF2B5EF4-FFF2-40B4-BE49-F238E27FC236}">
                <a16:creationId xmlns:a16="http://schemas.microsoft.com/office/drawing/2014/main" id="{28D68D24-F654-4078-B2DC-9B55F90724FC}"/>
              </a:ext>
            </a:extLst>
          </p:cNvPr>
          <p:cNvSpPr>
            <a:spLocks noGrp="1"/>
          </p:cNvSpPr>
          <p:nvPr/>
        </p:nvSpPr>
        <p:spPr>
          <a:xfrm>
            <a:off x="1000125" y="179070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문제 의식 및 목표</a:t>
            </a:r>
          </a:p>
        </p:txBody>
      </p:sp>
      <p:sp>
        <p:nvSpPr>
          <p:cNvPr id="15" name="I:body 0">
            <a:extLst>
              <a:ext uri="{FF2B5EF4-FFF2-40B4-BE49-F238E27FC236}">
                <a16:creationId xmlns:a16="http://schemas.microsoft.com/office/drawing/2014/main" id="{FF11DB40-DD36-4A45-B07E-BD17CD101299}"/>
              </a:ext>
            </a:extLst>
          </p:cNvPr>
          <p:cNvSpPr>
            <a:spLocks noGrp="1"/>
          </p:cNvSpPr>
          <p:nvPr/>
        </p:nvSpPr>
        <p:spPr>
          <a:xfrm>
            <a:off x="1000125" y="2105025"/>
            <a:ext cx="44577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온라인 대환대출 인프라에 대응한 서비스 기획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기존 대출 비교와 갈아타기 신청 경험 설계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정부·제휴사 정책과 사용자 요구사항의 통합</a:t>
            </a:r>
          </a:p>
        </p:txBody>
      </p:sp>
      <p:sp>
        <p:nvSpPr>
          <p:cNvPr id="16" name="I:section 1">
            <a:extLst>
              <a:ext uri="{FF2B5EF4-FFF2-40B4-BE49-F238E27FC236}">
                <a16:creationId xmlns:a16="http://schemas.microsoft.com/office/drawing/2014/main" id="{024B10D7-4AE2-4165-A08F-E693AF00AFD6}"/>
              </a:ext>
            </a:extLst>
          </p:cNvPr>
          <p:cNvSpPr>
            <a:spLocks noGrp="1"/>
          </p:cNvSpPr>
          <p:nvPr/>
        </p:nvSpPr>
        <p:spPr>
          <a:xfrm>
            <a:off x="1000125" y="286702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주요 업무</a:t>
            </a:r>
          </a:p>
        </p:txBody>
      </p:sp>
      <p:sp>
        <p:nvSpPr>
          <p:cNvPr id="17" name="I:body 1">
            <a:extLst>
              <a:ext uri="{FF2B5EF4-FFF2-40B4-BE49-F238E27FC236}">
                <a16:creationId xmlns:a16="http://schemas.microsoft.com/office/drawing/2014/main" id="{DE582062-ABB5-4385-A398-F9D25164CE6B}"/>
              </a:ext>
            </a:extLst>
          </p:cNvPr>
          <p:cNvSpPr>
            <a:spLocks noGrp="1"/>
          </p:cNvSpPr>
          <p:nvPr/>
        </p:nvSpPr>
        <p:spPr>
          <a:xfrm>
            <a:off x="1000125" y="3181350"/>
            <a:ext cx="4457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정부·제휴사 요구사항을 제품 정책에 반영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사용자 인터뷰로 갈아타기 과정의 불편 파악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서비스 흐름과 상세 기능 설계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디자인·개발·제휴사와 출시 및 운영 협업</a:t>
            </a:r>
          </a:p>
        </p:txBody>
      </p:sp>
      <p:sp>
        <p:nvSpPr>
          <p:cNvPr id="18" name="I:section 2">
            <a:extLst>
              <a:ext uri="{FF2B5EF4-FFF2-40B4-BE49-F238E27FC236}">
                <a16:creationId xmlns:a16="http://schemas.microsoft.com/office/drawing/2014/main" id="{6B248CCC-B34E-4929-A26A-96273D790F88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결과/성과</a:t>
            </a:r>
          </a:p>
        </p:txBody>
      </p:sp>
      <p:sp>
        <p:nvSpPr>
          <p:cNvPr id="19" name="I:body 2">
            <a:extLst>
              <a:ext uri="{FF2B5EF4-FFF2-40B4-BE49-F238E27FC236}">
                <a16:creationId xmlns:a16="http://schemas.microsoft.com/office/drawing/2014/main" id="{798553CC-DCB2-41E8-AFCE-18B1955647B2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44577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주택담보대출 갈아타기 서비스 출시·운영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비교부터 신청까지 이어지는 사용자 경험 구현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출시 후 실행액과 전환 지표 중심의 제품 개선</a:t>
            </a:r>
          </a:p>
        </p:txBody>
      </p:sp>
      <p:sp>
        <p:nvSpPr>
          <p:cNvPr id="20" name="I:section 3">
            <a:extLst>
              <a:ext uri="{FF2B5EF4-FFF2-40B4-BE49-F238E27FC236}">
                <a16:creationId xmlns:a16="http://schemas.microsoft.com/office/drawing/2014/main" id="{55E8091D-CC1B-4ABF-9D18-D1B07907C6A7}"/>
              </a:ext>
            </a:extLst>
          </p:cNvPr>
          <p:cNvSpPr>
            <a:spLocks noGrp="1"/>
          </p:cNvSpPr>
          <p:nvPr/>
        </p:nvSpPr>
        <p:spPr>
          <a:xfrm>
            <a:off x="1000125" y="5600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담당 역할</a:t>
            </a:r>
          </a:p>
        </p:txBody>
      </p:sp>
      <p:sp>
        <p:nvSpPr>
          <p:cNvPr id="21" name="I:body 3">
            <a:extLst>
              <a:ext uri="{FF2B5EF4-FFF2-40B4-BE49-F238E27FC236}">
                <a16:creationId xmlns:a16="http://schemas.microsoft.com/office/drawing/2014/main" id="{3F061143-B0CD-4226-9C9C-DA253DB09BB3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3600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제품 총괄·실험·서비스 기획</a:t>
            </a:r>
          </a:p>
        </p:txBody>
      </p:sp>
      <p:sp>
        <p:nvSpPr>
          <p:cNvPr id="22" name="I:evidence caption">
            <a:extLst>
              <a:ext uri="{FF2B5EF4-FFF2-40B4-BE49-F238E27FC236}">
                <a16:creationId xmlns:a16="http://schemas.microsoft.com/office/drawing/2014/main" id="{076B8DAF-EBE8-4EFC-A09E-2DE335C60F0C}"/>
              </a:ext>
            </a:extLst>
          </p:cNvPr>
          <p:cNvSpPr>
            <a:spLocks noGrp="1"/>
          </p:cNvSpPr>
          <p:nvPr/>
        </p:nvSpPr>
        <p:spPr>
          <a:xfrm>
            <a:off x="6096000" y="1676400"/>
            <a:ext cx="5600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주택담보대출 갈아타기 서비스 화면</a:t>
            </a:r>
          </a:p>
        </p:txBody>
      </p:sp>
      <p:sp>
        <p:nvSpPr>
          <p:cNvPr id="23" name="I:disclosure">
            <a:extLst>
              <a:ext uri="{FF2B5EF4-FFF2-40B4-BE49-F238E27FC236}">
                <a16:creationId xmlns:a16="http://schemas.microsoft.com/office/drawing/2014/main" id="{6358AE7D-C68F-4B23-8A59-E3088C0DE3BD}"/>
              </a:ext>
            </a:extLst>
          </p:cNvPr>
          <p:cNvSpPr>
            <a:spLocks noGrp="1"/>
          </p:cNvSpPr>
          <p:nvPr/>
        </p:nvSpPr>
        <p:spPr>
          <a:xfrm>
            <a:off x="6096000" y="6410325"/>
            <a:ext cx="5486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공개 가능한 범위의 내부 자료 발췌 · 일부 데이터 비식별화</a:t>
            </a:r>
          </a:p>
        </p:txBody>
      </p:sp>
      <p:sp>
        <p:nvSpPr>
          <p:cNvPr id="9901" name="Role contribution label">
            <a:extLst>
              <a:ext uri="{FF2B5EF4-FFF2-40B4-BE49-F238E27FC236}">
                <a16:creationId xmlns:a16="http://schemas.microsoft.com/office/drawing/2014/main" id="{31F4AD3C-F945-41DF-A347-B6C54FB68377}"/>
              </a:ext>
            </a:extLst>
          </p:cNvPr>
          <p:cNvSpPr>
            <a:spLocks noGrp="1"/>
          </p:cNvSpPr>
          <p:nvPr/>
        </p:nvSpPr>
        <p:spPr>
          <a:xfrm>
            <a:off x="1000125" y="58769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기획 기여도</a:t>
            </a:r>
          </a:p>
        </p:txBody>
      </p:sp>
      <p:sp>
        <p:nvSpPr>
          <p:cNvPr id="9902" name="Role contribution value">
            <a:extLst>
              <a:ext uri="{FF2B5EF4-FFF2-40B4-BE49-F238E27FC236}">
                <a16:creationId xmlns:a16="http://schemas.microsoft.com/office/drawing/2014/main" id="{CC8C14E7-FCB4-4FDD-9581-FF6EF8ED3FD4}"/>
              </a:ext>
            </a:extLst>
          </p:cNvPr>
          <p:cNvSpPr>
            <a:spLocks noGrp="1"/>
          </p:cNvSpPr>
          <p:nvPr/>
        </p:nvSpPr>
        <p:spPr>
          <a:xfrm>
            <a:off x="1905000" y="5876925"/>
            <a:ext cx="3600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100%</a:t>
            </a:r>
          </a:p>
        </p:txBody>
      </p:sp>
      <p:sp>
        <p:nvSpPr>
          <p:cNvPr id="9903" name="Team label">
            <a:extLst>
              <a:ext uri="{FF2B5EF4-FFF2-40B4-BE49-F238E27FC236}">
                <a16:creationId xmlns:a16="http://schemas.microsoft.com/office/drawing/2014/main" id="{DC667CC5-569C-4BE5-BA74-C32E84CBF252}"/>
              </a:ext>
            </a:extLst>
          </p:cNvPr>
          <p:cNvSpPr>
            <a:spLocks noGrp="1"/>
          </p:cNvSpPr>
          <p:nvPr/>
        </p:nvSpPr>
        <p:spPr>
          <a:xfrm>
            <a:off x="1000125" y="61531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협업 구성</a:t>
            </a:r>
          </a:p>
        </p:txBody>
      </p:sp>
      <p:sp>
        <p:nvSpPr>
          <p:cNvPr id="9904" name="Team value">
            <a:extLst>
              <a:ext uri="{FF2B5EF4-FFF2-40B4-BE49-F238E27FC236}">
                <a16:creationId xmlns:a16="http://schemas.microsoft.com/office/drawing/2014/main" id="{DFD42F53-0611-40EF-8D58-0F227D9E960F}"/>
              </a:ext>
            </a:extLst>
          </p:cNvPr>
          <p:cNvSpPr>
            <a:spLocks noGrp="1"/>
          </p:cNvSpPr>
          <p:nvPr/>
        </p:nvSpPr>
        <p:spPr>
          <a:xfrm>
            <a:off x="1905000" y="61531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rPr>
              <a:t>디자인 1명, 개발 5명, 분석 1명, 사업개발 3명</a:t>
            </a:r>
          </a:p>
        </p:txBody>
      </p:sp>
    </p:spTree>
    <p:extLst>
      <p:ext uri="{BB962C8B-B14F-4D97-AF65-F5344CB8AC3E}">
        <p14:creationId xmlns:p14="http://schemas.microsoft.com/office/powerpoint/2010/main" val="38773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27">
            <a:extLst>
              <a:ext uri="{FF2B5EF4-FFF2-40B4-BE49-F238E27FC236}">
                <a16:creationId xmlns:a16="http://schemas.microsoft.com/office/drawing/2014/main" id="{B5392755-5865-F9B0-8A6B-497FC1FEFB7F}"/>
              </a:ext>
            </a:extLst>
          </p:cNvPr>
          <p:cNvSpPr>
            <a:spLocks noGrp="1"/>
          </p:cNvSpPr>
          <p:nvPr/>
        </p:nvSpPr>
        <p:spPr>
          <a:xfrm>
            <a:off x="0" y="824999"/>
            <a:ext cx="1041400" cy="4012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직사각형 24">
            <a:extLst>
              <a:ext uri="{FF2B5EF4-FFF2-40B4-BE49-F238E27FC236}">
                <a16:creationId xmlns:a16="http://schemas.microsoft.com/office/drawing/2014/main" id="{9300C823-004B-CBFA-D2AC-54CAF748651A}"/>
              </a:ext>
            </a:extLst>
          </p:cNvPr>
          <p:cNvSpPr>
            <a:spLocks noGrp="1"/>
          </p:cNvSpPr>
          <p:nvPr/>
        </p:nvSpPr>
        <p:spPr>
          <a:xfrm>
            <a:off x="0" y="56308"/>
            <a:ext cx="12192000" cy="595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직사각형 50">
            <a:extLst>
              <a:ext uri="{FF2B5EF4-FFF2-40B4-BE49-F238E27FC236}">
                <a16:creationId xmlns:a16="http://schemas.microsoft.com/office/drawing/2014/main" id="{3A7B5860-8D32-C866-0A67-DA9795350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선 연결선 15">
            <a:extLst>
              <a:ext uri="{FF2B5EF4-FFF2-40B4-BE49-F238E27FC236}">
                <a16:creationId xmlns:a16="http://schemas.microsoft.com/office/drawing/2014/main" id="{95C1A325-505D-4B67-8F4F-385E5E9505B2}"/>
              </a:ext>
            </a:extLst>
          </p:cNvPr>
          <p:cNvSpPr>
            <a:spLocks noGrp="1"/>
          </p:cNvSpPr>
          <p:nvPr/>
        </p:nvSpPr>
        <p:spPr>
          <a:xfrm>
            <a:off x="0" y="1229505"/>
            <a:ext cx="4204447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6" name="직사각형 16">
            <a:extLst>
              <a:ext uri="{FF2B5EF4-FFF2-40B4-BE49-F238E27FC236}">
                <a16:creationId xmlns:a16="http://schemas.microsoft.com/office/drawing/2014/main" id="{BB03FEB3-BCA6-E72B-25F6-6F59200B89FF}"/>
              </a:ext>
            </a:extLst>
          </p:cNvPr>
          <p:cNvSpPr>
            <a:spLocks noGrp="1"/>
          </p:cNvSpPr>
          <p:nvPr/>
        </p:nvSpPr>
        <p:spPr>
          <a:xfrm>
            <a:off x="762759" y="1601182"/>
            <a:ext cx="4931893" cy="4891685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grpSp>
        <p:nvGrpSpPr>
          <p:cNvPr id="7" name="Original evidence"/>
          <p:cNvGrpSpPr/>
          <p:nvPr/>
        </p:nvGrpSpPr>
        <p:grpSpPr>
          <a:xfrm>
            <a:off x="6602915" y="2047875"/>
            <a:ext cx="4586870" cy="4238625"/>
            <a:chOff x="6287321" y="1562520"/>
            <a:chExt cx="5094467" cy="4707684"/>
          </a:xfrm>
        </p:grpSpPr>
        <p:pic>
          <p:nvPicPr>
            <p:cNvPr id="8" name="그림 5">
              <a:extLst>
                <a:ext uri="{FF2B5EF4-FFF2-40B4-BE49-F238E27FC236}">
                  <a16:creationId xmlns:a16="http://schemas.microsoft.com/office/drawing/2014/main" id="{11B6D8BD-10B4-49B2-5ECC-7B961739B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7321" y="3951217"/>
              <a:ext cx="5094467" cy="2318987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pic>
          <p:nvPicPr>
            <p:cNvPr id="9" name="그림 9">
              <a:extLst>
                <a:ext uri="{FF2B5EF4-FFF2-40B4-BE49-F238E27FC236}">
                  <a16:creationId xmlns:a16="http://schemas.microsoft.com/office/drawing/2014/main" id="{DBAEEB74-1092-CDC5-1E2E-1261A9827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288430" y="1562520"/>
              <a:ext cx="2542756" cy="1954057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pic>
          <p:nvPicPr>
            <p:cNvPr id="10" name="그림 11">
              <a:extLst>
                <a:ext uri="{FF2B5EF4-FFF2-40B4-BE49-F238E27FC236}">
                  <a16:creationId xmlns:a16="http://schemas.microsoft.com/office/drawing/2014/main" id="{9EFD4361-C5C4-54BA-8DF2-1A07C4BDBA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887001" y="1573547"/>
              <a:ext cx="2489613" cy="1932002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</p:grpSp>
      <p:sp>
        <p:nvSpPr>
          <p:cNvPr id="11" name="I:header">
            <a:extLst>
              <a:ext uri="{FF2B5EF4-FFF2-40B4-BE49-F238E27FC236}">
                <a16:creationId xmlns:a16="http://schemas.microsoft.com/office/drawing/2014/main" id="{FE92E3EA-487D-40E2-971B-90235F722615}"/>
              </a:ext>
            </a:extLst>
          </p:cNvPr>
          <p:cNvSpPr>
            <a:spLocks noGrp="1"/>
          </p:cNvSpPr>
          <p:nvPr/>
        </p:nvSpPr>
        <p:spPr>
          <a:xfrm>
            <a:off x="190500" y="2000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토스 / 대출 Product Owner</a:t>
            </a:r>
          </a:p>
        </p:txBody>
      </p:sp>
      <p:sp>
        <p:nvSpPr>
          <p:cNvPr id="12" name="I:category">
            <a:extLst>
              <a:ext uri="{FF2B5EF4-FFF2-40B4-BE49-F238E27FC236}">
                <a16:creationId xmlns:a16="http://schemas.microsoft.com/office/drawing/2014/main" id="{BB3B24D9-F916-4AC6-A43D-D6A4CA196ECC}"/>
              </a:ext>
            </a:extLst>
          </p:cNvPr>
          <p:cNvSpPr>
            <a:spLocks noGrp="1"/>
          </p:cNvSpPr>
          <p:nvPr/>
        </p:nvSpPr>
        <p:spPr>
          <a:xfrm>
            <a:off x="0" y="923925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13" name="I:project">
            <a:extLst>
              <a:ext uri="{FF2B5EF4-FFF2-40B4-BE49-F238E27FC236}">
                <a16:creationId xmlns:a16="http://schemas.microsoft.com/office/drawing/2014/main" id="{E3581594-256C-47C3-8747-5B50294EA18A}"/>
              </a:ext>
            </a:extLst>
          </p:cNvPr>
          <p:cNvSpPr>
            <a:spLocks noGrp="1"/>
          </p:cNvSpPr>
          <p:nvPr/>
        </p:nvSpPr>
        <p:spPr>
          <a:xfrm>
            <a:off x="1171575" y="9144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대출상담사 중개 서비스의 혁신금융서비스 지정 추진</a:t>
            </a:r>
          </a:p>
        </p:txBody>
      </p:sp>
      <p:sp>
        <p:nvSpPr>
          <p:cNvPr id="14" name="I:page">
            <a:extLst>
              <a:ext uri="{FF2B5EF4-FFF2-40B4-BE49-F238E27FC236}">
                <a16:creationId xmlns:a16="http://schemas.microsoft.com/office/drawing/2014/main" id="{A287A67A-FD45-4D46-99CE-3F7AB876D9A5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18</a:t>
            </a:r>
          </a:p>
        </p:txBody>
      </p:sp>
      <p:sp>
        <p:nvSpPr>
          <p:cNvPr id="15" name="I:section 0">
            <a:extLst>
              <a:ext uri="{FF2B5EF4-FFF2-40B4-BE49-F238E27FC236}">
                <a16:creationId xmlns:a16="http://schemas.microsoft.com/office/drawing/2014/main" id="{9058947C-84C2-466F-B56C-EFF248B6151C}"/>
              </a:ext>
            </a:extLst>
          </p:cNvPr>
          <p:cNvSpPr>
            <a:spLocks noGrp="1"/>
          </p:cNvSpPr>
          <p:nvPr/>
        </p:nvSpPr>
        <p:spPr>
          <a:xfrm>
            <a:off x="1000125" y="179070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문제 의식 및 목표</a:t>
            </a:r>
          </a:p>
        </p:txBody>
      </p:sp>
      <p:sp>
        <p:nvSpPr>
          <p:cNvPr id="16" name="I:body 0">
            <a:extLst>
              <a:ext uri="{FF2B5EF4-FFF2-40B4-BE49-F238E27FC236}">
                <a16:creationId xmlns:a16="http://schemas.microsoft.com/office/drawing/2014/main" id="{017819F8-2827-4779-BC56-8106CC489CB2}"/>
              </a:ext>
            </a:extLst>
          </p:cNvPr>
          <p:cNvSpPr>
            <a:spLocks noGrp="1"/>
          </p:cNvSpPr>
          <p:nvPr/>
        </p:nvSpPr>
        <p:spPr>
          <a:xfrm>
            <a:off x="1000125" y="2105025"/>
            <a:ext cx="44577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주택담보대출의 낮은 온라인 이용 비중 확인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대출 모집인 중심의 오프라인 유통 구조 분석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온라인 비교·중개 서비스의 사업 기회 발굴</a:t>
            </a:r>
          </a:p>
        </p:txBody>
      </p:sp>
      <p:sp>
        <p:nvSpPr>
          <p:cNvPr id="17" name="I:section 1">
            <a:extLst>
              <a:ext uri="{FF2B5EF4-FFF2-40B4-BE49-F238E27FC236}">
                <a16:creationId xmlns:a16="http://schemas.microsoft.com/office/drawing/2014/main" id="{F7A92462-35B0-4901-AE34-5813D9D48176}"/>
              </a:ext>
            </a:extLst>
          </p:cNvPr>
          <p:cNvSpPr>
            <a:spLocks noGrp="1"/>
          </p:cNvSpPr>
          <p:nvPr/>
        </p:nvSpPr>
        <p:spPr>
          <a:xfrm>
            <a:off x="1000125" y="286702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주요 업무</a:t>
            </a:r>
          </a:p>
        </p:txBody>
      </p:sp>
      <p:sp>
        <p:nvSpPr>
          <p:cNvPr id="18" name="I:body 1">
            <a:extLst>
              <a:ext uri="{FF2B5EF4-FFF2-40B4-BE49-F238E27FC236}">
                <a16:creationId xmlns:a16="http://schemas.microsoft.com/office/drawing/2014/main" id="{7DD1604C-6109-4380-A7F0-E5549D16EB73}"/>
              </a:ext>
            </a:extLst>
          </p:cNvPr>
          <p:cNvSpPr>
            <a:spLocks noGrp="1"/>
          </p:cNvSpPr>
          <p:nvPr/>
        </p:nvSpPr>
        <p:spPr>
          <a:xfrm>
            <a:off x="1000125" y="3181350"/>
            <a:ext cx="4457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시장 지표와 대출 상담·모집 구조 분석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재위탁 규제 쟁점을 검토하고 규제특례 신청 추진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서비스 모델과 소비자 편익을 신청서로 구체화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법무·대관·금융소비자보호 담당자와 심사 대응</a:t>
            </a:r>
          </a:p>
        </p:txBody>
      </p:sp>
      <p:sp>
        <p:nvSpPr>
          <p:cNvPr id="19" name="I:section 2">
            <a:extLst>
              <a:ext uri="{FF2B5EF4-FFF2-40B4-BE49-F238E27FC236}">
                <a16:creationId xmlns:a16="http://schemas.microsoft.com/office/drawing/2014/main" id="{5DA217B6-A1C3-41C3-B881-12ACBD9FB858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결과/성과</a:t>
            </a:r>
          </a:p>
        </p:txBody>
      </p:sp>
      <p:sp>
        <p:nvSpPr>
          <p:cNvPr id="20" name="I:body 2">
            <a:extLst>
              <a:ext uri="{FF2B5EF4-FFF2-40B4-BE49-F238E27FC236}">
                <a16:creationId xmlns:a16="http://schemas.microsoft.com/office/drawing/2014/main" id="{6197A9A5-2037-469D-AB04-264B91D8E5F1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44577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규제 샌드박스 신청 </a:t>
            </a:r>
            <a:r>
              <a:rPr sz="132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6개월</a:t>
            </a: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 만에 혁신금융서비스 지정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신규 중개 모델을 추진할 제도적 기반 확보</a:t>
            </a:r>
          </a:p>
        </p:txBody>
      </p:sp>
      <p:sp>
        <p:nvSpPr>
          <p:cNvPr id="21" name="I:section 3">
            <a:extLst>
              <a:ext uri="{FF2B5EF4-FFF2-40B4-BE49-F238E27FC236}">
                <a16:creationId xmlns:a16="http://schemas.microsoft.com/office/drawing/2014/main" id="{B79EDC36-C09E-40A8-8500-C12ACDEC5470}"/>
              </a:ext>
            </a:extLst>
          </p:cNvPr>
          <p:cNvSpPr>
            <a:spLocks noGrp="1"/>
          </p:cNvSpPr>
          <p:nvPr/>
        </p:nvSpPr>
        <p:spPr>
          <a:xfrm>
            <a:off x="1000125" y="5600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담당 역할</a:t>
            </a:r>
          </a:p>
        </p:txBody>
      </p:sp>
      <p:sp>
        <p:nvSpPr>
          <p:cNvPr id="22" name="I:body 3">
            <a:extLst>
              <a:ext uri="{FF2B5EF4-FFF2-40B4-BE49-F238E27FC236}">
                <a16:creationId xmlns:a16="http://schemas.microsoft.com/office/drawing/2014/main" id="{1E864A9D-CD1A-481E-A31A-CA862857CA36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3600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제품 총괄·서비스 모델·신청서 작성</a:t>
            </a:r>
          </a:p>
        </p:txBody>
      </p:sp>
      <p:sp>
        <p:nvSpPr>
          <p:cNvPr id="23" name="I:evidence caption">
            <a:extLst>
              <a:ext uri="{FF2B5EF4-FFF2-40B4-BE49-F238E27FC236}">
                <a16:creationId xmlns:a16="http://schemas.microsoft.com/office/drawing/2014/main" id="{E03F0B48-10E3-4287-BC1E-E9BA267DA5A9}"/>
              </a:ext>
            </a:extLst>
          </p:cNvPr>
          <p:cNvSpPr>
            <a:spLocks noGrp="1"/>
          </p:cNvSpPr>
          <p:nvPr/>
        </p:nvSpPr>
        <p:spPr>
          <a:xfrm>
            <a:off x="6096000" y="1676400"/>
            <a:ext cx="5600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시장 분석 자료와 규제 샌드박스 신청서</a:t>
            </a:r>
          </a:p>
        </p:txBody>
      </p:sp>
      <p:sp>
        <p:nvSpPr>
          <p:cNvPr id="24" name="I:disclosure">
            <a:extLst>
              <a:ext uri="{FF2B5EF4-FFF2-40B4-BE49-F238E27FC236}">
                <a16:creationId xmlns:a16="http://schemas.microsoft.com/office/drawing/2014/main" id="{07A82716-E1AF-4115-809F-32BCEE8D8CE7}"/>
              </a:ext>
            </a:extLst>
          </p:cNvPr>
          <p:cNvSpPr>
            <a:spLocks noGrp="1"/>
          </p:cNvSpPr>
          <p:nvPr/>
        </p:nvSpPr>
        <p:spPr>
          <a:xfrm>
            <a:off x="6096000" y="6410325"/>
            <a:ext cx="5486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공개 가능한 범위의 내부 자료 발췌 · 일부 데이터 비식별화</a:t>
            </a:r>
          </a:p>
        </p:txBody>
      </p:sp>
      <p:sp>
        <p:nvSpPr>
          <p:cNvPr id="9901" name="Role contribution label">
            <a:extLst>
              <a:ext uri="{FF2B5EF4-FFF2-40B4-BE49-F238E27FC236}">
                <a16:creationId xmlns:a16="http://schemas.microsoft.com/office/drawing/2014/main" id="{1CB7CA5F-632E-4257-B8FD-E758A2B17116}"/>
              </a:ext>
            </a:extLst>
          </p:cNvPr>
          <p:cNvSpPr>
            <a:spLocks noGrp="1"/>
          </p:cNvSpPr>
          <p:nvPr/>
        </p:nvSpPr>
        <p:spPr>
          <a:xfrm>
            <a:off x="1000125" y="58769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기획 기여도</a:t>
            </a:r>
          </a:p>
        </p:txBody>
      </p:sp>
      <p:sp>
        <p:nvSpPr>
          <p:cNvPr id="9902" name="Role contribution value">
            <a:extLst>
              <a:ext uri="{FF2B5EF4-FFF2-40B4-BE49-F238E27FC236}">
                <a16:creationId xmlns:a16="http://schemas.microsoft.com/office/drawing/2014/main" id="{3EA7C8E2-7FEB-47CF-90F1-937A7AA2F40B}"/>
              </a:ext>
            </a:extLst>
          </p:cNvPr>
          <p:cNvSpPr>
            <a:spLocks noGrp="1"/>
          </p:cNvSpPr>
          <p:nvPr/>
        </p:nvSpPr>
        <p:spPr>
          <a:xfrm>
            <a:off x="1905000" y="5876925"/>
            <a:ext cx="3600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100%</a:t>
            </a:r>
          </a:p>
        </p:txBody>
      </p:sp>
      <p:sp>
        <p:nvSpPr>
          <p:cNvPr id="9903" name="Team label">
            <a:extLst>
              <a:ext uri="{FF2B5EF4-FFF2-40B4-BE49-F238E27FC236}">
                <a16:creationId xmlns:a16="http://schemas.microsoft.com/office/drawing/2014/main" id="{4E0073F8-9F8E-41CC-97FF-DED37FC8124E}"/>
              </a:ext>
            </a:extLst>
          </p:cNvPr>
          <p:cNvSpPr>
            <a:spLocks noGrp="1"/>
          </p:cNvSpPr>
          <p:nvPr/>
        </p:nvSpPr>
        <p:spPr>
          <a:xfrm>
            <a:off x="1000125" y="61531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협업 구성</a:t>
            </a:r>
          </a:p>
        </p:txBody>
      </p:sp>
      <p:sp>
        <p:nvSpPr>
          <p:cNvPr id="9904" name="Team value">
            <a:extLst>
              <a:ext uri="{FF2B5EF4-FFF2-40B4-BE49-F238E27FC236}">
                <a16:creationId xmlns:a16="http://schemas.microsoft.com/office/drawing/2014/main" id="{A643C4E7-0370-443A-8771-C541ACB63E41}"/>
              </a:ext>
            </a:extLst>
          </p:cNvPr>
          <p:cNvSpPr>
            <a:spLocks noGrp="1"/>
          </p:cNvSpPr>
          <p:nvPr/>
        </p:nvSpPr>
        <p:spPr>
          <a:xfrm>
            <a:off x="1905000" y="61531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rPr>
              <a:t>법무 1명, 대관 1명, 금융소비자보호 1명</a:t>
            </a:r>
          </a:p>
        </p:txBody>
      </p:sp>
    </p:spTree>
    <p:extLst>
      <p:ext uri="{BB962C8B-B14F-4D97-AF65-F5344CB8AC3E}">
        <p14:creationId xmlns:p14="http://schemas.microsoft.com/office/powerpoint/2010/main" val="1845220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27">
            <a:extLst>
              <a:ext uri="{FF2B5EF4-FFF2-40B4-BE49-F238E27FC236}">
                <a16:creationId xmlns:a16="http://schemas.microsoft.com/office/drawing/2014/main" id="{B5392755-5865-F9B0-8A6B-497FC1FEFB7F}"/>
              </a:ext>
            </a:extLst>
          </p:cNvPr>
          <p:cNvSpPr>
            <a:spLocks noGrp="1"/>
          </p:cNvSpPr>
          <p:nvPr/>
        </p:nvSpPr>
        <p:spPr>
          <a:xfrm>
            <a:off x="0" y="824999"/>
            <a:ext cx="1041400" cy="4012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직사각형 24">
            <a:extLst>
              <a:ext uri="{FF2B5EF4-FFF2-40B4-BE49-F238E27FC236}">
                <a16:creationId xmlns:a16="http://schemas.microsoft.com/office/drawing/2014/main" id="{9300C823-004B-CBFA-D2AC-54CAF748651A}"/>
              </a:ext>
            </a:extLst>
          </p:cNvPr>
          <p:cNvSpPr>
            <a:spLocks noGrp="1"/>
          </p:cNvSpPr>
          <p:nvPr/>
        </p:nvSpPr>
        <p:spPr>
          <a:xfrm>
            <a:off x="0" y="56308"/>
            <a:ext cx="12192000" cy="595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직사각형 50">
            <a:extLst>
              <a:ext uri="{FF2B5EF4-FFF2-40B4-BE49-F238E27FC236}">
                <a16:creationId xmlns:a16="http://schemas.microsoft.com/office/drawing/2014/main" id="{3A7B5860-8D32-C866-0A67-DA9795350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선 연결선 15">
            <a:extLst>
              <a:ext uri="{FF2B5EF4-FFF2-40B4-BE49-F238E27FC236}">
                <a16:creationId xmlns:a16="http://schemas.microsoft.com/office/drawing/2014/main" id="{95C1A325-505D-4B67-8F4F-385E5E9505B2}"/>
              </a:ext>
            </a:extLst>
          </p:cNvPr>
          <p:cNvSpPr>
            <a:spLocks noGrp="1"/>
          </p:cNvSpPr>
          <p:nvPr/>
        </p:nvSpPr>
        <p:spPr>
          <a:xfrm>
            <a:off x="0" y="1229505"/>
            <a:ext cx="4204447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6" name="직사각형 16">
            <a:extLst>
              <a:ext uri="{FF2B5EF4-FFF2-40B4-BE49-F238E27FC236}">
                <a16:creationId xmlns:a16="http://schemas.microsoft.com/office/drawing/2014/main" id="{BB03FEB3-BCA6-E72B-25F6-6F59200B89FF}"/>
              </a:ext>
            </a:extLst>
          </p:cNvPr>
          <p:cNvSpPr>
            <a:spLocks noGrp="1"/>
          </p:cNvSpPr>
          <p:nvPr/>
        </p:nvSpPr>
        <p:spPr>
          <a:xfrm>
            <a:off x="762759" y="1601182"/>
            <a:ext cx="4931893" cy="4891685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grpSp>
        <p:nvGrpSpPr>
          <p:cNvPr id="7" name="Original evidence"/>
          <p:cNvGrpSpPr/>
          <p:nvPr/>
        </p:nvGrpSpPr>
        <p:grpSpPr>
          <a:xfrm>
            <a:off x="6804923" y="2047875"/>
            <a:ext cx="4182854" cy="4238625"/>
            <a:chOff x="6386665" y="1556419"/>
            <a:chExt cx="4799071" cy="4863058"/>
          </a:xfrm>
        </p:grpSpPr>
        <p:pic>
          <p:nvPicPr>
            <p:cNvPr id="8" name="그림 9">
              <a:extLst>
                <a:ext uri="{FF2B5EF4-FFF2-40B4-BE49-F238E27FC236}">
                  <a16:creationId xmlns:a16="http://schemas.microsoft.com/office/drawing/2014/main" id="{30C660B6-E50A-58D1-C288-98800A4B9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386665" y="1556419"/>
              <a:ext cx="4799071" cy="4863058"/>
            </a:xfrm>
            <a:prstGeom prst="rect">
              <a:avLst/>
            </a:prstGeom>
          </p:spPr>
        </p:pic>
      </p:grpSp>
      <p:sp>
        <p:nvSpPr>
          <p:cNvPr id="9" name="I:header">
            <a:extLst>
              <a:ext uri="{FF2B5EF4-FFF2-40B4-BE49-F238E27FC236}">
                <a16:creationId xmlns:a16="http://schemas.microsoft.com/office/drawing/2014/main" id="{06557AE6-9FB1-4769-B8F3-1AE9667590FE}"/>
              </a:ext>
            </a:extLst>
          </p:cNvPr>
          <p:cNvSpPr>
            <a:spLocks noGrp="1"/>
          </p:cNvSpPr>
          <p:nvPr/>
        </p:nvSpPr>
        <p:spPr>
          <a:xfrm>
            <a:off x="190500" y="2000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토스 / 대출 Product Owner</a:t>
            </a:r>
          </a:p>
        </p:txBody>
      </p:sp>
      <p:sp>
        <p:nvSpPr>
          <p:cNvPr id="10" name="I:category">
            <a:extLst>
              <a:ext uri="{FF2B5EF4-FFF2-40B4-BE49-F238E27FC236}">
                <a16:creationId xmlns:a16="http://schemas.microsoft.com/office/drawing/2014/main" id="{1D097090-8F71-4EB1-B3AD-C8FD204837C4}"/>
              </a:ext>
            </a:extLst>
          </p:cNvPr>
          <p:cNvSpPr>
            <a:spLocks noGrp="1"/>
          </p:cNvSpPr>
          <p:nvPr/>
        </p:nvSpPr>
        <p:spPr>
          <a:xfrm>
            <a:off x="0" y="923925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11" name="I:project">
            <a:extLst>
              <a:ext uri="{FF2B5EF4-FFF2-40B4-BE49-F238E27FC236}">
                <a16:creationId xmlns:a16="http://schemas.microsoft.com/office/drawing/2014/main" id="{52C78E28-7825-47F8-B831-5578DEC4E21E}"/>
              </a:ext>
            </a:extLst>
          </p:cNvPr>
          <p:cNvSpPr>
            <a:spLocks noGrp="1"/>
          </p:cNvSpPr>
          <p:nvPr/>
        </p:nvSpPr>
        <p:spPr>
          <a:xfrm>
            <a:off x="1171575" y="9144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주택 검색 이탈 분석을 통한 신규 대출 수요 발굴</a:t>
            </a:r>
          </a:p>
        </p:txBody>
      </p:sp>
      <p:sp>
        <p:nvSpPr>
          <p:cNvPr id="12" name="I:page">
            <a:extLst>
              <a:ext uri="{FF2B5EF4-FFF2-40B4-BE49-F238E27FC236}">
                <a16:creationId xmlns:a16="http://schemas.microsoft.com/office/drawing/2014/main" id="{F52581DD-B71F-4ACC-B3BB-9441D8043A09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19</a:t>
            </a:r>
          </a:p>
        </p:txBody>
      </p:sp>
      <p:sp>
        <p:nvSpPr>
          <p:cNvPr id="13" name="I:section 0">
            <a:extLst>
              <a:ext uri="{FF2B5EF4-FFF2-40B4-BE49-F238E27FC236}">
                <a16:creationId xmlns:a16="http://schemas.microsoft.com/office/drawing/2014/main" id="{42F12D6D-EE8F-4BB3-BFA8-0CF7D6E4F8C8}"/>
              </a:ext>
            </a:extLst>
          </p:cNvPr>
          <p:cNvSpPr>
            <a:spLocks noGrp="1"/>
          </p:cNvSpPr>
          <p:nvPr/>
        </p:nvSpPr>
        <p:spPr>
          <a:xfrm>
            <a:off x="1000125" y="179070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문제 의식 및 목표</a:t>
            </a:r>
          </a:p>
        </p:txBody>
      </p:sp>
      <p:sp>
        <p:nvSpPr>
          <p:cNvPr id="14" name="I:body 0">
            <a:extLst>
              <a:ext uri="{FF2B5EF4-FFF2-40B4-BE49-F238E27FC236}">
                <a16:creationId xmlns:a16="http://schemas.microsoft.com/office/drawing/2014/main" id="{98259130-2D90-439F-A197-5AF7703FEEC6}"/>
              </a:ext>
            </a:extLst>
          </p:cNvPr>
          <p:cNvSpPr>
            <a:spLocks noGrp="1"/>
          </p:cNvSpPr>
          <p:nvPr/>
        </p:nvSpPr>
        <p:spPr>
          <a:xfrm>
            <a:off x="1000125" y="2105025"/>
            <a:ext cx="44577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주택 검색 단계에서 사용자 28% 이탈 확인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이탈 사용자의 72%는 KB시세가 없는 신축 검색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시세 정보 부재로 발생한 대출 수요의 미충족</a:t>
            </a:r>
          </a:p>
        </p:txBody>
      </p:sp>
      <p:sp>
        <p:nvSpPr>
          <p:cNvPr id="15" name="I:section 1">
            <a:extLst>
              <a:ext uri="{FF2B5EF4-FFF2-40B4-BE49-F238E27FC236}">
                <a16:creationId xmlns:a16="http://schemas.microsoft.com/office/drawing/2014/main" id="{E6F85BCA-4AAE-4D36-82DC-7837976FC9C3}"/>
              </a:ext>
            </a:extLst>
          </p:cNvPr>
          <p:cNvSpPr>
            <a:spLocks noGrp="1"/>
          </p:cNvSpPr>
          <p:nvPr/>
        </p:nvSpPr>
        <p:spPr>
          <a:xfrm>
            <a:off x="1000125" y="286702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주요 업무</a:t>
            </a:r>
          </a:p>
        </p:txBody>
      </p:sp>
      <p:sp>
        <p:nvSpPr>
          <p:cNvPr id="16" name="I:body 1">
            <a:extLst>
              <a:ext uri="{FF2B5EF4-FFF2-40B4-BE49-F238E27FC236}">
                <a16:creationId xmlns:a16="http://schemas.microsoft.com/office/drawing/2014/main" id="{330877D7-9754-4A5E-BE6A-7759B27D533E}"/>
              </a:ext>
            </a:extLst>
          </p:cNvPr>
          <p:cNvSpPr>
            <a:spLocks noGrp="1"/>
          </p:cNvSpPr>
          <p:nvPr/>
        </p:nvSpPr>
        <p:spPr>
          <a:xfrm>
            <a:off x="1000125" y="3181350"/>
            <a:ext cx="4457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검색 로그를 추출해 이탈 주택과 원인 분석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시세 정보 부재로 대출이 막히는 수요를 정의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KB시세 없는 주택을 취급하는 제휴사 발굴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해당 주택의 대출을 지원하도록 상품 연동</a:t>
            </a:r>
          </a:p>
        </p:txBody>
      </p:sp>
      <p:sp>
        <p:nvSpPr>
          <p:cNvPr id="17" name="I:section 2">
            <a:extLst>
              <a:ext uri="{FF2B5EF4-FFF2-40B4-BE49-F238E27FC236}">
                <a16:creationId xmlns:a16="http://schemas.microsoft.com/office/drawing/2014/main" id="{54C0BBE9-C571-4B09-BB3D-972190486A47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결과/성과</a:t>
            </a:r>
          </a:p>
        </p:txBody>
      </p:sp>
      <p:sp>
        <p:nvSpPr>
          <p:cNvPr id="18" name="I:body 2">
            <a:extLst>
              <a:ext uri="{FF2B5EF4-FFF2-40B4-BE49-F238E27FC236}">
                <a16:creationId xmlns:a16="http://schemas.microsoft.com/office/drawing/2014/main" id="{C10230F0-E428-427B-83BE-31E0D72840EB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44577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주택 검색 단계 전환율 </a:t>
            </a:r>
            <a:r>
              <a:rPr sz="132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11%p</a:t>
            </a: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 상승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기존에 수용하지 못한 신축 주택 수요 확보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신규 매출원 발굴</a:t>
            </a:r>
          </a:p>
        </p:txBody>
      </p:sp>
      <p:sp>
        <p:nvSpPr>
          <p:cNvPr id="19" name="I:section 3">
            <a:extLst>
              <a:ext uri="{FF2B5EF4-FFF2-40B4-BE49-F238E27FC236}">
                <a16:creationId xmlns:a16="http://schemas.microsoft.com/office/drawing/2014/main" id="{422BBF04-C60F-4097-ABAC-BCE7D3D0774A}"/>
              </a:ext>
            </a:extLst>
          </p:cNvPr>
          <p:cNvSpPr>
            <a:spLocks noGrp="1"/>
          </p:cNvSpPr>
          <p:nvPr/>
        </p:nvSpPr>
        <p:spPr>
          <a:xfrm>
            <a:off x="1000125" y="5600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담당 역할</a:t>
            </a:r>
          </a:p>
        </p:txBody>
      </p:sp>
      <p:sp>
        <p:nvSpPr>
          <p:cNvPr id="20" name="I:body 3">
            <a:extLst>
              <a:ext uri="{FF2B5EF4-FFF2-40B4-BE49-F238E27FC236}">
                <a16:creationId xmlns:a16="http://schemas.microsoft.com/office/drawing/2014/main" id="{912E92AA-900B-4345-AA3C-39C67B7FB041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3600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제품 총괄·실험·서비스 기획</a:t>
            </a:r>
          </a:p>
        </p:txBody>
      </p:sp>
      <p:sp>
        <p:nvSpPr>
          <p:cNvPr id="21" name="I:evidence caption">
            <a:extLst>
              <a:ext uri="{FF2B5EF4-FFF2-40B4-BE49-F238E27FC236}">
                <a16:creationId xmlns:a16="http://schemas.microsoft.com/office/drawing/2014/main" id="{7C8EE3A0-C549-4182-BDD1-24DCCBFF4492}"/>
              </a:ext>
            </a:extLst>
          </p:cNvPr>
          <p:cNvSpPr>
            <a:spLocks noGrp="1"/>
          </p:cNvSpPr>
          <p:nvPr/>
        </p:nvSpPr>
        <p:spPr>
          <a:xfrm>
            <a:off x="6096000" y="1676400"/>
            <a:ext cx="5600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주택 검색 단계 개선 전·후의 퍼널 전환</a:t>
            </a:r>
          </a:p>
        </p:txBody>
      </p:sp>
      <p:sp>
        <p:nvSpPr>
          <p:cNvPr id="22" name="I:disclosure">
            <a:extLst>
              <a:ext uri="{FF2B5EF4-FFF2-40B4-BE49-F238E27FC236}">
                <a16:creationId xmlns:a16="http://schemas.microsoft.com/office/drawing/2014/main" id="{3D7E6ECF-277F-485E-85DD-4BA60C21C978}"/>
              </a:ext>
            </a:extLst>
          </p:cNvPr>
          <p:cNvSpPr>
            <a:spLocks noGrp="1"/>
          </p:cNvSpPr>
          <p:nvPr/>
        </p:nvSpPr>
        <p:spPr>
          <a:xfrm>
            <a:off x="6096000" y="6410325"/>
            <a:ext cx="5486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공개 가능한 범위의 내부 자료 발췌 · 일부 데이터 비식별화</a:t>
            </a:r>
          </a:p>
        </p:txBody>
      </p:sp>
      <p:sp>
        <p:nvSpPr>
          <p:cNvPr id="9901" name="Role contribution label">
            <a:extLst>
              <a:ext uri="{FF2B5EF4-FFF2-40B4-BE49-F238E27FC236}">
                <a16:creationId xmlns:a16="http://schemas.microsoft.com/office/drawing/2014/main" id="{872A5D2E-00BC-44E6-9FC2-DA06E05BD2A8}"/>
              </a:ext>
            </a:extLst>
          </p:cNvPr>
          <p:cNvSpPr>
            <a:spLocks noGrp="1"/>
          </p:cNvSpPr>
          <p:nvPr/>
        </p:nvSpPr>
        <p:spPr>
          <a:xfrm>
            <a:off x="1000125" y="58769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기획 기여도</a:t>
            </a:r>
          </a:p>
        </p:txBody>
      </p:sp>
      <p:sp>
        <p:nvSpPr>
          <p:cNvPr id="9902" name="Role contribution value">
            <a:extLst>
              <a:ext uri="{FF2B5EF4-FFF2-40B4-BE49-F238E27FC236}">
                <a16:creationId xmlns:a16="http://schemas.microsoft.com/office/drawing/2014/main" id="{605A0BA6-FAFE-4370-8105-A3DBE76D6A86}"/>
              </a:ext>
            </a:extLst>
          </p:cNvPr>
          <p:cNvSpPr>
            <a:spLocks noGrp="1"/>
          </p:cNvSpPr>
          <p:nvPr/>
        </p:nvSpPr>
        <p:spPr>
          <a:xfrm>
            <a:off x="1905000" y="5876925"/>
            <a:ext cx="3600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100%</a:t>
            </a:r>
          </a:p>
        </p:txBody>
      </p:sp>
      <p:sp>
        <p:nvSpPr>
          <p:cNvPr id="9903" name="Team label">
            <a:extLst>
              <a:ext uri="{FF2B5EF4-FFF2-40B4-BE49-F238E27FC236}">
                <a16:creationId xmlns:a16="http://schemas.microsoft.com/office/drawing/2014/main" id="{D288D802-B5C6-46A1-93CD-5404D5358EED}"/>
              </a:ext>
            </a:extLst>
          </p:cNvPr>
          <p:cNvSpPr>
            <a:spLocks noGrp="1"/>
          </p:cNvSpPr>
          <p:nvPr/>
        </p:nvSpPr>
        <p:spPr>
          <a:xfrm>
            <a:off x="1000125" y="61531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협업 구성</a:t>
            </a:r>
          </a:p>
        </p:txBody>
      </p:sp>
      <p:sp>
        <p:nvSpPr>
          <p:cNvPr id="9904" name="Team value">
            <a:extLst>
              <a:ext uri="{FF2B5EF4-FFF2-40B4-BE49-F238E27FC236}">
                <a16:creationId xmlns:a16="http://schemas.microsoft.com/office/drawing/2014/main" id="{7A98F7C5-7CAE-4E39-8476-338C6C8A571B}"/>
              </a:ext>
            </a:extLst>
          </p:cNvPr>
          <p:cNvSpPr>
            <a:spLocks noGrp="1"/>
          </p:cNvSpPr>
          <p:nvPr/>
        </p:nvSpPr>
        <p:spPr>
          <a:xfrm>
            <a:off x="1905000" y="61531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rPr>
              <a:t>디자인 1명, 개발 5명, 분석 1명, 사업개발 3명</a:t>
            </a:r>
          </a:p>
        </p:txBody>
      </p:sp>
    </p:spTree>
    <p:extLst>
      <p:ext uri="{BB962C8B-B14F-4D97-AF65-F5344CB8AC3E}">
        <p14:creationId xmlns:p14="http://schemas.microsoft.com/office/powerpoint/2010/main" val="2326809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27">
            <a:extLst>
              <a:ext uri="{FF2B5EF4-FFF2-40B4-BE49-F238E27FC236}">
                <a16:creationId xmlns:a16="http://schemas.microsoft.com/office/drawing/2014/main" id="{B5392755-5865-F9B0-8A6B-497FC1FEFB7F}"/>
              </a:ext>
            </a:extLst>
          </p:cNvPr>
          <p:cNvSpPr>
            <a:spLocks noGrp="1"/>
          </p:cNvSpPr>
          <p:nvPr/>
        </p:nvSpPr>
        <p:spPr>
          <a:xfrm>
            <a:off x="0" y="824999"/>
            <a:ext cx="1041400" cy="4012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직사각형 24">
            <a:extLst>
              <a:ext uri="{FF2B5EF4-FFF2-40B4-BE49-F238E27FC236}">
                <a16:creationId xmlns:a16="http://schemas.microsoft.com/office/drawing/2014/main" id="{9300C823-004B-CBFA-D2AC-54CAF748651A}"/>
              </a:ext>
            </a:extLst>
          </p:cNvPr>
          <p:cNvSpPr>
            <a:spLocks noGrp="1"/>
          </p:cNvSpPr>
          <p:nvPr/>
        </p:nvSpPr>
        <p:spPr>
          <a:xfrm>
            <a:off x="0" y="56308"/>
            <a:ext cx="12192000" cy="595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직사각형 50">
            <a:extLst>
              <a:ext uri="{FF2B5EF4-FFF2-40B4-BE49-F238E27FC236}">
                <a16:creationId xmlns:a16="http://schemas.microsoft.com/office/drawing/2014/main" id="{3A7B5860-8D32-C866-0A67-DA9795350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선 연결선 15">
            <a:extLst>
              <a:ext uri="{FF2B5EF4-FFF2-40B4-BE49-F238E27FC236}">
                <a16:creationId xmlns:a16="http://schemas.microsoft.com/office/drawing/2014/main" id="{95C1A325-505D-4B67-8F4F-385E5E9505B2}"/>
              </a:ext>
            </a:extLst>
          </p:cNvPr>
          <p:cNvSpPr>
            <a:spLocks noGrp="1"/>
          </p:cNvSpPr>
          <p:nvPr/>
        </p:nvSpPr>
        <p:spPr>
          <a:xfrm>
            <a:off x="0" y="1229505"/>
            <a:ext cx="4204447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6" name="직사각형 16">
            <a:extLst>
              <a:ext uri="{FF2B5EF4-FFF2-40B4-BE49-F238E27FC236}">
                <a16:creationId xmlns:a16="http://schemas.microsoft.com/office/drawing/2014/main" id="{BB03FEB3-BCA6-E72B-25F6-6F59200B89FF}"/>
              </a:ext>
            </a:extLst>
          </p:cNvPr>
          <p:cNvSpPr>
            <a:spLocks noGrp="1"/>
          </p:cNvSpPr>
          <p:nvPr/>
        </p:nvSpPr>
        <p:spPr>
          <a:xfrm>
            <a:off x="762759" y="1601182"/>
            <a:ext cx="4931893" cy="4891685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grpSp>
        <p:nvGrpSpPr>
          <p:cNvPr id="7" name="Original evidence"/>
          <p:cNvGrpSpPr/>
          <p:nvPr/>
        </p:nvGrpSpPr>
        <p:grpSpPr>
          <a:xfrm>
            <a:off x="7861260" y="2047875"/>
            <a:ext cx="2070179" cy="4238625"/>
            <a:chOff x="7740268" y="1764734"/>
            <a:chExt cx="1986687" cy="4067677"/>
          </a:xfrm>
        </p:grpSpPr>
        <p:pic>
          <p:nvPicPr>
            <p:cNvPr id="8" name="그림 11">
              <a:extLst>
                <a:ext uri="{FF2B5EF4-FFF2-40B4-BE49-F238E27FC236}">
                  <a16:creationId xmlns:a16="http://schemas.microsoft.com/office/drawing/2014/main" id="{52DFB806-0A60-4DDA-0F5B-E0FD2718F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40268" y="1764734"/>
              <a:ext cx="1986687" cy="4067677"/>
            </a:xfrm>
            <a:prstGeom prst="rect">
              <a:avLst/>
            </a:prstGeom>
          </p:spPr>
        </p:pic>
      </p:grpSp>
      <p:sp>
        <p:nvSpPr>
          <p:cNvPr id="9" name="I:header">
            <a:extLst>
              <a:ext uri="{FF2B5EF4-FFF2-40B4-BE49-F238E27FC236}">
                <a16:creationId xmlns:a16="http://schemas.microsoft.com/office/drawing/2014/main" id="{2642C8F0-5B65-409A-BFF9-F50637C6C09C}"/>
              </a:ext>
            </a:extLst>
          </p:cNvPr>
          <p:cNvSpPr>
            <a:spLocks noGrp="1"/>
          </p:cNvSpPr>
          <p:nvPr/>
        </p:nvSpPr>
        <p:spPr>
          <a:xfrm>
            <a:off x="190500" y="2000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토스 / 대출 Product Owner</a:t>
            </a:r>
          </a:p>
        </p:txBody>
      </p:sp>
      <p:sp>
        <p:nvSpPr>
          <p:cNvPr id="10" name="I:category">
            <a:extLst>
              <a:ext uri="{FF2B5EF4-FFF2-40B4-BE49-F238E27FC236}">
                <a16:creationId xmlns:a16="http://schemas.microsoft.com/office/drawing/2014/main" id="{F35F2269-3784-49E9-929B-07775D2EC05A}"/>
              </a:ext>
            </a:extLst>
          </p:cNvPr>
          <p:cNvSpPr>
            <a:spLocks noGrp="1"/>
          </p:cNvSpPr>
          <p:nvPr/>
        </p:nvSpPr>
        <p:spPr>
          <a:xfrm>
            <a:off x="0" y="923925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11" name="I:project">
            <a:extLst>
              <a:ext uri="{FF2B5EF4-FFF2-40B4-BE49-F238E27FC236}">
                <a16:creationId xmlns:a16="http://schemas.microsoft.com/office/drawing/2014/main" id="{2FB5C91C-5019-496F-B16D-5DB52278611D}"/>
              </a:ext>
            </a:extLst>
          </p:cNvPr>
          <p:cNvSpPr>
            <a:spLocks noGrp="1"/>
          </p:cNvSpPr>
          <p:nvPr/>
        </p:nvSpPr>
        <p:spPr>
          <a:xfrm>
            <a:off x="1171575" y="9144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상담 데이터 분석을 통한 후순위 대출 제휴 확대</a:t>
            </a:r>
          </a:p>
        </p:txBody>
      </p:sp>
      <p:sp>
        <p:nvSpPr>
          <p:cNvPr id="12" name="I:page">
            <a:extLst>
              <a:ext uri="{FF2B5EF4-FFF2-40B4-BE49-F238E27FC236}">
                <a16:creationId xmlns:a16="http://schemas.microsoft.com/office/drawing/2014/main" id="{3DFA3E46-658D-4424-B82F-0EB765972277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20</a:t>
            </a:r>
          </a:p>
        </p:txBody>
      </p:sp>
      <p:sp>
        <p:nvSpPr>
          <p:cNvPr id="13" name="I:section 0">
            <a:extLst>
              <a:ext uri="{FF2B5EF4-FFF2-40B4-BE49-F238E27FC236}">
                <a16:creationId xmlns:a16="http://schemas.microsoft.com/office/drawing/2014/main" id="{6E67450F-8C13-4588-A412-B29E6F3FD234}"/>
              </a:ext>
            </a:extLst>
          </p:cNvPr>
          <p:cNvSpPr>
            <a:spLocks noGrp="1"/>
          </p:cNvSpPr>
          <p:nvPr/>
        </p:nvSpPr>
        <p:spPr>
          <a:xfrm>
            <a:off x="1000125" y="179070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문제 의식 및 목표</a:t>
            </a:r>
          </a:p>
        </p:txBody>
      </p:sp>
      <p:sp>
        <p:nvSpPr>
          <p:cNvPr id="14" name="I:body 0">
            <a:extLst>
              <a:ext uri="{FF2B5EF4-FFF2-40B4-BE49-F238E27FC236}">
                <a16:creationId xmlns:a16="http://schemas.microsoft.com/office/drawing/2014/main" id="{277E1358-DB2E-4885-B108-188ADF694A33}"/>
              </a:ext>
            </a:extLst>
          </p:cNvPr>
          <p:cNvSpPr>
            <a:spLocks noGrp="1"/>
          </p:cNvSpPr>
          <p:nvPr/>
        </p:nvSpPr>
        <p:spPr>
          <a:xfrm>
            <a:off x="1000125" y="2105025"/>
            <a:ext cx="44577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상담 신청 이후 대출 미실행 원인 분석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미실행 사용자 34%의 대출 한도 부족 확인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기존 상품으로 충족하지 못한 추가 자금 수요 발견</a:t>
            </a:r>
          </a:p>
        </p:txBody>
      </p:sp>
      <p:sp>
        <p:nvSpPr>
          <p:cNvPr id="15" name="I:section 1">
            <a:extLst>
              <a:ext uri="{FF2B5EF4-FFF2-40B4-BE49-F238E27FC236}">
                <a16:creationId xmlns:a16="http://schemas.microsoft.com/office/drawing/2014/main" id="{5C8116EC-4DE8-4553-A8BA-03589A8FBCEA}"/>
              </a:ext>
            </a:extLst>
          </p:cNvPr>
          <p:cNvSpPr>
            <a:spLocks noGrp="1"/>
          </p:cNvSpPr>
          <p:nvPr/>
        </p:nvSpPr>
        <p:spPr>
          <a:xfrm>
            <a:off x="1000125" y="286702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주요 업무</a:t>
            </a:r>
          </a:p>
        </p:txBody>
      </p:sp>
      <p:sp>
        <p:nvSpPr>
          <p:cNvPr id="16" name="I:body 1">
            <a:extLst>
              <a:ext uri="{FF2B5EF4-FFF2-40B4-BE49-F238E27FC236}">
                <a16:creationId xmlns:a16="http://schemas.microsoft.com/office/drawing/2014/main" id="{61B2A507-70B9-46E0-AC0F-A48404FE201E}"/>
              </a:ext>
            </a:extLst>
          </p:cNvPr>
          <p:cNvSpPr>
            <a:spLocks noGrp="1"/>
          </p:cNvSpPr>
          <p:nvPr/>
        </p:nvSpPr>
        <p:spPr>
          <a:xfrm>
            <a:off x="1000125" y="3181350"/>
            <a:ext cx="4457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제휴사 콜센터 상담 데이터 수천 건 분석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상담 이후 미실행 사유를 유형별로 분류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추가 자금 수요에 대응할 후순위 대출사 발굴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제휴 상품을 서비스에 연동하고 성과 확인</a:t>
            </a:r>
          </a:p>
        </p:txBody>
      </p:sp>
      <p:sp>
        <p:nvSpPr>
          <p:cNvPr id="17" name="I:section 2">
            <a:extLst>
              <a:ext uri="{FF2B5EF4-FFF2-40B4-BE49-F238E27FC236}">
                <a16:creationId xmlns:a16="http://schemas.microsoft.com/office/drawing/2014/main" id="{D1D779F2-31F0-4F3D-89B5-748558F566AF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결과/성과</a:t>
            </a:r>
          </a:p>
        </p:txBody>
      </p:sp>
      <p:sp>
        <p:nvSpPr>
          <p:cNvPr id="18" name="I:body 2">
            <a:extLst>
              <a:ext uri="{FF2B5EF4-FFF2-40B4-BE49-F238E27FC236}">
                <a16:creationId xmlns:a16="http://schemas.microsoft.com/office/drawing/2014/main" id="{8F75158F-D364-4683-BAEB-B8D5B2224173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44577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후순위 대출 취급 금융사 </a:t>
            </a:r>
            <a:r>
              <a:rPr sz="132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3개</a:t>
            </a: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 연동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전체 매출에서 후순위 제휴사 비중 최대 </a:t>
            </a:r>
            <a:r>
              <a:rPr sz="132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28%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기존 한도로 충족하지 못한 자금 수요에 대응</a:t>
            </a:r>
          </a:p>
        </p:txBody>
      </p:sp>
      <p:sp>
        <p:nvSpPr>
          <p:cNvPr id="19" name="I:section 3">
            <a:extLst>
              <a:ext uri="{FF2B5EF4-FFF2-40B4-BE49-F238E27FC236}">
                <a16:creationId xmlns:a16="http://schemas.microsoft.com/office/drawing/2014/main" id="{1FEF0D3E-B9D7-4DB6-8B7C-E4DD734CE5F0}"/>
              </a:ext>
            </a:extLst>
          </p:cNvPr>
          <p:cNvSpPr>
            <a:spLocks noGrp="1"/>
          </p:cNvSpPr>
          <p:nvPr/>
        </p:nvSpPr>
        <p:spPr>
          <a:xfrm>
            <a:off x="1000125" y="5600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담당 역할</a:t>
            </a:r>
          </a:p>
        </p:txBody>
      </p:sp>
      <p:sp>
        <p:nvSpPr>
          <p:cNvPr id="20" name="I:body 3">
            <a:extLst>
              <a:ext uri="{FF2B5EF4-FFF2-40B4-BE49-F238E27FC236}">
                <a16:creationId xmlns:a16="http://schemas.microsoft.com/office/drawing/2014/main" id="{1BB415DD-0B0A-407E-B057-224892A0E43F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3600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제품 총괄·실험·서비스 기획</a:t>
            </a:r>
          </a:p>
        </p:txBody>
      </p:sp>
      <p:sp>
        <p:nvSpPr>
          <p:cNvPr id="21" name="I:evidence caption">
            <a:extLst>
              <a:ext uri="{FF2B5EF4-FFF2-40B4-BE49-F238E27FC236}">
                <a16:creationId xmlns:a16="http://schemas.microsoft.com/office/drawing/2014/main" id="{FCA84695-0995-4437-BF3F-5C6D78835D42}"/>
              </a:ext>
            </a:extLst>
          </p:cNvPr>
          <p:cNvSpPr>
            <a:spLocks noGrp="1"/>
          </p:cNvSpPr>
          <p:nvPr/>
        </p:nvSpPr>
        <p:spPr>
          <a:xfrm>
            <a:off x="6096000" y="1676400"/>
            <a:ext cx="5600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상담 분석을 바탕으로 확대한 대출 상품</a:t>
            </a:r>
          </a:p>
        </p:txBody>
      </p:sp>
      <p:sp>
        <p:nvSpPr>
          <p:cNvPr id="22" name="I:disclosure">
            <a:extLst>
              <a:ext uri="{FF2B5EF4-FFF2-40B4-BE49-F238E27FC236}">
                <a16:creationId xmlns:a16="http://schemas.microsoft.com/office/drawing/2014/main" id="{E5E1AD0E-9872-437A-A516-8486E8B8BA1B}"/>
              </a:ext>
            </a:extLst>
          </p:cNvPr>
          <p:cNvSpPr>
            <a:spLocks noGrp="1"/>
          </p:cNvSpPr>
          <p:nvPr/>
        </p:nvSpPr>
        <p:spPr>
          <a:xfrm>
            <a:off x="6096000" y="6410325"/>
            <a:ext cx="5486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공개 가능한 범위의 내부 자료 발췌 · 일부 데이터 비식별화</a:t>
            </a:r>
          </a:p>
        </p:txBody>
      </p:sp>
      <p:sp>
        <p:nvSpPr>
          <p:cNvPr id="9901" name="Role contribution label">
            <a:extLst>
              <a:ext uri="{FF2B5EF4-FFF2-40B4-BE49-F238E27FC236}">
                <a16:creationId xmlns:a16="http://schemas.microsoft.com/office/drawing/2014/main" id="{238F0AC5-ECA2-4677-AA65-24163EA6AB07}"/>
              </a:ext>
            </a:extLst>
          </p:cNvPr>
          <p:cNvSpPr>
            <a:spLocks noGrp="1"/>
          </p:cNvSpPr>
          <p:nvPr/>
        </p:nvSpPr>
        <p:spPr>
          <a:xfrm>
            <a:off x="1000125" y="58769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기획 기여도</a:t>
            </a:r>
          </a:p>
        </p:txBody>
      </p:sp>
      <p:sp>
        <p:nvSpPr>
          <p:cNvPr id="9902" name="Role contribution value">
            <a:extLst>
              <a:ext uri="{FF2B5EF4-FFF2-40B4-BE49-F238E27FC236}">
                <a16:creationId xmlns:a16="http://schemas.microsoft.com/office/drawing/2014/main" id="{83CE3414-E88E-41DA-99F5-2533A2E86E2E}"/>
              </a:ext>
            </a:extLst>
          </p:cNvPr>
          <p:cNvSpPr>
            <a:spLocks noGrp="1"/>
          </p:cNvSpPr>
          <p:nvPr/>
        </p:nvSpPr>
        <p:spPr>
          <a:xfrm>
            <a:off x="1905000" y="5876925"/>
            <a:ext cx="3600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100%</a:t>
            </a:r>
          </a:p>
        </p:txBody>
      </p:sp>
      <p:sp>
        <p:nvSpPr>
          <p:cNvPr id="9903" name="Team label">
            <a:extLst>
              <a:ext uri="{FF2B5EF4-FFF2-40B4-BE49-F238E27FC236}">
                <a16:creationId xmlns:a16="http://schemas.microsoft.com/office/drawing/2014/main" id="{AE5EB81C-540F-4D5D-A683-1441855317B5}"/>
              </a:ext>
            </a:extLst>
          </p:cNvPr>
          <p:cNvSpPr>
            <a:spLocks noGrp="1"/>
          </p:cNvSpPr>
          <p:nvPr/>
        </p:nvSpPr>
        <p:spPr>
          <a:xfrm>
            <a:off x="1000125" y="61531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협업 구성</a:t>
            </a:r>
          </a:p>
        </p:txBody>
      </p:sp>
      <p:sp>
        <p:nvSpPr>
          <p:cNvPr id="9904" name="Team value">
            <a:extLst>
              <a:ext uri="{FF2B5EF4-FFF2-40B4-BE49-F238E27FC236}">
                <a16:creationId xmlns:a16="http://schemas.microsoft.com/office/drawing/2014/main" id="{77982D1B-EFB5-4903-B039-E5DCBE45E901}"/>
              </a:ext>
            </a:extLst>
          </p:cNvPr>
          <p:cNvSpPr>
            <a:spLocks noGrp="1"/>
          </p:cNvSpPr>
          <p:nvPr/>
        </p:nvSpPr>
        <p:spPr>
          <a:xfrm>
            <a:off x="1905000" y="61531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rPr>
              <a:t>디자인 1명, 개발 5명, 분석 1명, 사업개발 3명</a:t>
            </a:r>
          </a:p>
        </p:txBody>
      </p:sp>
    </p:spTree>
    <p:extLst>
      <p:ext uri="{BB962C8B-B14F-4D97-AF65-F5344CB8AC3E}">
        <p14:creationId xmlns:p14="http://schemas.microsoft.com/office/powerpoint/2010/main" val="1682160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27">
            <a:extLst>
              <a:ext uri="{FF2B5EF4-FFF2-40B4-BE49-F238E27FC236}">
                <a16:creationId xmlns:a16="http://schemas.microsoft.com/office/drawing/2014/main" id="{B5392755-5865-F9B0-8A6B-497FC1FEFB7F}"/>
              </a:ext>
            </a:extLst>
          </p:cNvPr>
          <p:cNvSpPr>
            <a:spLocks noGrp="1"/>
          </p:cNvSpPr>
          <p:nvPr/>
        </p:nvSpPr>
        <p:spPr>
          <a:xfrm>
            <a:off x="0" y="824999"/>
            <a:ext cx="1041400" cy="4012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직사각형 24">
            <a:extLst>
              <a:ext uri="{FF2B5EF4-FFF2-40B4-BE49-F238E27FC236}">
                <a16:creationId xmlns:a16="http://schemas.microsoft.com/office/drawing/2014/main" id="{9300C823-004B-CBFA-D2AC-54CAF748651A}"/>
              </a:ext>
            </a:extLst>
          </p:cNvPr>
          <p:cNvSpPr>
            <a:spLocks noGrp="1"/>
          </p:cNvSpPr>
          <p:nvPr/>
        </p:nvSpPr>
        <p:spPr>
          <a:xfrm>
            <a:off x="0" y="56308"/>
            <a:ext cx="12192000" cy="595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직사각형 50">
            <a:extLst>
              <a:ext uri="{FF2B5EF4-FFF2-40B4-BE49-F238E27FC236}">
                <a16:creationId xmlns:a16="http://schemas.microsoft.com/office/drawing/2014/main" id="{3A7B5860-8D32-C866-0A67-DA9795350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선 연결선 15">
            <a:extLst>
              <a:ext uri="{FF2B5EF4-FFF2-40B4-BE49-F238E27FC236}">
                <a16:creationId xmlns:a16="http://schemas.microsoft.com/office/drawing/2014/main" id="{95C1A325-505D-4B67-8F4F-385E5E9505B2}"/>
              </a:ext>
            </a:extLst>
          </p:cNvPr>
          <p:cNvSpPr>
            <a:spLocks noGrp="1"/>
          </p:cNvSpPr>
          <p:nvPr/>
        </p:nvSpPr>
        <p:spPr>
          <a:xfrm>
            <a:off x="0" y="1229505"/>
            <a:ext cx="4204447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6" name="직사각형 16">
            <a:extLst>
              <a:ext uri="{FF2B5EF4-FFF2-40B4-BE49-F238E27FC236}">
                <a16:creationId xmlns:a16="http://schemas.microsoft.com/office/drawing/2014/main" id="{BB03FEB3-BCA6-E72B-25F6-6F59200B89FF}"/>
              </a:ext>
            </a:extLst>
          </p:cNvPr>
          <p:cNvSpPr>
            <a:spLocks noGrp="1"/>
          </p:cNvSpPr>
          <p:nvPr/>
        </p:nvSpPr>
        <p:spPr>
          <a:xfrm>
            <a:off x="762759" y="1601182"/>
            <a:ext cx="4931893" cy="4891685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grpSp>
        <p:nvGrpSpPr>
          <p:cNvPr id="7" name="Original evidence"/>
          <p:cNvGrpSpPr/>
          <p:nvPr/>
        </p:nvGrpSpPr>
        <p:grpSpPr>
          <a:xfrm>
            <a:off x="6665609" y="2047875"/>
            <a:ext cx="4461481" cy="4238625"/>
            <a:chOff x="6497350" y="1676400"/>
            <a:chExt cx="4406467" cy="4186359"/>
          </a:xfrm>
        </p:grpSpPr>
        <p:pic>
          <p:nvPicPr>
            <p:cNvPr id="8" name="그림 1">
              <a:extLst>
                <a:ext uri="{FF2B5EF4-FFF2-40B4-BE49-F238E27FC236}">
                  <a16:creationId xmlns:a16="http://schemas.microsoft.com/office/drawing/2014/main" id="{70145BF1-0254-5558-B848-E03D80D98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97350" y="1676400"/>
              <a:ext cx="4406467" cy="4186359"/>
            </a:xfrm>
            <a:prstGeom prst="rect">
              <a:avLst/>
            </a:prstGeom>
          </p:spPr>
        </p:pic>
      </p:grpSp>
      <p:sp>
        <p:nvSpPr>
          <p:cNvPr id="9" name="I:header">
            <a:extLst>
              <a:ext uri="{FF2B5EF4-FFF2-40B4-BE49-F238E27FC236}">
                <a16:creationId xmlns:a16="http://schemas.microsoft.com/office/drawing/2014/main" id="{33EA0AA7-1471-424C-AF01-415CB347B71B}"/>
              </a:ext>
            </a:extLst>
          </p:cNvPr>
          <p:cNvSpPr>
            <a:spLocks noGrp="1"/>
          </p:cNvSpPr>
          <p:nvPr/>
        </p:nvSpPr>
        <p:spPr>
          <a:xfrm>
            <a:off x="190500" y="2000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토스 / 대출 Product Owner</a:t>
            </a:r>
          </a:p>
        </p:txBody>
      </p:sp>
      <p:sp>
        <p:nvSpPr>
          <p:cNvPr id="10" name="I:category">
            <a:extLst>
              <a:ext uri="{FF2B5EF4-FFF2-40B4-BE49-F238E27FC236}">
                <a16:creationId xmlns:a16="http://schemas.microsoft.com/office/drawing/2014/main" id="{6DA5BB99-98CC-4F65-8CE0-2252D2F979FE}"/>
              </a:ext>
            </a:extLst>
          </p:cNvPr>
          <p:cNvSpPr>
            <a:spLocks noGrp="1"/>
          </p:cNvSpPr>
          <p:nvPr/>
        </p:nvSpPr>
        <p:spPr>
          <a:xfrm>
            <a:off x="0" y="923925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11" name="I:project">
            <a:extLst>
              <a:ext uri="{FF2B5EF4-FFF2-40B4-BE49-F238E27FC236}">
                <a16:creationId xmlns:a16="http://schemas.microsoft.com/office/drawing/2014/main" id="{25D233D8-0EB5-44A8-BB3C-B7DD900B65E1}"/>
              </a:ext>
            </a:extLst>
          </p:cNvPr>
          <p:cNvSpPr>
            <a:spLocks noGrp="1"/>
          </p:cNvSpPr>
          <p:nvPr/>
        </p:nvSpPr>
        <p:spPr>
          <a:xfrm>
            <a:off x="1171575" y="9144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시장 금리 비교 정보 제공을 통한 전환율 개선</a:t>
            </a:r>
          </a:p>
        </p:txBody>
      </p:sp>
      <p:sp>
        <p:nvSpPr>
          <p:cNvPr id="12" name="I:page">
            <a:extLst>
              <a:ext uri="{FF2B5EF4-FFF2-40B4-BE49-F238E27FC236}">
                <a16:creationId xmlns:a16="http://schemas.microsoft.com/office/drawing/2014/main" id="{28ED20F0-DE47-4A3E-9888-4038D8647483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21</a:t>
            </a:r>
          </a:p>
        </p:txBody>
      </p:sp>
      <p:sp>
        <p:nvSpPr>
          <p:cNvPr id="13" name="I:section 0">
            <a:extLst>
              <a:ext uri="{FF2B5EF4-FFF2-40B4-BE49-F238E27FC236}">
                <a16:creationId xmlns:a16="http://schemas.microsoft.com/office/drawing/2014/main" id="{C1A8931D-DEDB-4509-8547-E1720122270B}"/>
              </a:ext>
            </a:extLst>
          </p:cNvPr>
          <p:cNvSpPr>
            <a:spLocks noGrp="1"/>
          </p:cNvSpPr>
          <p:nvPr/>
        </p:nvSpPr>
        <p:spPr>
          <a:xfrm>
            <a:off x="1000125" y="179070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문제 의식 및 목표</a:t>
            </a:r>
          </a:p>
        </p:txBody>
      </p:sp>
      <p:sp>
        <p:nvSpPr>
          <p:cNvPr id="14" name="I:body 0">
            <a:extLst>
              <a:ext uri="{FF2B5EF4-FFF2-40B4-BE49-F238E27FC236}">
                <a16:creationId xmlns:a16="http://schemas.microsoft.com/office/drawing/2014/main" id="{77A9A277-E56D-4332-95E1-0970DCCA4B71}"/>
              </a:ext>
            </a:extLst>
          </p:cNvPr>
          <p:cNvSpPr>
            <a:spLocks noGrp="1"/>
          </p:cNvSpPr>
          <p:nvPr/>
        </p:nvSpPr>
        <p:spPr>
          <a:xfrm>
            <a:off x="1000125" y="2105025"/>
            <a:ext cx="44577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제휴 금리 인하 대비 기대에 미치지 못한 전환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상품 경쟁력 판단을 위한 비교 정보 부족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시장 평균 금리 제시를 통한 선택 지원 가설</a:t>
            </a:r>
          </a:p>
        </p:txBody>
      </p:sp>
      <p:sp>
        <p:nvSpPr>
          <p:cNvPr id="15" name="I:section 1">
            <a:extLst>
              <a:ext uri="{FF2B5EF4-FFF2-40B4-BE49-F238E27FC236}">
                <a16:creationId xmlns:a16="http://schemas.microsoft.com/office/drawing/2014/main" id="{FB0186A1-9C08-40CB-8E34-FC5867EDEAAE}"/>
              </a:ext>
            </a:extLst>
          </p:cNvPr>
          <p:cNvSpPr>
            <a:spLocks noGrp="1"/>
          </p:cNvSpPr>
          <p:nvPr/>
        </p:nvSpPr>
        <p:spPr>
          <a:xfrm>
            <a:off x="1000125" y="286702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주요 업무</a:t>
            </a:r>
          </a:p>
        </p:txBody>
      </p:sp>
      <p:sp>
        <p:nvSpPr>
          <p:cNvPr id="16" name="I:body 1">
            <a:extLst>
              <a:ext uri="{FF2B5EF4-FFF2-40B4-BE49-F238E27FC236}">
                <a16:creationId xmlns:a16="http://schemas.microsoft.com/office/drawing/2014/main" id="{28AA38E6-3D86-4A04-B5B8-27521523E33C}"/>
              </a:ext>
            </a:extLst>
          </p:cNvPr>
          <p:cNvSpPr>
            <a:spLocks noGrp="1"/>
          </p:cNvSpPr>
          <p:nvPr/>
        </p:nvSpPr>
        <p:spPr>
          <a:xfrm>
            <a:off x="1000125" y="3181350"/>
            <a:ext cx="4457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공시된 시중 평균 금리를 비교 기준으로 활용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기존 화면과 금리 비교 정보를 추가한 실험안 설계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A/B 테스트로 사용자 반응과 최종 전환율 비교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효과가 확인된 비교 정보 노출 방식 적용</a:t>
            </a:r>
          </a:p>
        </p:txBody>
      </p:sp>
      <p:sp>
        <p:nvSpPr>
          <p:cNvPr id="17" name="I:section 2">
            <a:extLst>
              <a:ext uri="{FF2B5EF4-FFF2-40B4-BE49-F238E27FC236}">
                <a16:creationId xmlns:a16="http://schemas.microsoft.com/office/drawing/2014/main" id="{572FD26E-EF47-458C-860C-26BC8ADF148D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결과/성과</a:t>
            </a:r>
          </a:p>
        </p:txBody>
      </p:sp>
      <p:sp>
        <p:nvSpPr>
          <p:cNvPr id="18" name="I:body 2">
            <a:extLst>
              <a:ext uri="{FF2B5EF4-FFF2-40B4-BE49-F238E27FC236}">
                <a16:creationId xmlns:a16="http://schemas.microsoft.com/office/drawing/2014/main" id="{9252F20D-7562-4E17-939A-A0B91716A911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44577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최종 전환율 </a:t>
            </a:r>
            <a:r>
              <a:rPr sz="132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22%</a:t>
            </a: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 상승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상품 선택에 필요한 금리 비교 맥락 제공</a:t>
            </a:r>
          </a:p>
        </p:txBody>
      </p:sp>
      <p:sp>
        <p:nvSpPr>
          <p:cNvPr id="19" name="I:section 3">
            <a:extLst>
              <a:ext uri="{FF2B5EF4-FFF2-40B4-BE49-F238E27FC236}">
                <a16:creationId xmlns:a16="http://schemas.microsoft.com/office/drawing/2014/main" id="{2BDDBF56-2E2C-4545-A1EC-10BBC01B919C}"/>
              </a:ext>
            </a:extLst>
          </p:cNvPr>
          <p:cNvSpPr>
            <a:spLocks noGrp="1"/>
          </p:cNvSpPr>
          <p:nvPr/>
        </p:nvSpPr>
        <p:spPr>
          <a:xfrm>
            <a:off x="1000125" y="5600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담당 역할</a:t>
            </a:r>
          </a:p>
        </p:txBody>
      </p:sp>
      <p:sp>
        <p:nvSpPr>
          <p:cNvPr id="20" name="I:body 3">
            <a:extLst>
              <a:ext uri="{FF2B5EF4-FFF2-40B4-BE49-F238E27FC236}">
                <a16:creationId xmlns:a16="http://schemas.microsoft.com/office/drawing/2014/main" id="{5B5B55A5-F893-4E34-BC87-484ADAA2264B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3600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제품 총괄·실험·서비스 기획</a:t>
            </a:r>
          </a:p>
        </p:txBody>
      </p:sp>
      <p:sp>
        <p:nvSpPr>
          <p:cNvPr id="21" name="I:evidence caption">
            <a:extLst>
              <a:ext uri="{FF2B5EF4-FFF2-40B4-BE49-F238E27FC236}">
                <a16:creationId xmlns:a16="http://schemas.microsoft.com/office/drawing/2014/main" id="{E06B1140-1C50-4067-A279-7EDAE4870D36}"/>
              </a:ext>
            </a:extLst>
          </p:cNvPr>
          <p:cNvSpPr>
            <a:spLocks noGrp="1"/>
          </p:cNvSpPr>
          <p:nvPr/>
        </p:nvSpPr>
        <p:spPr>
          <a:xfrm>
            <a:off x="6096000" y="1676400"/>
            <a:ext cx="5600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금리 비교 정보를 추가한 A/B 테스트 실험안</a:t>
            </a:r>
          </a:p>
        </p:txBody>
      </p:sp>
      <p:sp>
        <p:nvSpPr>
          <p:cNvPr id="22" name="I:disclosure">
            <a:extLst>
              <a:ext uri="{FF2B5EF4-FFF2-40B4-BE49-F238E27FC236}">
                <a16:creationId xmlns:a16="http://schemas.microsoft.com/office/drawing/2014/main" id="{AD2147DA-DF61-4C2B-AD65-5A8AC05A74CA}"/>
              </a:ext>
            </a:extLst>
          </p:cNvPr>
          <p:cNvSpPr>
            <a:spLocks noGrp="1"/>
          </p:cNvSpPr>
          <p:nvPr/>
        </p:nvSpPr>
        <p:spPr>
          <a:xfrm>
            <a:off x="6096000" y="6410325"/>
            <a:ext cx="5486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공개 가능한 범위의 내부 자료 발췌 · 일부 데이터 비식별화</a:t>
            </a:r>
          </a:p>
        </p:txBody>
      </p:sp>
      <p:sp>
        <p:nvSpPr>
          <p:cNvPr id="9901" name="Role contribution label">
            <a:extLst>
              <a:ext uri="{FF2B5EF4-FFF2-40B4-BE49-F238E27FC236}">
                <a16:creationId xmlns:a16="http://schemas.microsoft.com/office/drawing/2014/main" id="{D7FF52C9-4599-4760-B520-3797A82597A2}"/>
              </a:ext>
            </a:extLst>
          </p:cNvPr>
          <p:cNvSpPr>
            <a:spLocks noGrp="1"/>
          </p:cNvSpPr>
          <p:nvPr/>
        </p:nvSpPr>
        <p:spPr>
          <a:xfrm>
            <a:off x="1000125" y="58769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기획 기여도</a:t>
            </a:r>
          </a:p>
        </p:txBody>
      </p:sp>
      <p:sp>
        <p:nvSpPr>
          <p:cNvPr id="9902" name="Role contribution value">
            <a:extLst>
              <a:ext uri="{FF2B5EF4-FFF2-40B4-BE49-F238E27FC236}">
                <a16:creationId xmlns:a16="http://schemas.microsoft.com/office/drawing/2014/main" id="{979E0781-1C94-4047-AD16-9918778C97B3}"/>
              </a:ext>
            </a:extLst>
          </p:cNvPr>
          <p:cNvSpPr>
            <a:spLocks noGrp="1"/>
          </p:cNvSpPr>
          <p:nvPr/>
        </p:nvSpPr>
        <p:spPr>
          <a:xfrm>
            <a:off x="1905000" y="5876925"/>
            <a:ext cx="3600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100%</a:t>
            </a:r>
          </a:p>
        </p:txBody>
      </p:sp>
      <p:sp>
        <p:nvSpPr>
          <p:cNvPr id="9903" name="Team label">
            <a:extLst>
              <a:ext uri="{FF2B5EF4-FFF2-40B4-BE49-F238E27FC236}">
                <a16:creationId xmlns:a16="http://schemas.microsoft.com/office/drawing/2014/main" id="{F279E569-9685-429F-88E7-7B17AB22647E}"/>
              </a:ext>
            </a:extLst>
          </p:cNvPr>
          <p:cNvSpPr>
            <a:spLocks noGrp="1"/>
          </p:cNvSpPr>
          <p:nvPr/>
        </p:nvSpPr>
        <p:spPr>
          <a:xfrm>
            <a:off x="1000125" y="61531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협업 구성</a:t>
            </a:r>
          </a:p>
        </p:txBody>
      </p:sp>
      <p:sp>
        <p:nvSpPr>
          <p:cNvPr id="9904" name="Team value">
            <a:extLst>
              <a:ext uri="{FF2B5EF4-FFF2-40B4-BE49-F238E27FC236}">
                <a16:creationId xmlns:a16="http://schemas.microsoft.com/office/drawing/2014/main" id="{AC174E0F-33F0-4B8D-B78D-164AC5BBE0C5}"/>
              </a:ext>
            </a:extLst>
          </p:cNvPr>
          <p:cNvSpPr>
            <a:spLocks noGrp="1"/>
          </p:cNvSpPr>
          <p:nvPr/>
        </p:nvSpPr>
        <p:spPr>
          <a:xfrm>
            <a:off x="1905000" y="61531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rPr>
              <a:t>디자인 1명, 개발 5명, 분석 1명, 사업개발 3명</a:t>
            </a:r>
          </a:p>
        </p:txBody>
      </p:sp>
    </p:spTree>
    <p:extLst>
      <p:ext uri="{BB962C8B-B14F-4D97-AF65-F5344CB8AC3E}">
        <p14:creationId xmlns:p14="http://schemas.microsoft.com/office/powerpoint/2010/main" val="1381856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27">
            <a:extLst>
              <a:ext uri="{FF2B5EF4-FFF2-40B4-BE49-F238E27FC236}">
                <a16:creationId xmlns:a16="http://schemas.microsoft.com/office/drawing/2014/main" id="{B5392755-5865-F9B0-8A6B-497FC1FEFB7F}"/>
              </a:ext>
            </a:extLst>
          </p:cNvPr>
          <p:cNvSpPr>
            <a:spLocks noGrp="1"/>
          </p:cNvSpPr>
          <p:nvPr/>
        </p:nvSpPr>
        <p:spPr>
          <a:xfrm>
            <a:off x="0" y="824999"/>
            <a:ext cx="1041400" cy="4012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직사각형 24">
            <a:extLst>
              <a:ext uri="{FF2B5EF4-FFF2-40B4-BE49-F238E27FC236}">
                <a16:creationId xmlns:a16="http://schemas.microsoft.com/office/drawing/2014/main" id="{9300C823-004B-CBFA-D2AC-54CAF748651A}"/>
              </a:ext>
            </a:extLst>
          </p:cNvPr>
          <p:cNvSpPr>
            <a:spLocks noGrp="1"/>
          </p:cNvSpPr>
          <p:nvPr/>
        </p:nvSpPr>
        <p:spPr>
          <a:xfrm>
            <a:off x="0" y="56308"/>
            <a:ext cx="12192000" cy="595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직사각형 50">
            <a:extLst>
              <a:ext uri="{FF2B5EF4-FFF2-40B4-BE49-F238E27FC236}">
                <a16:creationId xmlns:a16="http://schemas.microsoft.com/office/drawing/2014/main" id="{3A7B5860-8D32-C866-0A67-DA9795350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선 연결선 15">
            <a:extLst>
              <a:ext uri="{FF2B5EF4-FFF2-40B4-BE49-F238E27FC236}">
                <a16:creationId xmlns:a16="http://schemas.microsoft.com/office/drawing/2014/main" id="{95C1A325-505D-4B67-8F4F-385E5E9505B2}"/>
              </a:ext>
            </a:extLst>
          </p:cNvPr>
          <p:cNvSpPr>
            <a:spLocks noGrp="1"/>
          </p:cNvSpPr>
          <p:nvPr/>
        </p:nvSpPr>
        <p:spPr>
          <a:xfrm>
            <a:off x="0" y="1229505"/>
            <a:ext cx="4204447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6" name="직사각형 10">
            <a:extLst>
              <a:ext uri="{FF2B5EF4-FFF2-40B4-BE49-F238E27FC236}">
                <a16:creationId xmlns:a16="http://schemas.microsoft.com/office/drawing/2014/main" id="{F6C2D986-C389-419E-077F-45B099B6995C}"/>
              </a:ext>
            </a:extLst>
          </p:cNvPr>
          <p:cNvSpPr/>
          <p:nvPr/>
        </p:nvSpPr>
        <p:spPr>
          <a:xfrm>
            <a:off x="104279" y="1467681"/>
            <a:ext cx="4410572" cy="5334011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7" name="직사각형 14">
            <a:extLst>
              <a:ext uri="{FF2B5EF4-FFF2-40B4-BE49-F238E27FC236}">
                <a16:creationId xmlns:a16="http://schemas.microsoft.com/office/drawing/2014/main" id="{A5BF6236-65A7-2958-A100-59AECB665CC4}"/>
              </a:ext>
            </a:extLst>
          </p:cNvPr>
          <p:cNvSpPr/>
          <p:nvPr/>
        </p:nvSpPr>
        <p:spPr>
          <a:xfrm>
            <a:off x="4667270" y="1467680"/>
            <a:ext cx="3271670" cy="5334011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grpSp>
        <p:nvGrpSpPr>
          <p:cNvPr id="8" name="그룹 34">
            <a:extLst>
              <a:ext uri="{FF2B5EF4-FFF2-40B4-BE49-F238E27FC236}">
                <a16:creationId xmlns:a16="http://schemas.microsoft.com/office/drawing/2014/main" id="{96EA8CD4-E2E8-7D52-462E-4589CBC77BE2}"/>
              </a:ext>
            </a:extLst>
          </p:cNvPr>
          <p:cNvGrpSpPr/>
          <p:nvPr/>
        </p:nvGrpSpPr>
        <p:grpSpPr>
          <a:xfrm>
            <a:off x="5304251" y="1682044"/>
            <a:ext cx="2028550" cy="3523393"/>
            <a:chOff x="5851451" y="2013566"/>
            <a:chExt cx="2028550" cy="3523393"/>
          </a:xfrm>
        </p:grpSpPr>
        <p:pic>
          <p:nvPicPr>
            <p:cNvPr id="9" name="그림 13">
              <a:extLst>
                <a:ext uri="{FF2B5EF4-FFF2-40B4-BE49-F238E27FC236}">
                  <a16:creationId xmlns:a16="http://schemas.microsoft.com/office/drawing/2014/main" id="{EBF6597B-C586-92B3-A0AB-7457DDBC6F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11349"/>
            <a:stretch/>
          </p:blipFill>
          <p:spPr>
            <a:xfrm>
              <a:off x="5851451" y="2013566"/>
              <a:ext cx="2028550" cy="3523393"/>
            </a:xfrm>
            <a:prstGeom prst="rect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</a:ln>
          </p:spPr>
        </p:pic>
        <p:sp>
          <p:nvSpPr>
            <p:cNvPr id="10" name="직사각형 23">
              <a:extLst>
                <a:ext uri="{FF2B5EF4-FFF2-40B4-BE49-F238E27FC236}">
                  <a16:creationId xmlns:a16="http://schemas.microsoft.com/office/drawing/2014/main" id="{266CE2ED-FD41-445E-1E70-F11A159F18A2}"/>
                </a:ext>
              </a:extLst>
            </p:cNvPr>
            <p:cNvSpPr/>
            <p:nvPr/>
          </p:nvSpPr>
          <p:spPr>
            <a:xfrm>
              <a:off x="6203172" y="2881025"/>
              <a:ext cx="292878" cy="192375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1" name="직사각형 36">
            <a:extLst>
              <a:ext uri="{FF2B5EF4-FFF2-40B4-BE49-F238E27FC236}">
                <a16:creationId xmlns:a16="http://schemas.microsoft.com/office/drawing/2014/main" id="{EDC6E24C-8664-5183-7A32-EFAC825402C3}"/>
              </a:ext>
            </a:extLst>
          </p:cNvPr>
          <p:cNvSpPr/>
          <p:nvPr/>
        </p:nvSpPr>
        <p:spPr>
          <a:xfrm>
            <a:off x="8091360" y="1467680"/>
            <a:ext cx="3917138" cy="5334011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pic>
        <p:nvPicPr>
          <p:cNvPr id="12" name="그림 46">
            <a:extLst>
              <a:ext uri="{FF2B5EF4-FFF2-40B4-BE49-F238E27FC236}">
                <a16:creationId xmlns:a16="http://schemas.microsoft.com/office/drawing/2014/main" id="{C6BCF20E-8398-7951-21E5-02A5F1E72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8929" y="1626967"/>
            <a:ext cx="1798328" cy="352339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3" name="직사각형 47">
            <a:extLst>
              <a:ext uri="{FF2B5EF4-FFF2-40B4-BE49-F238E27FC236}">
                <a16:creationId xmlns:a16="http://schemas.microsoft.com/office/drawing/2014/main" id="{92154BF9-378C-FA6C-1F1A-3BC6C7B385AC}"/>
              </a:ext>
            </a:extLst>
          </p:cNvPr>
          <p:cNvSpPr/>
          <p:nvPr/>
        </p:nvSpPr>
        <p:spPr>
          <a:xfrm>
            <a:off x="9237822" y="3164977"/>
            <a:ext cx="1174237" cy="105797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4" name="그룹 49">
            <a:extLst>
              <a:ext uri="{FF2B5EF4-FFF2-40B4-BE49-F238E27FC236}">
                <a16:creationId xmlns:a16="http://schemas.microsoft.com/office/drawing/2014/main" id="{E1061969-1EED-4D47-5432-268D356CBBBD}"/>
              </a:ext>
            </a:extLst>
          </p:cNvPr>
          <p:cNvGrpSpPr/>
          <p:nvPr/>
        </p:nvGrpSpPr>
        <p:grpSpPr>
          <a:xfrm>
            <a:off x="269436" y="1693444"/>
            <a:ext cx="4079343" cy="3597416"/>
            <a:chOff x="256697" y="2013566"/>
            <a:chExt cx="4079343" cy="3597416"/>
          </a:xfrm>
        </p:grpSpPr>
        <p:pic>
          <p:nvPicPr>
            <p:cNvPr id="15" name="그림 8">
              <a:extLst>
                <a:ext uri="{FF2B5EF4-FFF2-40B4-BE49-F238E27FC236}">
                  <a16:creationId xmlns:a16="http://schemas.microsoft.com/office/drawing/2014/main" id="{260448C7-7A65-1213-4C49-23180343D4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697" y="2013566"/>
              <a:ext cx="4079343" cy="3597416"/>
            </a:xfrm>
            <a:prstGeom prst="rect">
              <a:avLst/>
            </a:prstGeom>
          </p:spPr>
        </p:pic>
        <p:sp>
          <p:nvSpPr>
            <p:cNvPr id="16" name="직사각형 48">
              <a:extLst>
                <a:ext uri="{FF2B5EF4-FFF2-40B4-BE49-F238E27FC236}">
                  <a16:creationId xmlns:a16="http://schemas.microsoft.com/office/drawing/2014/main" id="{D6FADDB6-881C-1932-864E-30329510A46D}"/>
                </a:ext>
              </a:extLst>
            </p:cNvPr>
            <p:cNvSpPr/>
            <p:nvPr/>
          </p:nvSpPr>
          <p:spPr>
            <a:xfrm>
              <a:off x="2346482" y="3604233"/>
              <a:ext cx="1918196" cy="1828827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7" name="I:header">
            <a:extLst>
              <a:ext uri="{FF2B5EF4-FFF2-40B4-BE49-F238E27FC236}">
                <a16:creationId xmlns:a16="http://schemas.microsoft.com/office/drawing/2014/main" id="{59042962-A108-40F7-8D19-41B2B54E3B9B}"/>
              </a:ext>
            </a:extLst>
          </p:cNvPr>
          <p:cNvSpPr>
            <a:spLocks noGrp="1"/>
          </p:cNvSpPr>
          <p:nvPr/>
        </p:nvSpPr>
        <p:spPr>
          <a:xfrm>
            <a:off x="190500" y="2000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토스 / 대출 Product Owner</a:t>
            </a:r>
          </a:p>
        </p:txBody>
      </p:sp>
      <p:sp>
        <p:nvSpPr>
          <p:cNvPr id="18" name="I:category">
            <a:extLst>
              <a:ext uri="{FF2B5EF4-FFF2-40B4-BE49-F238E27FC236}">
                <a16:creationId xmlns:a16="http://schemas.microsoft.com/office/drawing/2014/main" id="{12BE92B0-CC7B-4041-95E1-22CFC638890D}"/>
              </a:ext>
            </a:extLst>
          </p:cNvPr>
          <p:cNvSpPr>
            <a:spLocks noGrp="1"/>
          </p:cNvSpPr>
          <p:nvPr/>
        </p:nvSpPr>
        <p:spPr>
          <a:xfrm>
            <a:off x="0" y="923925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19" name="I:project">
            <a:extLst>
              <a:ext uri="{FF2B5EF4-FFF2-40B4-BE49-F238E27FC236}">
                <a16:creationId xmlns:a16="http://schemas.microsoft.com/office/drawing/2014/main" id="{74C4FA98-3F13-41E2-BC41-42519F8A44CE}"/>
              </a:ext>
            </a:extLst>
          </p:cNvPr>
          <p:cNvSpPr>
            <a:spLocks noGrp="1"/>
          </p:cNvSpPr>
          <p:nvPr/>
        </p:nvSpPr>
        <p:spPr>
          <a:xfrm>
            <a:off x="1171575" y="9144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금융 용어와 정보 안내를 사용자 관점으로 개선</a:t>
            </a:r>
          </a:p>
        </p:txBody>
      </p:sp>
      <p:sp>
        <p:nvSpPr>
          <p:cNvPr id="20" name="I:page">
            <a:extLst>
              <a:ext uri="{FF2B5EF4-FFF2-40B4-BE49-F238E27FC236}">
                <a16:creationId xmlns:a16="http://schemas.microsoft.com/office/drawing/2014/main" id="{9495FD06-19BF-4E52-93AF-35D421ACAEB4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22</a:t>
            </a:r>
          </a:p>
        </p:txBody>
      </p:sp>
      <p:sp>
        <p:nvSpPr>
          <p:cNvPr id="21" name="I:case 1">
            <a:extLst>
              <a:ext uri="{FF2B5EF4-FFF2-40B4-BE49-F238E27FC236}">
                <a16:creationId xmlns:a16="http://schemas.microsoft.com/office/drawing/2014/main" id="{5732D240-4A4E-44AD-B7B1-596A90FB020B}"/>
              </a:ext>
            </a:extLst>
          </p:cNvPr>
          <p:cNvSpPr>
            <a:spLocks noGrp="1"/>
          </p:cNvSpPr>
          <p:nvPr/>
        </p:nvSpPr>
        <p:spPr>
          <a:xfrm>
            <a:off x="333375" y="1438275"/>
            <a:ext cx="39719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대출 목적을 쉬운 표현으로 안내</a:t>
            </a:r>
          </a:p>
        </p:txBody>
      </p:sp>
      <p:sp>
        <p:nvSpPr>
          <p:cNvPr id="22" name="I:case 2">
            <a:extLst>
              <a:ext uri="{FF2B5EF4-FFF2-40B4-BE49-F238E27FC236}">
                <a16:creationId xmlns:a16="http://schemas.microsoft.com/office/drawing/2014/main" id="{E759DD3A-F5E8-4549-9179-3E8CE280F731}"/>
              </a:ext>
            </a:extLst>
          </p:cNvPr>
          <p:cNvSpPr>
            <a:spLocks noGrp="1"/>
          </p:cNvSpPr>
          <p:nvPr/>
        </p:nvSpPr>
        <p:spPr>
          <a:xfrm>
            <a:off x="4695825" y="1438275"/>
            <a:ext cx="32099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금융사 정보의 신뢰도 보완</a:t>
            </a:r>
          </a:p>
        </p:txBody>
      </p:sp>
      <p:sp>
        <p:nvSpPr>
          <p:cNvPr id="23" name="I:case 3">
            <a:extLst>
              <a:ext uri="{FF2B5EF4-FFF2-40B4-BE49-F238E27FC236}">
                <a16:creationId xmlns:a16="http://schemas.microsoft.com/office/drawing/2014/main" id="{0E306AB1-8A44-4B79-9B13-04DC2539698A}"/>
              </a:ext>
            </a:extLst>
          </p:cNvPr>
          <p:cNvSpPr>
            <a:spLocks noGrp="1"/>
          </p:cNvSpPr>
          <p:nvPr/>
        </p:nvSpPr>
        <p:spPr>
          <a:xfrm>
            <a:off x="8210550" y="1438275"/>
            <a:ext cx="3638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이용 가능한 대출 목적 안내</a:t>
            </a:r>
          </a:p>
        </p:txBody>
      </p:sp>
      <p:sp>
        <p:nvSpPr>
          <p:cNvPr id="24" name="I:before after">
            <a:extLst>
              <a:ext uri="{FF2B5EF4-FFF2-40B4-BE49-F238E27FC236}">
                <a16:creationId xmlns:a16="http://schemas.microsoft.com/office/drawing/2014/main" id="{A161059F-5100-4CA0-8CCF-2E834B7D7EA8}"/>
              </a:ext>
            </a:extLst>
          </p:cNvPr>
          <p:cNvSpPr>
            <a:spLocks noGrp="1"/>
          </p:cNvSpPr>
          <p:nvPr/>
        </p:nvSpPr>
        <p:spPr>
          <a:xfrm>
            <a:off x="438150" y="5257800"/>
            <a:ext cx="38576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 b="0">
                <a:solidFill>
                  <a:srgbClr val="444444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75" b="0">
                <a:solidFill>
                  <a:srgbClr val="444444"/>
                </a:solidFill>
                <a:latin typeface="Pretendard Medium"/>
                <a:ea typeface="Pretendard Medium"/>
                <a:cs typeface="Pretendard Medium"/>
              </a:rPr>
              <a:t>개선 전                         개선 후</a:t>
            </a:r>
          </a:p>
        </p:txBody>
      </p:sp>
      <p:sp>
        <p:nvSpPr>
          <p:cNvPr id="25" name="I:case1 body">
            <a:extLst>
              <a:ext uri="{FF2B5EF4-FFF2-40B4-BE49-F238E27FC236}">
                <a16:creationId xmlns:a16="http://schemas.microsoft.com/office/drawing/2014/main" id="{D20D2D59-3C15-4E0E-A57E-0802FB4F8A71}"/>
              </a:ext>
            </a:extLst>
          </p:cNvPr>
          <p:cNvSpPr>
            <a:spLocks noGrp="1"/>
          </p:cNvSpPr>
          <p:nvPr/>
        </p:nvSpPr>
        <p:spPr>
          <a:xfrm>
            <a:off x="352425" y="5619750"/>
            <a:ext cx="399097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25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5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‘대환’이라는 용어로 생기는 오해를 줄이고 신용대출 상환에 맞는 ‘생활자금’ 선택 유도</a:t>
            </a:r>
          </a:p>
        </p:txBody>
      </p:sp>
      <p:sp>
        <p:nvSpPr>
          <p:cNvPr id="26" name="I:case2 body">
            <a:extLst>
              <a:ext uri="{FF2B5EF4-FFF2-40B4-BE49-F238E27FC236}">
                <a16:creationId xmlns:a16="http://schemas.microsoft.com/office/drawing/2014/main" id="{EC95E4E5-5A26-4F21-8AEF-92B476140FFB}"/>
              </a:ext>
            </a:extLst>
          </p:cNvPr>
          <p:cNvSpPr>
            <a:spLocks noGrp="1"/>
          </p:cNvSpPr>
          <p:nvPr/>
        </p:nvSpPr>
        <p:spPr>
          <a:xfrm>
            <a:off x="4867275" y="5619750"/>
            <a:ext cx="28670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25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5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1금융권 여부를 알 수 있도록 은행 목록에 배지 표시</a:t>
            </a:r>
          </a:p>
        </p:txBody>
      </p:sp>
      <p:sp>
        <p:nvSpPr>
          <p:cNvPr id="27" name="I:case3 body">
            <a:extLst>
              <a:ext uri="{FF2B5EF4-FFF2-40B4-BE49-F238E27FC236}">
                <a16:creationId xmlns:a16="http://schemas.microsoft.com/office/drawing/2014/main" id="{6A99A73A-8F38-4FFA-8C7D-4F9E17C6D85B}"/>
              </a:ext>
            </a:extLst>
          </p:cNvPr>
          <p:cNvSpPr>
            <a:spLocks noGrp="1"/>
          </p:cNvSpPr>
          <p:nvPr/>
        </p:nvSpPr>
        <p:spPr>
          <a:xfrm>
            <a:off x="8286750" y="5619750"/>
            <a:ext cx="35052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25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5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주택 구입 외에도 생활자금 등으로 이용할 수 있다는 정보를 시작 화면에 안내</a:t>
            </a:r>
          </a:p>
        </p:txBody>
      </p:sp>
      <p:sp>
        <p:nvSpPr>
          <p:cNvPr id="28" name="I:case1 result">
            <a:extLst>
              <a:ext uri="{FF2B5EF4-FFF2-40B4-BE49-F238E27FC236}">
                <a16:creationId xmlns:a16="http://schemas.microsoft.com/office/drawing/2014/main" id="{63A658EE-FC83-488A-899B-073D5A3E8FAA}"/>
              </a:ext>
            </a:extLst>
          </p:cNvPr>
          <p:cNvSpPr>
            <a:spLocks noGrp="1"/>
          </p:cNvSpPr>
          <p:nvPr/>
        </p:nvSpPr>
        <p:spPr>
          <a:xfrm>
            <a:off x="352425" y="6238875"/>
            <a:ext cx="39909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475" b="0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75" b="0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생활자금 대출 클릭 약 5% 증가</a:t>
            </a:r>
          </a:p>
        </p:txBody>
      </p:sp>
      <p:sp>
        <p:nvSpPr>
          <p:cNvPr id="29" name="I:case2 result">
            <a:extLst>
              <a:ext uri="{FF2B5EF4-FFF2-40B4-BE49-F238E27FC236}">
                <a16:creationId xmlns:a16="http://schemas.microsoft.com/office/drawing/2014/main" id="{19A047D8-2FFF-451B-9B07-F02C0F26A84E}"/>
              </a:ext>
            </a:extLst>
          </p:cNvPr>
          <p:cNvSpPr>
            <a:spLocks noGrp="1"/>
          </p:cNvSpPr>
          <p:nvPr/>
        </p:nvSpPr>
        <p:spPr>
          <a:xfrm>
            <a:off x="4867275" y="6238875"/>
            <a:ext cx="28670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475" b="0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75" b="0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상담 신청 비중 9% 증가</a:t>
            </a:r>
          </a:p>
        </p:txBody>
      </p:sp>
      <p:sp>
        <p:nvSpPr>
          <p:cNvPr id="30" name="I:case3 result">
            <a:extLst>
              <a:ext uri="{FF2B5EF4-FFF2-40B4-BE49-F238E27FC236}">
                <a16:creationId xmlns:a16="http://schemas.microsoft.com/office/drawing/2014/main" id="{821633B2-D620-4DCD-A63E-39F079D166EF}"/>
              </a:ext>
            </a:extLst>
          </p:cNvPr>
          <p:cNvSpPr>
            <a:spLocks noGrp="1"/>
          </p:cNvSpPr>
          <p:nvPr/>
        </p:nvSpPr>
        <p:spPr>
          <a:xfrm>
            <a:off x="8286750" y="6238875"/>
            <a:ext cx="35052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475" b="0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75" b="0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목적 인지율 62%에서 87%로 상승</a:t>
            </a:r>
          </a:p>
        </p:txBody>
      </p:sp>
    </p:spTree>
    <p:extLst>
      <p:ext uri="{BB962C8B-B14F-4D97-AF65-F5344CB8AC3E}">
        <p14:creationId xmlns:p14="http://schemas.microsoft.com/office/powerpoint/2010/main" val="1279475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27">
            <a:extLst>
              <a:ext uri="{FF2B5EF4-FFF2-40B4-BE49-F238E27FC236}">
                <a16:creationId xmlns:a16="http://schemas.microsoft.com/office/drawing/2014/main" id="{B5392755-5865-F9B0-8A6B-497FC1FEFB7F}"/>
              </a:ext>
            </a:extLst>
          </p:cNvPr>
          <p:cNvSpPr>
            <a:spLocks noGrp="1"/>
          </p:cNvSpPr>
          <p:nvPr/>
        </p:nvSpPr>
        <p:spPr>
          <a:xfrm>
            <a:off x="0" y="824999"/>
            <a:ext cx="1041400" cy="4012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직사각형 24">
            <a:extLst>
              <a:ext uri="{FF2B5EF4-FFF2-40B4-BE49-F238E27FC236}">
                <a16:creationId xmlns:a16="http://schemas.microsoft.com/office/drawing/2014/main" id="{9300C823-004B-CBFA-D2AC-54CAF748651A}"/>
              </a:ext>
            </a:extLst>
          </p:cNvPr>
          <p:cNvSpPr>
            <a:spLocks noGrp="1"/>
          </p:cNvSpPr>
          <p:nvPr/>
        </p:nvSpPr>
        <p:spPr>
          <a:xfrm>
            <a:off x="0" y="56308"/>
            <a:ext cx="12192000" cy="595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직사각형 50">
            <a:extLst>
              <a:ext uri="{FF2B5EF4-FFF2-40B4-BE49-F238E27FC236}">
                <a16:creationId xmlns:a16="http://schemas.microsoft.com/office/drawing/2014/main" id="{3A7B5860-8D32-C866-0A67-DA9795350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선 연결선 15">
            <a:extLst>
              <a:ext uri="{FF2B5EF4-FFF2-40B4-BE49-F238E27FC236}">
                <a16:creationId xmlns:a16="http://schemas.microsoft.com/office/drawing/2014/main" id="{95C1A325-505D-4B67-8F4F-385E5E9505B2}"/>
              </a:ext>
            </a:extLst>
          </p:cNvPr>
          <p:cNvSpPr>
            <a:spLocks noGrp="1"/>
          </p:cNvSpPr>
          <p:nvPr/>
        </p:nvSpPr>
        <p:spPr>
          <a:xfrm>
            <a:off x="0" y="1229505"/>
            <a:ext cx="4204447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6" name="직사각형 16">
            <a:extLst>
              <a:ext uri="{FF2B5EF4-FFF2-40B4-BE49-F238E27FC236}">
                <a16:creationId xmlns:a16="http://schemas.microsoft.com/office/drawing/2014/main" id="{BB03FEB3-BCA6-E72B-25F6-6F59200B89FF}"/>
              </a:ext>
            </a:extLst>
          </p:cNvPr>
          <p:cNvSpPr>
            <a:spLocks noGrp="1"/>
          </p:cNvSpPr>
          <p:nvPr/>
        </p:nvSpPr>
        <p:spPr>
          <a:xfrm>
            <a:off x="762759" y="1601182"/>
            <a:ext cx="4931893" cy="4891685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grpSp>
        <p:nvGrpSpPr>
          <p:cNvPr id="7" name="Original evidence"/>
          <p:cNvGrpSpPr/>
          <p:nvPr/>
        </p:nvGrpSpPr>
        <p:grpSpPr>
          <a:xfrm>
            <a:off x="6370149" y="2047875"/>
            <a:ext cx="5052402" cy="4238625"/>
            <a:chOff x="6220178" y="1601183"/>
            <a:chExt cx="5580118" cy="4681343"/>
          </a:xfrm>
        </p:grpSpPr>
        <p:pic>
          <p:nvPicPr>
            <p:cNvPr id="8" name="그림 8">
              <a:extLst>
                <a:ext uri="{FF2B5EF4-FFF2-40B4-BE49-F238E27FC236}">
                  <a16:creationId xmlns:a16="http://schemas.microsoft.com/office/drawing/2014/main" id="{61F41856-8413-75CD-55D0-E7E4B2A57F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0" t="857"/>
            <a:stretch/>
          </p:blipFill>
          <p:spPr>
            <a:xfrm>
              <a:off x="6220178" y="1601183"/>
              <a:ext cx="4449651" cy="3091934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pic>
          <p:nvPicPr>
            <p:cNvPr id="9" name="그림 57">
              <a:extLst>
                <a:ext uri="{FF2B5EF4-FFF2-40B4-BE49-F238E27FC236}">
                  <a16:creationId xmlns:a16="http://schemas.microsoft.com/office/drawing/2014/main" id="{7AF59DB1-F50B-FE43-3246-157232046E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8" t="523" r="1148" b="1606"/>
            <a:stretch/>
          </p:blipFill>
          <p:spPr>
            <a:xfrm>
              <a:off x="6628721" y="2104331"/>
              <a:ext cx="5171575" cy="4178195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</p:grpSp>
      <p:sp>
        <p:nvSpPr>
          <p:cNvPr id="10" name="I:header">
            <a:extLst>
              <a:ext uri="{FF2B5EF4-FFF2-40B4-BE49-F238E27FC236}">
                <a16:creationId xmlns:a16="http://schemas.microsoft.com/office/drawing/2014/main" id="{417FAD03-BF13-451B-A8DF-73CF5DA98CCE}"/>
              </a:ext>
            </a:extLst>
          </p:cNvPr>
          <p:cNvSpPr>
            <a:spLocks noGrp="1"/>
          </p:cNvSpPr>
          <p:nvPr/>
        </p:nvSpPr>
        <p:spPr>
          <a:xfrm>
            <a:off x="190500" y="2000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NHN DATA / 광고 플랫폼 Product Manager</a:t>
            </a:r>
          </a:p>
        </p:txBody>
      </p:sp>
      <p:sp>
        <p:nvSpPr>
          <p:cNvPr id="11" name="I:category">
            <a:extLst>
              <a:ext uri="{FF2B5EF4-FFF2-40B4-BE49-F238E27FC236}">
                <a16:creationId xmlns:a16="http://schemas.microsoft.com/office/drawing/2014/main" id="{B25B61A5-6540-443A-85DB-00C4888F0E46}"/>
              </a:ext>
            </a:extLst>
          </p:cNvPr>
          <p:cNvSpPr>
            <a:spLocks noGrp="1"/>
          </p:cNvSpPr>
          <p:nvPr/>
        </p:nvSpPr>
        <p:spPr>
          <a:xfrm>
            <a:off x="0" y="923925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12" name="I:project">
            <a:extLst>
              <a:ext uri="{FF2B5EF4-FFF2-40B4-BE49-F238E27FC236}">
                <a16:creationId xmlns:a16="http://schemas.microsoft.com/office/drawing/2014/main" id="{566BFF17-43B5-4A2D-9931-8802E9C58939}"/>
              </a:ext>
            </a:extLst>
          </p:cNvPr>
          <p:cNvSpPr>
            <a:spLocks noGrp="1"/>
          </p:cNvSpPr>
          <p:nvPr/>
        </p:nvSpPr>
        <p:spPr>
          <a:xfrm>
            <a:off x="1171575" y="9144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국내외 SSP·DSP 파트너십 및 광고 플랫폼 연동</a:t>
            </a:r>
          </a:p>
        </p:txBody>
      </p:sp>
      <p:sp>
        <p:nvSpPr>
          <p:cNvPr id="13" name="I:page">
            <a:extLst>
              <a:ext uri="{FF2B5EF4-FFF2-40B4-BE49-F238E27FC236}">
                <a16:creationId xmlns:a16="http://schemas.microsoft.com/office/drawing/2014/main" id="{ACE36389-2272-4762-920D-B7DBD46AC415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23</a:t>
            </a:r>
          </a:p>
        </p:txBody>
      </p:sp>
      <p:sp>
        <p:nvSpPr>
          <p:cNvPr id="14" name="I:section 0">
            <a:extLst>
              <a:ext uri="{FF2B5EF4-FFF2-40B4-BE49-F238E27FC236}">
                <a16:creationId xmlns:a16="http://schemas.microsoft.com/office/drawing/2014/main" id="{ADB9F3B2-FD63-4DD2-BC9D-1D772D95FBD1}"/>
              </a:ext>
            </a:extLst>
          </p:cNvPr>
          <p:cNvSpPr>
            <a:spLocks noGrp="1"/>
          </p:cNvSpPr>
          <p:nvPr/>
        </p:nvSpPr>
        <p:spPr>
          <a:xfrm>
            <a:off x="1000125" y="179070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문제 의식 및 목표</a:t>
            </a:r>
          </a:p>
        </p:txBody>
      </p:sp>
      <p:sp>
        <p:nvSpPr>
          <p:cNvPr id="15" name="I:body 0">
            <a:extLst>
              <a:ext uri="{FF2B5EF4-FFF2-40B4-BE49-F238E27FC236}">
                <a16:creationId xmlns:a16="http://schemas.microsoft.com/office/drawing/2014/main" id="{7DDF4141-C7C5-4E9A-8172-AA103EC6F716}"/>
              </a:ext>
            </a:extLst>
          </p:cNvPr>
          <p:cNvSpPr>
            <a:spLocks noGrp="1"/>
          </p:cNvSpPr>
          <p:nvPr/>
        </p:nvSpPr>
        <p:spPr>
          <a:xfrm>
            <a:off x="1000125" y="2105025"/>
            <a:ext cx="44577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광고 거래에 참여하는 매체·광고주 네트워크 확대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파트너별 계약·기술 요건의 조율 필요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연동부터 운영·정산까지의 안정적 관리 체계 확보</a:t>
            </a:r>
          </a:p>
        </p:txBody>
      </p:sp>
      <p:sp>
        <p:nvSpPr>
          <p:cNvPr id="16" name="I:section 1">
            <a:extLst>
              <a:ext uri="{FF2B5EF4-FFF2-40B4-BE49-F238E27FC236}">
                <a16:creationId xmlns:a16="http://schemas.microsoft.com/office/drawing/2014/main" id="{91D38082-19B7-400C-85BB-3B20FD3DF7AD}"/>
              </a:ext>
            </a:extLst>
          </p:cNvPr>
          <p:cNvSpPr>
            <a:spLocks noGrp="1"/>
          </p:cNvSpPr>
          <p:nvPr/>
        </p:nvSpPr>
        <p:spPr>
          <a:xfrm>
            <a:off x="1000125" y="286702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주요 업무</a:t>
            </a:r>
          </a:p>
        </p:txBody>
      </p:sp>
      <p:sp>
        <p:nvSpPr>
          <p:cNvPr id="17" name="I:body 1">
            <a:extLst>
              <a:ext uri="{FF2B5EF4-FFF2-40B4-BE49-F238E27FC236}">
                <a16:creationId xmlns:a16="http://schemas.microsoft.com/office/drawing/2014/main" id="{18F69FF0-33BF-45B6-9BF7-4AF3D1A5C49B}"/>
              </a:ext>
            </a:extLst>
          </p:cNvPr>
          <p:cNvSpPr>
            <a:spLocks noGrp="1"/>
          </p:cNvSpPr>
          <p:nvPr/>
        </p:nvSpPr>
        <p:spPr>
          <a:xfrm>
            <a:off x="1000125" y="3181350"/>
            <a:ext cx="4457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국내외 SSP·DSP에 제휴 제안 및 계약 협의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파트너 계약서와 기술 검토 자료 작성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연동 후 양사 데이터를 비교하고 정산 금액 검토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성과를 모니터링하며 매체 비용·클릭률 이슈 대응</a:t>
            </a:r>
          </a:p>
        </p:txBody>
      </p:sp>
      <p:sp>
        <p:nvSpPr>
          <p:cNvPr id="18" name="I:section 2">
            <a:extLst>
              <a:ext uri="{FF2B5EF4-FFF2-40B4-BE49-F238E27FC236}">
                <a16:creationId xmlns:a16="http://schemas.microsoft.com/office/drawing/2014/main" id="{8040584E-9F0F-4162-9F06-EF550C9DE065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결과/성과</a:t>
            </a:r>
          </a:p>
        </p:txBody>
      </p:sp>
      <p:sp>
        <p:nvSpPr>
          <p:cNvPr id="19" name="I:body 2">
            <a:extLst>
              <a:ext uri="{FF2B5EF4-FFF2-40B4-BE49-F238E27FC236}">
                <a16:creationId xmlns:a16="http://schemas.microsoft.com/office/drawing/2014/main" id="{BEC8387C-FB92-46E2-84BE-7FFE1F97FB4E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44577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SSP </a:t>
            </a:r>
            <a:r>
              <a:rPr sz="132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16개</a:t>
            </a: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 연동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DSP </a:t>
            </a:r>
            <a:r>
              <a:rPr sz="132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15개</a:t>
            </a: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 파트너십 체결 및 연동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신규 광고 거래와 매출 기회 확대</a:t>
            </a:r>
          </a:p>
        </p:txBody>
      </p:sp>
      <p:sp>
        <p:nvSpPr>
          <p:cNvPr id="20" name="I:section 3">
            <a:extLst>
              <a:ext uri="{FF2B5EF4-FFF2-40B4-BE49-F238E27FC236}">
                <a16:creationId xmlns:a16="http://schemas.microsoft.com/office/drawing/2014/main" id="{D93301A4-3190-48BC-9C4C-263B6E67AC22}"/>
              </a:ext>
            </a:extLst>
          </p:cNvPr>
          <p:cNvSpPr>
            <a:spLocks noGrp="1"/>
          </p:cNvSpPr>
          <p:nvPr/>
        </p:nvSpPr>
        <p:spPr>
          <a:xfrm>
            <a:off x="1000125" y="5600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담당 역할</a:t>
            </a:r>
          </a:p>
        </p:txBody>
      </p:sp>
      <p:sp>
        <p:nvSpPr>
          <p:cNvPr id="21" name="I:body 3">
            <a:extLst>
              <a:ext uri="{FF2B5EF4-FFF2-40B4-BE49-F238E27FC236}">
                <a16:creationId xmlns:a16="http://schemas.microsoft.com/office/drawing/2014/main" id="{67A8FBE5-EC03-4F83-B9E7-A4168A4B0A5A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3600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파트너 제휴·연동·운영 기획</a:t>
            </a:r>
          </a:p>
        </p:txBody>
      </p:sp>
      <p:sp>
        <p:nvSpPr>
          <p:cNvPr id="22" name="I:evidence caption">
            <a:extLst>
              <a:ext uri="{FF2B5EF4-FFF2-40B4-BE49-F238E27FC236}">
                <a16:creationId xmlns:a16="http://schemas.microsoft.com/office/drawing/2014/main" id="{755631C7-118E-4E02-832E-BDE74D94AE12}"/>
              </a:ext>
            </a:extLst>
          </p:cNvPr>
          <p:cNvSpPr>
            <a:spLocks noGrp="1"/>
          </p:cNvSpPr>
          <p:nvPr/>
        </p:nvSpPr>
        <p:spPr>
          <a:xfrm>
            <a:off x="6096000" y="1676400"/>
            <a:ext cx="5600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파트너 제휴 제안과 연동 검토 자료</a:t>
            </a:r>
          </a:p>
        </p:txBody>
      </p:sp>
      <p:sp>
        <p:nvSpPr>
          <p:cNvPr id="23" name="I:disclosure">
            <a:extLst>
              <a:ext uri="{FF2B5EF4-FFF2-40B4-BE49-F238E27FC236}">
                <a16:creationId xmlns:a16="http://schemas.microsoft.com/office/drawing/2014/main" id="{572C83B5-C963-4992-90C6-080A64754AAE}"/>
              </a:ext>
            </a:extLst>
          </p:cNvPr>
          <p:cNvSpPr>
            <a:spLocks noGrp="1"/>
          </p:cNvSpPr>
          <p:nvPr/>
        </p:nvSpPr>
        <p:spPr>
          <a:xfrm>
            <a:off x="6096000" y="6410325"/>
            <a:ext cx="5486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공개 가능한 범위의 내부 자료 발췌 · 일부 데이터 비식별화</a:t>
            </a:r>
          </a:p>
        </p:txBody>
      </p:sp>
      <p:sp>
        <p:nvSpPr>
          <p:cNvPr id="9901" name="Role contribution label">
            <a:extLst>
              <a:ext uri="{FF2B5EF4-FFF2-40B4-BE49-F238E27FC236}">
                <a16:creationId xmlns:a16="http://schemas.microsoft.com/office/drawing/2014/main" id="{38ED42F3-5919-4C7B-B7A4-143385D81798}"/>
              </a:ext>
            </a:extLst>
          </p:cNvPr>
          <p:cNvSpPr>
            <a:spLocks noGrp="1"/>
          </p:cNvSpPr>
          <p:nvPr/>
        </p:nvSpPr>
        <p:spPr>
          <a:xfrm>
            <a:off x="1000125" y="58769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기획 기여도</a:t>
            </a:r>
          </a:p>
        </p:txBody>
      </p:sp>
      <p:sp>
        <p:nvSpPr>
          <p:cNvPr id="9902" name="Role contribution value">
            <a:extLst>
              <a:ext uri="{FF2B5EF4-FFF2-40B4-BE49-F238E27FC236}">
                <a16:creationId xmlns:a16="http://schemas.microsoft.com/office/drawing/2014/main" id="{51EA92DA-7430-45C2-90FE-564A56B7E763}"/>
              </a:ext>
            </a:extLst>
          </p:cNvPr>
          <p:cNvSpPr>
            <a:spLocks noGrp="1"/>
          </p:cNvSpPr>
          <p:nvPr/>
        </p:nvSpPr>
        <p:spPr>
          <a:xfrm>
            <a:off x="1905000" y="5876925"/>
            <a:ext cx="3600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100%</a:t>
            </a:r>
          </a:p>
        </p:txBody>
      </p:sp>
      <p:sp>
        <p:nvSpPr>
          <p:cNvPr id="9903" name="Team label">
            <a:extLst>
              <a:ext uri="{FF2B5EF4-FFF2-40B4-BE49-F238E27FC236}">
                <a16:creationId xmlns:a16="http://schemas.microsoft.com/office/drawing/2014/main" id="{0C2D84EA-46B6-4B3D-B2C7-27F4D6A82A1B}"/>
              </a:ext>
            </a:extLst>
          </p:cNvPr>
          <p:cNvSpPr>
            <a:spLocks noGrp="1"/>
          </p:cNvSpPr>
          <p:nvPr/>
        </p:nvSpPr>
        <p:spPr>
          <a:xfrm>
            <a:off x="1000125" y="61531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협업 구성</a:t>
            </a:r>
          </a:p>
        </p:txBody>
      </p:sp>
      <p:sp>
        <p:nvSpPr>
          <p:cNvPr id="9904" name="Team value">
            <a:extLst>
              <a:ext uri="{FF2B5EF4-FFF2-40B4-BE49-F238E27FC236}">
                <a16:creationId xmlns:a16="http://schemas.microsoft.com/office/drawing/2014/main" id="{D6747A7E-C824-471C-A264-BF9114F330BC}"/>
              </a:ext>
            </a:extLst>
          </p:cNvPr>
          <p:cNvSpPr>
            <a:spLocks noGrp="1"/>
          </p:cNvSpPr>
          <p:nvPr/>
        </p:nvSpPr>
        <p:spPr>
          <a:xfrm>
            <a:off x="1905000" y="61531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rPr>
              <a:t>기획 1명(본인), 국내외 파트너</a:t>
            </a:r>
          </a:p>
        </p:txBody>
      </p:sp>
    </p:spTree>
    <p:extLst>
      <p:ext uri="{BB962C8B-B14F-4D97-AF65-F5344CB8AC3E}">
        <p14:creationId xmlns:p14="http://schemas.microsoft.com/office/powerpoint/2010/main" val="17373096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27">
            <a:extLst>
              <a:ext uri="{FF2B5EF4-FFF2-40B4-BE49-F238E27FC236}">
                <a16:creationId xmlns:a16="http://schemas.microsoft.com/office/drawing/2014/main" id="{B5392755-5865-F9B0-8A6B-497FC1FEFB7F}"/>
              </a:ext>
            </a:extLst>
          </p:cNvPr>
          <p:cNvSpPr>
            <a:spLocks noGrp="1"/>
          </p:cNvSpPr>
          <p:nvPr/>
        </p:nvSpPr>
        <p:spPr>
          <a:xfrm>
            <a:off x="0" y="824999"/>
            <a:ext cx="1041400" cy="4012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직사각형 24">
            <a:extLst>
              <a:ext uri="{FF2B5EF4-FFF2-40B4-BE49-F238E27FC236}">
                <a16:creationId xmlns:a16="http://schemas.microsoft.com/office/drawing/2014/main" id="{9300C823-004B-CBFA-D2AC-54CAF748651A}"/>
              </a:ext>
            </a:extLst>
          </p:cNvPr>
          <p:cNvSpPr>
            <a:spLocks noGrp="1"/>
          </p:cNvSpPr>
          <p:nvPr/>
        </p:nvSpPr>
        <p:spPr>
          <a:xfrm>
            <a:off x="0" y="56308"/>
            <a:ext cx="12192000" cy="595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직사각형 50">
            <a:extLst>
              <a:ext uri="{FF2B5EF4-FFF2-40B4-BE49-F238E27FC236}">
                <a16:creationId xmlns:a16="http://schemas.microsoft.com/office/drawing/2014/main" id="{3A7B5860-8D32-C866-0A67-DA9795350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선 연결선 15">
            <a:extLst>
              <a:ext uri="{FF2B5EF4-FFF2-40B4-BE49-F238E27FC236}">
                <a16:creationId xmlns:a16="http://schemas.microsoft.com/office/drawing/2014/main" id="{95C1A325-505D-4B67-8F4F-385E5E9505B2}"/>
              </a:ext>
            </a:extLst>
          </p:cNvPr>
          <p:cNvSpPr>
            <a:spLocks noGrp="1"/>
          </p:cNvSpPr>
          <p:nvPr/>
        </p:nvSpPr>
        <p:spPr>
          <a:xfrm>
            <a:off x="0" y="1229505"/>
            <a:ext cx="4204447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6" name="직사각형 16">
            <a:extLst>
              <a:ext uri="{FF2B5EF4-FFF2-40B4-BE49-F238E27FC236}">
                <a16:creationId xmlns:a16="http://schemas.microsoft.com/office/drawing/2014/main" id="{BB03FEB3-BCA6-E72B-25F6-6F59200B89FF}"/>
              </a:ext>
            </a:extLst>
          </p:cNvPr>
          <p:cNvSpPr>
            <a:spLocks noGrp="1"/>
          </p:cNvSpPr>
          <p:nvPr/>
        </p:nvSpPr>
        <p:spPr>
          <a:xfrm>
            <a:off x="762759" y="1601182"/>
            <a:ext cx="4931893" cy="4891685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grpSp>
        <p:nvGrpSpPr>
          <p:cNvPr id="7" name="Original evidence"/>
          <p:cNvGrpSpPr/>
          <p:nvPr/>
        </p:nvGrpSpPr>
        <p:grpSpPr>
          <a:xfrm>
            <a:off x="6096000" y="2613268"/>
            <a:ext cx="5600700" cy="3107839"/>
            <a:chOff x="6343653" y="3081886"/>
            <a:chExt cx="5365997" cy="2977602"/>
          </a:xfrm>
        </p:grpSpPr>
        <p:pic>
          <p:nvPicPr>
            <p:cNvPr id="8" name="그림 33">
              <a:extLst>
                <a:ext uri="{FF2B5EF4-FFF2-40B4-BE49-F238E27FC236}">
                  <a16:creationId xmlns:a16="http://schemas.microsoft.com/office/drawing/2014/main" id="{ECDC9834-EA43-C5EA-EDF6-EBF03649A3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43653" y="3081886"/>
              <a:ext cx="5365997" cy="2977602"/>
            </a:xfrm>
            <a:prstGeom prst="rect">
              <a:avLst/>
            </a:prstGeom>
          </p:spPr>
        </p:pic>
      </p:grpSp>
      <p:sp>
        <p:nvSpPr>
          <p:cNvPr id="9" name="I:header">
            <a:extLst>
              <a:ext uri="{FF2B5EF4-FFF2-40B4-BE49-F238E27FC236}">
                <a16:creationId xmlns:a16="http://schemas.microsoft.com/office/drawing/2014/main" id="{4403C256-C3D8-4BCA-84B0-F78976752346}"/>
              </a:ext>
            </a:extLst>
          </p:cNvPr>
          <p:cNvSpPr>
            <a:spLocks noGrp="1"/>
          </p:cNvSpPr>
          <p:nvPr/>
        </p:nvSpPr>
        <p:spPr>
          <a:xfrm>
            <a:off x="190500" y="2000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NHN DATA / 광고 플랫폼 Product Manager</a:t>
            </a:r>
          </a:p>
        </p:txBody>
      </p:sp>
      <p:sp>
        <p:nvSpPr>
          <p:cNvPr id="10" name="I:category">
            <a:extLst>
              <a:ext uri="{FF2B5EF4-FFF2-40B4-BE49-F238E27FC236}">
                <a16:creationId xmlns:a16="http://schemas.microsoft.com/office/drawing/2014/main" id="{6A45785F-670A-46FF-B602-9A45601773F9}"/>
              </a:ext>
            </a:extLst>
          </p:cNvPr>
          <p:cNvSpPr>
            <a:spLocks noGrp="1"/>
          </p:cNvSpPr>
          <p:nvPr/>
        </p:nvSpPr>
        <p:spPr>
          <a:xfrm>
            <a:off x="0" y="923925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11" name="I:project">
            <a:extLst>
              <a:ext uri="{FF2B5EF4-FFF2-40B4-BE49-F238E27FC236}">
                <a16:creationId xmlns:a16="http://schemas.microsoft.com/office/drawing/2014/main" id="{04A29CE2-886A-4893-A276-B09BFBD5B154}"/>
              </a:ext>
            </a:extLst>
          </p:cNvPr>
          <p:cNvSpPr>
            <a:spLocks noGrp="1"/>
          </p:cNvSpPr>
          <p:nvPr/>
        </p:nvSpPr>
        <p:spPr>
          <a:xfrm>
            <a:off x="1171575" y="9144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부정 매체 관리와 광고 수익 효율 개선</a:t>
            </a:r>
          </a:p>
        </p:txBody>
      </p:sp>
      <p:sp>
        <p:nvSpPr>
          <p:cNvPr id="12" name="I:page">
            <a:extLst>
              <a:ext uri="{FF2B5EF4-FFF2-40B4-BE49-F238E27FC236}">
                <a16:creationId xmlns:a16="http://schemas.microsoft.com/office/drawing/2014/main" id="{30813F38-85FE-4733-8C4E-19D99F062947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24</a:t>
            </a:r>
          </a:p>
        </p:txBody>
      </p:sp>
      <p:sp>
        <p:nvSpPr>
          <p:cNvPr id="13" name="I:section 0">
            <a:extLst>
              <a:ext uri="{FF2B5EF4-FFF2-40B4-BE49-F238E27FC236}">
                <a16:creationId xmlns:a16="http://schemas.microsoft.com/office/drawing/2014/main" id="{FA2FC576-C1EF-4E1E-B723-FEA0C67DC666}"/>
              </a:ext>
            </a:extLst>
          </p:cNvPr>
          <p:cNvSpPr>
            <a:spLocks noGrp="1"/>
          </p:cNvSpPr>
          <p:nvPr/>
        </p:nvSpPr>
        <p:spPr>
          <a:xfrm>
            <a:off x="1000125" y="179070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문제 의식 및 목표</a:t>
            </a:r>
          </a:p>
        </p:txBody>
      </p:sp>
      <p:sp>
        <p:nvSpPr>
          <p:cNvPr id="14" name="I:body 0">
            <a:extLst>
              <a:ext uri="{FF2B5EF4-FFF2-40B4-BE49-F238E27FC236}">
                <a16:creationId xmlns:a16="http://schemas.microsoft.com/office/drawing/2014/main" id="{71AFF690-AB27-48C3-9BEF-91719170D4E2}"/>
              </a:ext>
            </a:extLst>
          </p:cNvPr>
          <p:cNvSpPr>
            <a:spLocks noGrp="1"/>
          </p:cNvSpPr>
          <p:nvPr/>
        </p:nvSpPr>
        <p:spPr>
          <a:xfrm>
            <a:off x="1000125" y="2105025"/>
            <a:ext cx="44577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부정 트래픽과 비효율적인 매체 비용 절감 필요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광고 거래 지표의 점검과 수익 효율 개선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브라우저·모바일 플랫폼 정책 변화 대응</a:t>
            </a:r>
          </a:p>
        </p:txBody>
      </p:sp>
      <p:sp>
        <p:nvSpPr>
          <p:cNvPr id="15" name="I:section 1">
            <a:extLst>
              <a:ext uri="{FF2B5EF4-FFF2-40B4-BE49-F238E27FC236}">
                <a16:creationId xmlns:a16="http://schemas.microsoft.com/office/drawing/2014/main" id="{CF8A222C-6F90-4E38-A8D2-6AE689FA0BE6}"/>
              </a:ext>
            </a:extLst>
          </p:cNvPr>
          <p:cNvSpPr>
            <a:spLocks noGrp="1"/>
          </p:cNvSpPr>
          <p:nvPr/>
        </p:nvSpPr>
        <p:spPr>
          <a:xfrm>
            <a:off x="1000125" y="286702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주요 업무</a:t>
            </a:r>
          </a:p>
        </p:txBody>
      </p:sp>
      <p:sp>
        <p:nvSpPr>
          <p:cNvPr id="16" name="I:body 1">
            <a:extLst>
              <a:ext uri="{FF2B5EF4-FFF2-40B4-BE49-F238E27FC236}">
                <a16:creationId xmlns:a16="http://schemas.microsoft.com/office/drawing/2014/main" id="{4906CC17-4DB2-40B5-8885-8B5D2966C8A2}"/>
              </a:ext>
            </a:extLst>
          </p:cNvPr>
          <p:cNvSpPr>
            <a:spLocks noGrp="1"/>
          </p:cNvSpPr>
          <p:nvPr/>
        </p:nvSpPr>
        <p:spPr>
          <a:xfrm>
            <a:off x="1000125" y="3181350"/>
            <a:ext cx="4457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내부 정책을 위반한 부정·어뷰징 매체 탐지 및 관리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클릭률·트래픽·노출 지표를 점검하고 이슈 대응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eCPM 기준값을 조정하며 수익 효율 검토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SameSite·SKAN 정책 검토 및 SDK 업데이트 안내</a:t>
            </a:r>
          </a:p>
        </p:txBody>
      </p:sp>
      <p:sp>
        <p:nvSpPr>
          <p:cNvPr id="17" name="I:section 2">
            <a:extLst>
              <a:ext uri="{FF2B5EF4-FFF2-40B4-BE49-F238E27FC236}">
                <a16:creationId xmlns:a16="http://schemas.microsoft.com/office/drawing/2014/main" id="{3F707809-FFC6-4B75-A4CB-2B14677CA9C1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결과/성과</a:t>
            </a:r>
          </a:p>
        </p:txBody>
      </p:sp>
      <p:sp>
        <p:nvSpPr>
          <p:cNvPr id="18" name="I:body 2">
            <a:extLst>
              <a:ext uri="{FF2B5EF4-FFF2-40B4-BE49-F238E27FC236}">
                <a16:creationId xmlns:a16="http://schemas.microsoft.com/office/drawing/2014/main" id="{B14FC1DC-69A1-4825-B41A-2C5C278E7AB4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44577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부정 매체 적발로 연 </a:t>
            </a:r>
            <a:r>
              <a:rPr sz="132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1.2억 원</a:t>
            </a: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 비용 절감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CPM 기준값 조정으로 앱 매체 월 매출 최대 </a:t>
            </a:r>
            <a:r>
              <a:rPr sz="132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30%</a:t>
            </a: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 증가</a:t>
            </a:r>
          </a:p>
        </p:txBody>
      </p:sp>
      <p:sp>
        <p:nvSpPr>
          <p:cNvPr id="19" name="I:section 3">
            <a:extLst>
              <a:ext uri="{FF2B5EF4-FFF2-40B4-BE49-F238E27FC236}">
                <a16:creationId xmlns:a16="http://schemas.microsoft.com/office/drawing/2014/main" id="{8682C4FD-03E8-4AB8-9CEA-AEF566B1CAE2}"/>
              </a:ext>
            </a:extLst>
          </p:cNvPr>
          <p:cNvSpPr>
            <a:spLocks noGrp="1"/>
          </p:cNvSpPr>
          <p:nvPr/>
        </p:nvSpPr>
        <p:spPr>
          <a:xfrm>
            <a:off x="1000125" y="5600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담당 역할</a:t>
            </a:r>
          </a:p>
        </p:txBody>
      </p:sp>
      <p:sp>
        <p:nvSpPr>
          <p:cNvPr id="20" name="I:body 3">
            <a:extLst>
              <a:ext uri="{FF2B5EF4-FFF2-40B4-BE49-F238E27FC236}">
                <a16:creationId xmlns:a16="http://schemas.microsoft.com/office/drawing/2014/main" id="{FCAEE968-87A9-4989-BF3E-41EF958A5F7C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3600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광고 플랫폼 운영·정책 대응 기획</a:t>
            </a:r>
          </a:p>
        </p:txBody>
      </p:sp>
      <p:sp>
        <p:nvSpPr>
          <p:cNvPr id="21" name="I:evidence caption">
            <a:extLst>
              <a:ext uri="{FF2B5EF4-FFF2-40B4-BE49-F238E27FC236}">
                <a16:creationId xmlns:a16="http://schemas.microsoft.com/office/drawing/2014/main" id="{A9B9FAA6-BD94-4C78-B2E5-9408E794FA97}"/>
              </a:ext>
            </a:extLst>
          </p:cNvPr>
          <p:cNvSpPr>
            <a:spLocks noGrp="1"/>
          </p:cNvSpPr>
          <p:nvPr/>
        </p:nvSpPr>
        <p:spPr>
          <a:xfrm>
            <a:off x="6096000" y="1676400"/>
            <a:ext cx="5600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모바일 광고 측정 정책 검토 자료</a:t>
            </a:r>
          </a:p>
        </p:txBody>
      </p:sp>
      <p:sp>
        <p:nvSpPr>
          <p:cNvPr id="22" name="I:disclosure">
            <a:extLst>
              <a:ext uri="{FF2B5EF4-FFF2-40B4-BE49-F238E27FC236}">
                <a16:creationId xmlns:a16="http://schemas.microsoft.com/office/drawing/2014/main" id="{465D8305-0CA1-423F-8B27-126B1857AE8D}"/>
              </a:ext>
            </a:extLst>
          </p:cNvPr>
          <p:cNvSpPr>
            <a:spLocks noGrp="1"/>
          </p:cNvSpPr>
          <p:nvPr/>
        </p:nvSpPr>
        <p:spPr>
          <a:xfrm>
            <a:off x="6096000" y="6410325"/>
            <a:ext cx="5486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공개 가능한 범위의 내부 자료 발췌 · 일부 데이터 비식별화</a:t>
            </a:r>
          </a:p>
        </p:txBody>
      </p:sp>
      <p:sp>
        <p:nvSpPr>
          <p:cNvPr id="9901" name="Role contribution label">
            <a:extLst>
              <a:ext uri="{FF2B5EF4-FFF2-40B4-BE49-F238E27FC236}">
                <a16:creationId xmlns:a16="http://schemas.microsoft.com/office/drawing/2014/main" id="{E12A54A9-74F2-45A0-A11A-D52627571276}"/>
              </a:ext>
            </a:extLst>
          </p:cNvPr>
          <p:cNvSpPr>
            <a:spLocks noGrp="1"/>
          </p:cNvSpPr>
          <p:nvPr/>
        </p:nvSpPr>
        <p:spPr>
          <a:xfrm>
            <a:off x="1000125" y="58769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기획 기여도</a:t>
            </a:r>
          </a:p>
        </p:txBody>
      </p:sp>
      <p:sp>
        <p:nvSpPr>
          <p:cNvPr id="9902" name="Role contribution value">
            <a:extLst>
              <a:ext uri="{FF2B5EF4-FFF2-40B4-BE49-F238E27FC236}">
                <a16:creationId xmlns:a16="http://schemas.microsoft.com/office/drawing/2014/main" id="{9F13BC73-3038-4A13-925C-FA05C4361CD1}"/>
              </a:ext>
            </a:extLst>
          </p:cNvPr>
          <p:cNvSpPr>
            <a:spLocks noGrp="1"/>
          </p:cNvSpPr>
          <p:nvPr/>
        </p:nvSpPr>
        <p:spPr>
          <a:xfrm>
            <a:off x="1905000" y="5876925"/>
            <a:ext cx="3600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100%</a:t>
            </a:r>
          </a:p>
        </p:txBody>
      </p:sp>
      <p:sp>
        <p:nvSpPr>
          <p:cNvPr id="9903" name="Team label">
            <a:extLst>
              <a:ext uri="{FF2B5EF4-FFF2-40B4-BE49-F238E27FC236}">
                <a16:creationId xmlns:a16="http://schemas.microsoft.com/office/drawing/2014/main" id="{CBDF643A-B7A4-4CD9-B539-CD437AB844B4}"/>
              </a:ext>
            </a:extLst>
          </p:cNvPr>
          <p:cNvSpPr>
            <a:spLocks noGrp="1"/>
          </p:cNvSpPr>
          <p:nvPr/>
        </p:nvSpPr>
        <p:spPr>
          <a:xfrm>
            <a:off x="1000125" y="61531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협업 구성</a:t>
            </a:r>
          </a:p>
        </p:txBody>
      </p:sp>
      <p:sp>
        <p:nvSpPr>
          <p:cNvPr id="9904" name="Team value">
            <a:extLst>
              <a:ext uri="{FF2B5EF4-FFF2-40B4-BE49-F238E27FC236}">
                <a16:creationId xmlns:a16="http://schemas.microsoft.com/office/drawing/2014/main" id="{54D97B1B-FCB2-4277-88AE-24B1EF15172D}"/>
              </a:ext>
            </a:extLst>
          </p:cNvPr>
          <p:cNvSpPr>
            <a:spLocks noGrp="1"/>
          </p:cNvSpPr>
          <p:nvPr/>
        </p:nvSpPr>
        <p:spPr>
          <a:xfrm>
            <a:off x="1905000" y="61531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rPr>
              <a:t>기획 1명(본인)</a:t>
            </a:r>
          </a:p>
        </p:txBody>
      </p:sp>
    </p:spTree>
    <p:extLst>
      <p:ext uri="{BB962C8B-B14F-4D97-AF65-F5344CB8AC3E}">
        <p14:creationId xmlns:p14="http://schemas.microsoft.com/office/powerpoint/2010/main" val="2555585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27">
            <a:extLst>
              <a:ext uri="{FF2B5EF4-FFF2-40B4-BE49-F238E27FC236}">
                <a16:creationId xmlns:a16="http://schemas.microsoft.com/office/drawing/2014/main" id="{B5392755-5865-F9B0-8A6B-497FC1FEFB7F}"/>
              </a:ext>
            </a:extLst>
          </p:cNvPr>
          <p:cNvSpPr>
            <a:spLocks noGrp="1"/>
          </p:cNvSpPr>
          <p:nvPr/>
        </p:nvSpPr>
        <p:spPr>
          <a:xfrm>
            <a:off x="0" y="824999"/>
            <a:ext cx="1041400" cy="4012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직사각형 24">
            <a:extLst>
              <a:ext uri="{FF2B5EF4-FFF2-40B4-BE49-F238E27FC236}">
                <a16:creationId xmlns:a16="http://schemas.microsoft.com/office/drawing/2014/main" id="{9300C823-004B-CBFA-D2AC-54CAF748651A}"/>
              </a:ext>
            </a:extLst>
          </p:cNvPr>
          <p:cNvSpPr>
            <a:spLocks noGrp="1"/>
          </p:cNvSpPr>
          <p:nvPr/>
        </p:nvSpPr>
        <p:spPr>
          <a:xfrm>
            <a:off x="0" y="56308"/>
            <a:ext cx="12192000" cy="595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직사각형 50">
            <a:extLst>
              <a:ext uri="{FF2B5EF4-FFF2-40B4-BE49-F238E27FC236}">
                <a16:creationId xmlns:a16="http://schemas.microsoft.com/office/drawing/2014/main" id="{3A7B5860-8D32-C866-0A67-DA9795350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선 연결선 15">
            <a:extLst>
              <a:ext uri="{FF2B5EF4-FFF2-40B4-BE49-F238E27FC236}">
                <a16:creationId xmlns:a16="http://schemas.microsoft.com/office/drawing/2014/main" id="{95C1A325-505D-4B67-8F4F-385E5E9505B2}"/>
              </a:ext>
            </a:extLst>
          </p:cNvPr>
          <p:cNvSpPr>
            <a:spLocks noGrp="1"/>
          </p:cNvSpPr>
          <p:nvPr/>
        </p:nvSpPr>
        <p:spPr>
          <a:xfrm>
            <a:off x="0" y="1229505"/>
            <a:ext cx="4204447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6" name="직사각형 16">
            <a:extLst>
              <a:ext uri="{FF2B5EF4-FFF2-40B4-BE49-F238E27FC236}">
                <a16:creationId xmlns:a16="http://schemas.microsoft.com/office/drawing/2014/main" id="{BB03FEB3-BCA6-E72B-25F6-6F59200B89FF}"/>
              </a:ext>
            </a:extLst>
          </p:cNvPr>
          <p:cNvSpPr>
            <a:spLocks noGrp="1"/>
          </p:cNvSpPr>
          <p:nvPr/>
        </p:nvSpPr>
        <p:spPr>
          <a:xfrm>
            <a:off x="762759" y="1601182"/>
            <a:ext cx="4931893" cy="4891685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grpSp>
        <p:nvGrpSpPr>
          <p:cNvPr id="7" name="Original evidence"/>
          <p:cNvGrpSpPr/>
          <p:nvPr/>
        </p:nvGrpSpPr>
        <p:grpSpPr>
          <a:xfrm>
            <a:off x="6096000" y="2057170"/>
            <a:ext cx="5600700" cy="4220034"/>
            <a:chOff x="5902201" y="1505597"/>
            <a:chExt cx="6030185" cy="4543644"/>
          </a:xfrm>
        </p:grpSpPr>
        <p:pic>
          <p:nvPicPr>
            <p:cNvPr id="8" name="그림 21">
              <a:extLst>
                <a:ext uri="{FF2B5EF4-FFF2-40B4-BE49-F238E27FC236}">
                  <a16:creationId xmlns:a16="http://schemas.microsoft.com/office/drawing/2014/main" id="{19272711-8F1F-922F-8FA6-C6A98CA99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02201" y="1505597"/>
              <a:ext cx="6030185" cy="4543644"/>
            </a:xfrm>
            <a:prstGeom prst="rect">
              <a:avLst/>
            </a:prstGeom>
          </p:spPr>
        </p:pic>
      </p:grpSp>
      <p:sp>
        <p:nvSpPr>
          <p:cNvPr id="9" name="I:header">
            <a:extLst>
              <a:ext uri="{FF2B5EF4-FFF2-40B4-BE49-F238E27FC236}">
                <a16:creationId xmlns:a16="http://schemas.microsoft.com/office/drawing/2014/main" id="{D1474EFF-140B-42A4-9AC1-2A47DC949B74}"/>
              </a:ext>
            </a:extLst>
          </p:cNvPr>
          <p:cNvSpPr>
            <a:spLocks noGrp="1"/>
          </p:cNvSpPr>
          <p:nvPr/>
        </p:nvSpPr>
        <p:spPr>
          <a:xfrm>
            <a:off x="190500" y="2000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NHN DATA / 광고 플랫폼 Product Manager</a:t>
            </a:r>
          </a:p>
        </p:txBody>
      </p:sp>
      <p:sp>
        <p:nvSpPr>
          <p:cNvPr id="10" name="I:category">
            <a:extLst>
              <a:ext uri="{FF2B5EF4-FFF2-40B4-BE49-F238E27FC236}">
                <a16:creationId xmlns:a16="http://schemas.microsoft.com/office/drawing/2014/main" id="{23D0A8C0-1BA5-47F2-9DDB-A7EFB90BAE87}"/>
              </a:ext>
            </a:extLst>
          </p:cNvPr>
          <p:cNvSpPr>
            <a:spLocks noGrp="1"/>
          </p:cNvSpPr>
          <p:nvPr/>
        </p:nvSpPr>
        <p:spPr>
          <a:xfrm>
            <a:off x="0" y="923925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11" name="I:project">
            <a:extLst>
              <a:ext uri="{FF2B5EF4-FFF2-40B4-BE49-F238E27FC236}">
                <a16:creationId xmlns:a16="http://schemas.microsoft.com/office/drawing/2014/main" id="{1DEC5D82-D042-4A6E-A653-128421EF6F05}"/>
              </a:ext>
            </a:extLst>
          </p:cNvPr>
          <p:cNvSpPr>
            <a:spLocks noGrp="1"/>
          </p:cNvSpPr>
          <p:nvPr/>
        </p:nvSpPr>
        <p:spPr>
          <a:xfrm>
            <a:off x="1171575" y="9144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광고 성과 모니터링을 위한 운영 어드민 구축</a:t>
            </a:r>
          </a:p>
        </p:txBody>
      </p:sp>
      <p:sp>
        <p:nvSpPr>
          <p:cNvPr id="12" name="I:page">
            <a:extLst>
              <a:ext uri="{FF2B5EF4-FFF2-40B4-BE49-F238E27FC236}">
                <a16:creationId xmlns:a16="http://schemas.microsoft.com/office/drawing/2014/main" id="{90B85B9E-FFF1-45CA-AF0C-CA6B0D35A559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25</a:t>
            </a:r>
          </a:p>
        </p:txBody>
      </p:sp>
      <p:sp>
        <p:nvSpPr>
          <p:cNvPr id="13" name="I:section 0">
            <a:extLst>
              <a:ext uri="{FF2B5EF4-FFF2-40B4-BE49-F238E27FC236}">
                <a16:creationId xmlns:a16="http://schemas.microsoft.com/office/drawing/2014/main" id="{98901307-A4A2-4DFD-A194-9C930CCE177F}"/>
              </a:ext>
            </a:extLst>
          </p:cNvPr>
          <p:cNvSpPr>
            <a:spLocks noGrp="1"/>
          </p:cNvSpPr>
          <p:nvPr/>
        </p:nvSpPr>
        <p:spPr>
          <a:xfrm>
            <a:off x="1000125" y="179070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문제 의식 및 목표</a:t>
            </a:r>
          </a:p>
        </p:txBody>
      </p:sp>
      <p:sp>
        <p:nvSpPr>
          <p:cNvPr id="14" name="I:body 0">
            <a:extLst>
              <a:ext uri="{FF2B5EF4-FFF2-40B4-BE49-F238E27FC236}">
                <a16:creationId xmlns:a16="http://schemas.microsoft.com/office/drawing/2014/main" id="{225487A6-F4D2-4114-BE9B-4F4D29D8B08B}"/>
              </a:ext>
            </a:extLst>
          </p:cNvPr>
          <p:cNvSpPr>
            <a:spLocks noGrp="1"/>
          </p:cNvSpPr>
          <p:nvPr/>
        </p:nvSpPr>
        <p:spPr>
          <a:xfrm>
            <a:off x="1000125" y="2105025"/>
            <a:ext cx="44577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엑셀 기반 캠페인 지표 수기 관리의 비효율 확인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성과 파악과 문제 대응 시간 단축 필요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주요 지표를 통합 조회하는 운영 화면 기획</a:t>
            </a:r>
          </a:p>
        </p:txBody>
      </p:sp>
      <p:sp>
        <p:nvSpPr>
          <p:cNvPr id="15" name="I:section 1">
            <a:extLst>
              <a:ext uri="{FF2B5EF4-FFF2-40B4-BE49-F238E27FC236}">
                <a16:creationId xmlns:a16="http://schemas.microsoft.com/office/drawing/2014/main" id="{24D0FADD-C4A7-48C6-86B6-A0ABA4F9CD8A}"/>
              </a:ext>
            </a:extLst>
          </p:cNvPr>
          <p:cNvSpPr>
            <a:spLocks noGrp="1"/>
          </p:cNvSpPr>
          <p:nvPr/>
        </p:nvSpPr>
        <p:spPr>
          <a:xfrm>
            <a:off x="1000125" y="286702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주요 업무</a:t>
            </a:r>
          </a:p>
        </p:txBody>
      </p:sp>
      <p:sp>
        <p:nvSpPr>
          <p:cNvPr id="16" name="I:body 1">
            <a:extLst>
              <a:ext uri="{FF2B5EF4-FFF2-40B4-BE49-F238E27FC236}">
                <a16:creationId xmlns:a16="http://schemas.microsoft.com/office/drawing/2014/main" id="{C5E00019-AC08-42A1-AE24-FA4B01162C4E}"/>
              </a:ext>
            </a:extLst>
          </p:cNvPr>
          <p:cNvSpPr>
            <a:spLocks noGrp="1"/>
          </p:cNvSpPr>
          <p:nvPr/>
        </p:nvSpPr>
        <p:spPr>
          <a:xfrm>
            <a:off x="1000125" y="3181350"/>
            <a:ext cx="4457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영업·사업 부서의 요구사항과 필요한 지표 정리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화면 설계서 및 어드민 스토리보드 작성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지표별 데이터 소스와 연결 방식 정의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디자인·개발 담당자와 운영 센터 구축</a:t>
            </a:r>
          </a:p>
        </p:txBody>
      </p:sp>
      <p:sp>
        <p:nvSpPr>
          <p:cNvPr id="17" name="I:section 2">
            <a:extLst>
              <a:ext uri="{FF2B5EF4-FFF2-40B4-BE49-F238E27FC236}">
                <a16:creationId xmlns:a16="http://schemas.microsoft.com/office/drawing/2014/main" id="{3F025D47-D7D0-4DE5-B387-13906CC7F123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결과/성과</a:t>
            </a:r>
          </a:p>
        </p:txBody>
      </p:sp>
      <p:sp>
        <p:nvSpPr>
          <p:cNvPr id="18" name="I:body 2">
            <a:extLst>
              <a:ext uri="{FF2B5EF4-FFF2-40B4-BE49-F238E27FC236}">
                <a16:creationId xmlns:a16="http://schemas.microsoft.com/office/drawing/2014/main" id="{479E2479-A491-4B6D-9338-A7682845C2FE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44577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캠페인 성과를 통합 조회하는 모니터링 화면 구축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지표 확인과 이슈 대응의 업무 효율 개선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이전 분기 대비 마케팅 효율 개선</a:t>
            </a:r>
          </a:p>
        </p:txBody>
      </p:sp>
      <p:sp>
        <p:nvSpPr>
          <p:cNvPr id="19" name="I:section 3">
            <a:extLst>
              <a:ext uri="{FF2B5EF4-FFF2-40B4-BE49-F238E27FC236}">
                <a16:creationId xmlns:a16="http://schemas.microsoft.com/office/drawing/2014/main" id="{DC05B3CA-0B38-4FA8-A037-F19219E66DF3}"/>
              </a:ext>
            </a:extLst>
          </p:cNvPr>
          <p:cNvSpPr>
            <a:spLocks noGrp="1"/>
          </p:cNvSpPr>
          <p:nvPr/>
        </p:nvSpPr>
        <p:spPr>
          <a:xfrm>
            <a:off x="1000125" y="5600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담당 역할</a:t>
            </a:r>
          </a:p>
        </p:txBody>
      </p:sp>
      <p:sp>
        <p:nvSpPr>
          <p:cNvPr id="20" name="I:body 3">
            <a:extLst>
              <a:ext uri="{FF2B5EF4-FFF2-40B4-BE49-F238E27FC236}">
                <a16:creationId xmlns:a16="http://schemas.microsoft.com/office/drawing/2014/main" id="{D24E11F2-B6EC-4766-B157-8CD2862B05C7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3600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어드민 기획·지표·데이터 정의</a:t>
            </a:r>
          </a:p>
        </p:txBody>
      </p:sp>
      <p:sp>
        <p:nvSpPr>
          <p:cNvPr id="21" name="I:evidence caption">
            <a:extLst>
              <a:ext uri="{FF2B5EF4-FFF2-40B4-BE49-F238E27FC236}">
                <a16:creationId xmlns:a16="http://schemas.microsoft.com/office/drawing/2014/main" id="{972910BD-D57B-40FD-9DA5-44988BDDCDC1}"/>
              </a:ext>
            </a:extLst>
          </p:cNvPr>
          <p:cNvSpPr>
            <a:spLocks noGrp="1"/>
          </p:cNvSpPr>
          <p:nvPr/>
        </p:nvSpPr>
        <p:spPr>
          <a:xfrm>
            <a:off x="6096000" y="1676400"/>
            <a:ext cx="5600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리포트 화면 설계서 및 운영 지표 구성</a:t>
            </a:r>
          </a:p>
        </p:txBody>
      </p:sp>
      <p:sp>
        <p:nvSpPr>
          <p:cNvPr id="22" name="I:disclosure">
            <a:extLst>
              <a:ext uri="{FF2B5EF4-FFF2-40B4-BE49-F238E27FC236}">
                <a16:creationId xmlns:a16="http://schemas.microsoft.com/office/drawing/2014/main" id="{8EBA3BEB-2C4C-4242-B613-81D5930C28FD}"/>
              </a:ext>
            </a:extLst>
          </p:cNvPr>
          <p:cNvSpPr>
            <a:spLocks noGrp="1"/>
          </p:cNvSpPr>
          <p:nvPr/>
        </p:nvSpPr>
        <p:spPr>
          <a:xfrm>
            <a:off x="6096000" y="6410325"/>
            <a:ext cx="5486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공개 가능한 범위의 내부 자료 발췌 · 일부 데이터 비식별화</a:t>
            </a:r>
          </a:p>
        </p:txBody>
      </p:sp>
      <p:sp>
        <p:nvSpPr>
          <p:cNvPr id="9901" name="Role contribution label">
            <a:extLst>
              <a:ext uri="{FF2B5EF4-FFF2-40B4-BE49-F238E27FC236}">
                <a16:creationId xmlns:a16="http://schemas.microsoft.com/office/drawing/2014/main" id="{DC3934E9-2BF3-40D7-8A93-57D66411B275}"/>
              </a:ext>
            </a:extLst>
          </p:cNvPr>
          <p:cNvSpPr>
            <a:spLocks noGrp="1"/>
          </p:cNvSpPr>
          <p:nvPr/>
        </p:nvSpPr>
        <p:spPr>
          <a:xfrm>
            <a:off x="1000125" y="58769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기획 기여도</a:t>
            </a:r>
          </a:p>
        </p:txBody>
      </p:sp>
      <p:sp>
        <p:nvSpPr>
          <p:cNvPr id="9902" name="Role contribution value">
            <a:extLst>
              <a:ext uri="{FF2B5EF4-FFF2-40B4-BE49-F238E27FC236}">
                <a16:creationId xmlns:a16="http://schemas.microsoft.com/office/drawing/2014/main" id="{AFB8F056-6862-4326-B4D4-4F3FC6EB88DF}"/>
              </a:ext>
            </a:extLst>
          </p:cNvPr>
          <p:cNvSpPr>
            <a:spLocks noGrp="1"/>
          </p:cNvSpPr>
          <p:nvPr/>
        </p:nvSpPr>
        <p:spPr>
          <a:xfrm>
            <a:off x="1905000" y="5876925"/>
            <a:ext cx="3600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100%</a:t>
            </a:r>
          </a:p>
        </p:txBody>
      </p:sp>
      <p:sp>
        <p:nvSpPr>
          <p:cNvPr id="9903" name="Team label">
            <a:extLst>
              <a:ext uri="{FF2B5EF4-FFF2-40B4-BE49-F238E27FC236}">
                <a16:creationId xmlns:a16="http://schemas.microsoft.com/office/drawing/2014/main" id="{36D46FB6-50E3-452E-A760-9CB0AA44033F}"/>
              </a:ext>
            </a:extLst>
          </p:cNvPr>
          <p:cNvSpPr>
            <a:spLocks noGrp="1"/>
          </p:cNvSpPr>
          <p:nvPr/>
        </p:nvSpPr>
        <p:spPr>
          <a:xfrm>
            <a:off x="1000125" y="61531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협업 구성</a:t>
            </a:r>
          </a:p>
        </p:txBody>
      </p:sp>
      <p:sp>
        <p:nvSpPr>
          <p:cNvPr id="9904" name="Team value">
            <a:extLst>
              <a:ext uri="{FF2B5EF4-FFF2-40B4-BE49-F238E27FC236}">
                <a16:creationId xmlns:a16="http://schemas.microsoft.com/office/drawing/2014/main" id="{F6CABF6E-636D-4EEC-9EA5-7BC9AA2CA672}"/>
              </a:ext>
            </a:extLst>
          </p:cNvPr>
          <p:cNvSpPr>
            <a:spLocks noGrp="1"/>
          </p:cNvSpPr>
          <p:nvPr/>
        </p:nvSpPr>
        <p:spPr>
          <a:xfrm>
            <a:off x="1905000" y="61531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rPr>
              <a:t>서버 2명, 프론트 1명, 디자인 1명</a:t>
            </a:r>
          </a:p>
        </p:txBody>
      </p:sp>
    </p:spTree>
    <p:extLst>
      <p:ext uri="{BB962C8B-B14F-4D97-AF65-F5344CB8AC3E}">
        <p14:creationId xmlns:p14="http://schemas.microsoft.com/office/powerpoint/2010/main" val="4294907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27">
            <a:extLst>
              <a:ext uri="{FF2B5EF4-FFF2-40B4-BE49-F238E27FC236}">
                <a16:creationId xmlns:a16="http://schemas.microsoft.com/office/drawing/2014/main" id="{B5392755-5865-F9B0-8A6B-497FC1FEFB7F}"/>
              </a:ext>
            </a:extLst>
          </p:cNvPr>
          <p:cNvSpPr>
            <a:spLocks noGrp="1"/>
          </p:cNvSpPr>
          <p:nvPr/>
        </p:nvSpPr>
        <p:spPr>
          <a:xfrm>
            <a:off x="0" y="824999"/>
            <a:ext cx="1041400" cy="4012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직사각형 24">
            <a:extLst>
              <a:ext uri="{FF2B5EF4-FFF2-40B4-BE49-F238E27FC236}">
                <a16:creationId xmlns:a16="http://schemas.microsoft.com/office/drawing/2014/main" id="{9300C823-004B-CBFA-D2AC-54CAF748651A}"/>
              </a:ext>
            </a:extLst>
          </p:cNvPr>
          <p:cNvSpPr>
            <a:spLocks noGrp="1"/>
          </p:cNvSpPr>
          <p:nvPr/>
        </p:nvSpPr>
        <p:spPr>
          <a:xfrm>
            <a:off x="0" y="56308"/>
            <a:ext cx="12192000" cy="595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직사각형 50">
            <a:extLst>
              <a:ext uri="{FF2B5EF4-FFF2-40B4-BE49-F238E27FC236}">
                <a16:creationId xmlns:a16="http://schemas.microsoft.com/office/drawing/2014/main" id="{3A7B5860-8D32-C866-0A67-DA9795350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선 연결선 15">
            <a:extLst>
              <a:ext uri="{FF2B5EF4-FFF2-40B4-BE49-F238E27FC236}">
                <a16:creationId xmlns:a16="http://schemas.microsoft.com/office/drawing/2014/main" id="{95C1A325-505D-4B67-8F4F-385E5E9505B2}"/>
              </a:ext>
            </a:extLst>
          </p:cNvPr>
          <p:cNvSpPr>
            <a:spLocks noGrp="1"/>
          </p:cNvSpPr>
          <p:nvPr/>
        </p:nvSpPr>
        <p:spPr>
          <a:xfrm>
            <a:off x="0" y="1229505"/>
            <a:ext cx="4204447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6" name="직사각형 16">
            <a:extLst>
              <a:ext uri="{FF2B5EF4-FFF2-40B4-BE49-F238E27FC236}">
                <a16:creationId xmlns:a16="http://schemas.microsoft.com/office/drawing/2014/main" id="{BB03FEB3-BCA6-E72B-25F6-6F59200B89FF}"/>
              </a:ext>
            </a:extLst>
          </p:cNvPr>
          <p:cNvSpPr>
            <a:spLocks noGrp="1"/>
          </p:cNvSpPr>
          <p:nvPr/>
        </p:nvSpPr>
        <p:spPr>
          <a:xfrm>
            <a:off x="762759" y="1601182"/>
            <a:ext cx="4931893" cy="4891685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grpSp>
        <p:nvGrpSpPr>
          <p:cNvPr id="7" name="Original evidence"/>
          <p:cNvGrpSpPr/>
          <p:nvPr/>
        </p:nvGrpSpPr>
        <p:grpSpPr>
          <a:xfrm>
            <a:off x="6263552" y="2047875"/>
            <a:ext cx="5265595" cy="4238625"/>
            <a:chOff x="6081288" y="1543510"/>
            <a:chExt cx="5494384" cy="4422792"/>
          </a:xfrm>
        </p:grpSpPr>
        <p:pic>
          <p:nvPicPr>
            <p:cNvPr id="8" name="그림 2">
              <a:extLst>
                <a:ext uri="{FF2B5EF4-FFF2-40B4-BE49-F238E27FC236}">
                  <a16:creationId xmlns:a16="http://schemas.microsoft.com/office/drawing/2014/main" id="{8AE2BBF5-4803-DD98-D92F-8D78B546A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69762" y="2254885"/>
              <a:ext cx="907353" cy="1103850"/>
            </a:xfrm>
            <a:prstGeom prst="rect">
              <a:avLst/>
            </a:prstGeom>
          </p:spPr>
        </p:pic>
        <p:sp>
          <p:nvSpPr>
            <p:cNvPr id="9" name="아래로 구부러진 화살표 9">
              <a:extLst>
                <a:ext uri="{FF2B5EF4-FFF2-40B4-BE49-F238E27FC236}">
                  <a16:creationId xmlns:a16="http://schemas.microsoft.com/office/drawing/2014/main" id="{C327CD44-757E-148A-96C3-9C279E133E46}"/>
                </a:ext>
              </a:extLst>
            </p:cNvPr>
            <p:cNvSpPr/>
            <p:nvPr/>
          </p:nvSpPr>
          <p:spPr>
            <a:xfrm>
              <a:off x="7984833" y="2488788"/>
              <a:ext cx="1316656" cy="374820"/>
            </a:xfrm>
            <a:prstGeom prst="curvedDownArrow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endParaRPr>
            </a:p>
          </p:txBody>
        </p:sp>
        <p:grpSp>
          <p:nvGrpSpPr>
            <p:cNvPr id="10" name="그룹 17">
              <a:extLst>
                <a:ext uri="{FF2B5EF4-FFF2-40B4-BE49-F238E27FC236}">
                  <a16:creationId xmlns:a16="http://schemas.microsoft.com/office/drawing/2014/main" id="{C3F6B770-7054-3F0E-DE15-BFFCA3D88706}"/>
                </a:ext>
              </a:extLst>
            </p:cNvPr>
            <p:cNvGrpSpPr/>
            <p:nvPr/>
          </p:nvGrpSpPr>
          <p:grpSpPr>
            <a:xfrm>
              <a:off x="8013597" y="3827857"/>
              <a:ext cx="1267898" cy="2138445"/>
              <a:chOff x="3869781" y="3470679"/>
              <a:chExt cx="1687150" cy="3340946"/>
            </a:xfrm>
          </p:grpSpPr>
          <p:pic>
            <p:nvPicPr>
              <p:cNvPr id="11" name="그림 18">
                <a:extLst>
                  <a:ext uri="{FF2B5EF4-FFF2-40B4-BE49-F238E27FC236}">
                    <a16:creationId xmlns:a16="http://schemas.microsoft.com/office/drawing/2014/main" id="{A8EFD9C3-2428-677B-C108-6CB029A076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09705" y="3470679"/>
                <a:ext cx="1647226" cy="3340946"/>
              </a:xfrm>
              <a:prstGeom prst="rect">
                <a:avLst/>
              </a:prstGeom>
            </p:spPr>
          </p:pic>
          <p:sp>
            <p:nvSpPr>
              <p:cNvPr id="12" name="직사각형 19">
                <a:extLst>
                  <a:ext uri="{FF2B5EF4-FFF2-40B4-BE49-F238E27FC236}">
                    <a16:creationId xmlns:a16="http://schemas.microsoft.com/office/drawing/2014/main" id="{A5A1D0F9-19AC-A7DB-675E-2675BF6AE326}"/>
                  </a:ext>
                </a:extLst>
              </p:cNvPr>
              <p:cNvSpPr/>
              <p:nvPr/>
            </p:nvSpPr>
            <p:spPr>
              <a:xfrm>
                <a:off x="3869781" y="3879888"/>
                <a:ext cx="1687150" cy="1389282"/>
              </a:xfrm>
              <a:prstGeom prst="rect">
                <a:avLst/>
              </a:prstGeom>
              <a:noFill/>
              <a:ln w="25400">
                <a:solidFill>
                  <a:srgbClr val="002C5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라운드OTF Regular" panose="020B0600000101010101" pitchFamily="34" charset="-127"/>
                  <a:ea typeface="나눔스퀘어라운드OTF Regular" panose="020B0600000101010101" pitchFamily="34" charset="-127"/>
                </a:endParaRPr>
              </a:p>
            </p:txBody>
          </p:sp>
        </p:grpSp>
        <p:sp>
          <p:nvSpPr>
            <p:cNvPr id="13" name="왼쪽으로 구부러진 화살표 15">
              <a:extLst>
                <a:ext uri="{FF2B5EF4-FFF2-40B4-BE49-F238E27FC236}">
                  <a16:creationId xmlns:a16="http://schemas.microsoft.com/office/drawing/2014/main" id="{A552F4BA-5CFE-83AF-27A5-6995C26F15F6}"/>
                </a:ext>
              </a:extLst>
            </p:cNvPr>
            <p:cNvSpPr/>
            <p:nvPr/>
          </p:nvSpPr>
          <p:spPr>
            <a:xfrm rot="1915672">
              <a:off x="9852488" y="3830985"/>
              <a:ext cx="411925" cy="1129122"/>
            </a:xfrm>
            <a:prstGeom prst="curvedLeftArrow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endParaRPr>
            </a:p>
          </p:txBody>
        </p:sp>
        <p:grpSp>
          <p:nvGrpSpPr>
            <p:cNvPr id="14" name="그룹 21">
              <a:extLst>
                <a:ext uri="{FF2B5EF4-FFF2-40B4-BE49-F238E27FC236}">
                  <a16:creationId xmlns:a16="http://schemas.microsoft.com/office/drawing/2014/main" id="{A52B642E-1490-AF36-8354-40DFEBB3D2D7}"/>
                </a:ext>
              </a:extLst>
            </p:cNvPr>
            <p:cNvGrpSpPr/>
            <p:nvPr/>
          </p:nvGrpSpPr>
          <p:grpSpPr>
            <a:xfrm>
              <a:off x="6081288" y="1591370"/>
              <a:ext cx="339574" cy="286882"/>
              <a:chOff x="6859827" y="1385995"/>
              <a:chExt cx="676579" cy="571594"/>
            </a:xfrm>
          </p:grpSpPr>
          <p:sp>
            <p:nvSpPr>
              <p:cNvPr id="15" name="타원 22">
                <a:extLst>
                  <a:ext uri="{FF2B5EF4-FFF2-40B4-BE49-F238E27FC236}">
                    <a16:creationId xmlns:a16="http://schemas.microsoft.com/office/drawing/2014/main" id="{E5DCE098-341D-AECE-2F25-DEC8E10ADE97}"/>
                  </a:ext>
                </a:extLst>
              </p:cNvPr>
              <p:cNvSpPr/>
              <p:nvPr/>
            </p:nvSpPr>
            <p:spPr>
              <a:xfrm>
                <a:off x="6910903" y="1385995"/>
                <a:ext cx="564367" cy="564367"/>
              </a:xfrm>
              <a:prstGeom prst="ellipse">
                <a:avLst/>
              </a:prstGeom>
              <a:solidFill>
                <a:srgbClr val="002C5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>
                  <a:latin typeface="나눔스퀘어라운드OTF Regular" panose="020B0600000101010101" pitchFamily="34" charset="-127"/>
                  <a:ea typeface="나눔스퀘어라운드OTF Regular" panose="020B0600000101010101" pitchFamily="34" charset="-127"/>
                </a:endParaRPr>
              </a:p>
            </p:txBody>
          </p:sp>
          <p:sp>
            <p:nvSpPr>
              <p:cNvPr id="16" name="Shape 150">
                <a:extLst>
                  <a:ext uri="{FF2B5EF4-FFF2-40B4-BE49-F238E27FC236}">
                    <a16:creationId xmlns:a16="http://schemas.microsoft.com/office/drawing/2014/main" id="{2D99431C-42F2-2C26-60C6-DB6E547C3022}"/>
                  </a:ext>
                </a:extLst>
              </p:cNvPr>
              <p:cNvSpPr/>
              <p:nvPr/>
            </p:nvSpPr>
            <p:spPr>
              <a:xfrm>
                <a:off x="6859827" y="1405695"/>
                <a:ext cx="676579" cy="551894"/>
              </a:xfrm>
              <a:prstGeom prst="rect">
                <a:avLst/>
              </a:prstGeom>
              <a:noFill/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718" tIns="45718" rIns="45718" bIns="45718">
                <a:spAutoFit/>
              </a:bodyPr>
              <a:lstStyle>
                <a:lvl1pPr>
                  <a:defRPr sz="1200">
                    <a:ln w="9525">
                      <a:solidFill>
                        <a:srgbClr val="404040">
                          <a:alpha val="0"/>
                        </a:srgbClr>
                      </a:solidFill>
                    </a:ln>
                    <a:solidFill>
                      <a:srgbClr val="595959"/>
                    </a:solidFill>
                    <a:latin typeface="+mj-lt"/>
                    <a:ea typeface="+mj-ea"/>
                    <a:cs typeface="+mj-cs"/>
                    <a:sym typeface="나눔바른고딕"/>
                  </a:defRPr>
                </a:lvl1pPr>
              </a:lstStyle>
              <a:p>
                <a:pPr algn="ctr"/>
                <a:r>
                  <a:rPr lang="en-US" altLang="ko-KR" b="1" dirty="0">
                    <a:solidFill>
                      <a:schemeClr val="bg1"/>
                    </a:solidFill>
                    <a:latin typeface="나눔스퀘어라운드OTF Regular" panose="020B0600000101010101" pitchFamily="34" charset="-127"/>
                    <a:ea typeface="나눔스퀘어라운드OTF Regular" panose="020B0600000101010101" pitchFamily="34" charset="-127"/>
                  </a:rPr>
                  <a:t>1</a:t>
                </a:r>
              </a:p>
            </p:txBody>
          </p:sp>
        </p:grpSp>
        <p:sp>
          <p:nvSpPr>
            <p:cNvPr id="17" name="Shape 150">
              <a:extLst>
                <a:ext uri="{FF2B5EF4-FFF2-40B4-BE49-F238E27FC236}">
                  <a16:creationId xmlns:a16="http://schemas.microsoft.com/office/drawing/2014/main" id="{3AEC88DD-5CBC-164C-DEC2-2FD7CFF993F6}"/>
                </a:ext>
              </a:extLst>
            </p:cNvPr>
            <p:cNvSpPr/>
            <p:nvPr/>
          </p:nvSpPr>
          <p:spPr>
            <a:xfrm>
              <a:off x="6471917" y="1543510"/>
              <a:ext cx="1614504" cy="41549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8" tIns="45718" rIns="45718" bIns="45718">
              <a:spAutoFit/>
            </a:bodyPr>
            <a:lstStyle>
              <a:lvl1pPr>
                <a:defRPr sz="1200">
                  <a:ln w="9525">
                    <a:solidFill>
                      <a:srgbClr val="404040">
                        <a:alpha val="0"/>
                      </a:srgbClr>
                    </a:solidFill>
                  </a:ln>
                  <a:solidFill>
                    <a:srgbClr val="595959"/>
                  </a:solidFill>
                  <a:latin typeface="+mj-lt"/>
                  <a:ea typeface="+mj-ea"/>
                  <a:cs typeface="+mj-cs"/>
                  <a:sym typeface="나눔바른고딕"/>
                </a:defRPr>
              </a:lvl1pPr>
            </a:lstStyle>
            <a:p>
              <a:r>
                <a:rPr lang="ko-KR" altLang="en-US" sz="1050" dirty="0">
                  <a:solidFill>
                    <a:schemeClr val="tx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특정 키워드를 검색한</a:t>
              </a:r>
            </a:p>
            <a:p>
              <a:r>
                <a:rPr lang="ko-KR" altLang="en-US" sz="1050" dirty="0">
                  <a:solidFill>
                    <a:schemeClr val="tx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쿠키 데이터 적재</a:t>
              </a:r>
            </a:p>
          </p:txBody>
        </p:sp>
        <p:grpSp>
          <p:nvGrpSpPr>
            <p:cNvPr id="18" name="그룹 28">
              <a:extLst>
                <a:ext uri="{FF2B5EF4-FFF2-40B4-BE49-F238E27FC236}">
                  <a16:creationId xmlns:a16="http://schemas.microsoft.com/office/drawing/2014/main" id="{D3124D82-2E23-92A4-E3EF-6EFEDB6C52F1}"/>
                </a:ext>
              </a:extLst>
            </p:cNvPr>
            <p:cNvGrpSpPr/>
            <p:nvPr/>
          </p:nvGrpSpPr>
          <p:grpSpPr>
            <a:xfrm>
              <a:off x="6360159" y="1960113"/>
              <a:ext cx="1271701" cy="2158365"/>
              <a:chOff x="5857713" y="2071607"/>
              <a:chExt cx="1271701" cy="2158365"/>
            </a:xfrm>
          </p:grpSpPr>
          <p:pic>
            <p:nvPicPr>
              <p:cNvPr id="19" name="그림 34">
                <a:extLst>
                  <a:ext uri="{FF2B5EF4-FFF2-40B4-BE49-F238E27FC236}">
                    <a16:creationId xmlns:a16="http://schemas.microsoft.com/office/drawing/2014/main" id="{7C5D9A7F-F59C-619C-70E9-69F9BA70E1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57713" y="2071607"/>
                <a:ext cx="1271701" cy="2158365"/>
              </a:xfrm>
              <a:prstGeom prst="rect">
                <a:avLst/>
              </a:prstGeom>
            </p:spPr>
          </p:pic>
          <p:sp>
            <p:nvSpPr>
              <p:cNvPr id="20" name="Shape 150">
                <a:extLst>
                  <a:ext uri="{FF2B5EF4-FFF2-40B4-BE49-F238E27FC236}">
                    <a16:creationId xmlns:a16="http://schemas.microsoft.com/office/drawing/2014/main" id="{C333CFC6-7636-54B4-EA6E-2337B55AB5EF}"/>
                  </a:ext>
                </a:extLst>
              </p:cNvPr>
              <p:cNvSpPr/>
              <p:nvPr/>
            </p:nvSpPr>
            <p:spPr>
              <a:xfrm>
                <a:off x="5862476" y="2199083"/>
                <a:ext cx="339574" cy="18466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718" tIns="45718" rIns="45718" bIns="45718">
                <a:spAutoFit/>
              </a:bodyPr>
              <a:lstStyle>
                <a:lvl1pPr>
                  <a:defRPr sz="1200">
                    <a:ln w="9525">
                      <a:solidFill>
                        <a:srgbClr val="404040">
                          <a:alpha val="0"/>
                        </a:srgbClr>
                      </a:solidFill>
                    </a:ln>
                    <a:solidFill>
                      <a:srgbClr val="595959"/>
                    </a:solidFill>
                    <a:latin typeface="+mj-lt"/>
                    <a:ea typeface="+mj-ea"/>
                    <a:cs typeface="+mj-cs"/>
                    <a:sym typeface="나눔바른고딕"/>
                  </a:defRPr>
                </a:lvl1pPr>
              </a:lstStyle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  <a:latin typeface="나눔스퀘어라운드OTF Regular" panose="020B0600000101010101" pitchFamily="34" charset="-127"/>
                    <a:ea typeface="나눔스퀘어라운드OTF Regular" panose="020B0600000101010101" pitchFamily="34" charset="-127"/>
                  </a:rPr>
                  <a:t>원피스</a:t>
                </a:r>
                <a:endParaRPr lang="en-US" altLang="ko-KR" sz="600" dirty="0">
                  <a:solidFill>
                    <a:schemeClr val="tx1"/>
                  </a:solidFill>
                  <a:latin typeface="나눔스퀘어라운드OTF Regular" panose="020B0600000101010101" pitchFamily="34" charset="-127"/>
                  <a:ea typeface="나눔스퀘어라운드OTF Regular" panose="020B0600000101010101" pitchFamily="34" charset="-127"/>
                </a:endParaRPr>
              </a:p>
            </p:txBody>
          </p:sp>
        </p:grpSp>
        <p:grpSp>
          <p:nvGrpSpPr>
            <p:cNvPr id="21" name="그룹 38">
              <a:extLst>
                <a:ext uri="{FF2B5EF4-FFF2-40B4-BE49-F238E27FC236}">
                  <a16:creationId xmlns:a16="http://schemas.microsoft.com/office/drawing/2014/main" id="{AB4DB48C-D3F9-28B3-DDC4-482A91A76E8B}"/>
                </a:ext>
              </a:extLst>
            </p:cNvPr>
            <p:cNvGrpSpPr/>
            <p:nvPr/>
          </p:nvGrpSpPr>
          <p:grpSpPr>
            <a:xfrm>
              <a:off x="9491833" y="1681412"/>
              <a:ext cx="339574" cy="286882"/>
              <a:chOff x="6859827" y="1385995"/>
              <a:chExt cx="676579" cy="571594"/>
            </a:xfrm>
          </p:grpSpPr>
          <p:sp>
            <p:nvSpPr>
              <p:cNvPr id="22" name="타원 39">
                <a:extLst>
                  <a:ext uri="{FF2B5EF4-FFF2-40B4-BE49-F238E27FC236}">
                    <a16:creationId xmlns:a16="http://schemas.microsoft.com/office/drawing/2014/main" id="{7372960A-D4BA-D8ED-9C52-B5014F6B0A06}"/>
                  </a:ext>
                </a:extLst>
              </p:cNvPr>
              <p:cNvSpPr/>
              <p:nvPr/>
            </p:nvSpPr>
            <p:spPr>
              <a:xfrm>
                <a:off x="6910903" y="1385995"/>
                <a:ext cx="564367" cy="564367"/>
              </a:xfrm>
              <a:prstGeom prst="ellipse">
                <a:avLst/>
              </a:prstGeom>
              <a:solidFill>
                <a:srgbClr val="002C5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>
                  <a:latin typeface="나눔스퀘어라운드OTF Regular" panose="020B0600000101010101" pitchFamily="34" charset="-127"/>
                  <a:ea typeface="나눔스퀘어라운드OTF Regular" panose="020B0600000101010101" pitchFamily="34" charset="-127"/>
                </a:endParaRPr>
              </a:p>
            </p:txBody>
          </p:sp>
          <p:sp>
            <p:nvSpPr>
              <p:cNvPr id="23" name="Shape 150">
                <a:extLst>
                  <a:ext uri="{FF2B5EF4-FFF2-40B4-BE49-F238E27FC236}">
                    <a16:creationId xmlns:a16="http://schemas.microsoft.com/office/drawing/2014/main" id="{A24C4C96-5801-7685-2073-C537D5036578}"/>
                  </a:ext>
                </a:extLst>
              </p:cNvPr>
              <p:cNvSpPr/>
              <p:nvPr/>
            </p:nvSpPr>
            <p:spPr>
              <a:xfrm>
                <a:off x="6859827" y="1405695"/>
                <a:ext cx="676579" cy="551894"/>
              </a:xfrm>
              <a:prstGeom prst="rect">
                <a:avLst/>
              </a:prstGeom>
              <a:noFill/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718" tIns="45718" rIns="45718" bIns="45718">
                <a:spAutoFit/>
              </a:bodyPr>
              <a:lstStyle>
                <a:lvl1pPr>
                  <a:defRPr sz="1200">
                    <a:ln w="9525">
                      <a:solidFill>
                        <a:srgbClr val="404040">
                          <a:alpha val="0"/>
                        </a:srgbClr>
                      </a:solidFill>
                    </a:ln>
                    <a:solidFill>
                      <a:srgbClr val="595959"/>
                    </a:solidFill>
                    <a:latin typeface="+mj-lt"/>
                    <a:ea typeface="+mj-ea"/>
                    <a:cs typeface="+mj-cs"/>
                    <a:sym typeface="나눔바른고딕"/>
                  </a:defRPr>
                </a:lvl1pPr>
              </a:lstStyle>
              <a:p>
                <a:pPr algn="ctr"/>
                <a:r>
                  <a:rPr lang="en-US" altLang="ko-KR" b="1" dirty="0">
                    <a:solidFill>
                      <a:schemeClr val="bg1"/>
                    </a:solidFill>
                    <a:latin typeface="나눔스퀘어라운드OTF Regular" panose="020B0600000101010101" pitchFamily="34" charset="-127"/>
                    <a:ea typeface="나눔스퀘어라운드OTF Regular" panose="020B0600000101010101" pitchFamily="34" charset="-127"/>
                  </a:rPr>
                  <a:t>2</a:t>
                </a:r>
              </a:p>
            </p:txBody>
          </p:sp>
        </p:grpSp>
        <p:sp>
          <p:nvSpPr>
            <p:cNvPr id="24" name="Shape 150">
              <a:extLst>
                <a:ext uri="{FF2B5EF4-FFF2-40B4-BE49-F238E27FC236}">
                  <a16:creationId xmlns:a16="http://schemas.microsoft.com/office/drawing/2014/main" id="{66494B16-F468-254D-E83A-12B47E52BB5E}"/>
                </a:ext>
              </a:extLst>
            </p:cNvPr>
            <p:cNvSpPr/>
            <p:nvPr/>
          </p:nvSpPr>
          <p:spPr>
            <a:xfrm>
              <a:off x="9895972" y="1581073"/>
              <a:ext cx="1526408" cy="5770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8" tIns="45718" rIns="45718" bIns="45718">
              <a:spAutoFit/>
            </a:bodyPr>
            <a:lstStyle>
              <a:lvl1pPr>
                <a:defRPr sz="1200">
                  <a:ln w="9525">
                    <a:solidFill>
                      <a:srgbClr val="404040">
                        <a:alpha val="0"/>
                      </a:srgbClr>
                    </a:solidFill>
                  </a:ln>
                  <a:solidFill>
                    <a:srgbClr val="595959"/>
                  </a:solidFill>
                  <a:latin typeface="+mj-lt"/>
                  <a:ea typeface="+mj-ea"/>
                  <a:cs typeface="+mj-cs"/>
                  <a:sym typeface="나눔바른고딕"/>
                </a:defRPr>
              </a:lvl1pPr>
            </a:lstStyle>
            <a:p>
              <a:r>
                <a:rPr lang="ko-KR" altLang="en-US" sz="1050" dirty="0">
                  <a:solidFill>
                    <a:schemeClr val="tx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커머스 광고주에게 정제한 </a:t>
              </a:r>
              <a:endParaRPr lang="en-US" altLang="ko-KR" sz="10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  <a:p>
              <a:r>
                <a:rPr lang="en-US" altLang="ko-KR" sz="1050" dirty="0">
                  <a:solidFill>
                    <a:schemeClr val="tx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‘</a:t>
              </a:r>
              <a:r>
                <a:rPr lang="ko-KR" altLang="en-US" sz="1050" dirty="0">
                  <a:solidFill>
                    <a:schemeClr val="tx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키워드 </a:t>
              </a:r>
              <a:r>
                <a:rPr lang="en-US" altLang="ko-KR" sz="1050" dirty="0">
                  <a:solidFill>
                    <a:schemeClr val="tx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&amp; Cookie ID’</a:t>
              </a:r>
            </a:p>
            <a:p>
              <a:r>
                <a:rPr lang="en-US" altLang="ko-KR" sz="1050" dirty="0">
                  <a:solidFill>
                    <a:schemeClr val="tx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Data</a:t>
              </a:r>
              <a:r>
                <a:rPr lang="ko-KR" altLang="en-US" sz="1050" dirty="0">
                  <a:solidFill>
                    <a:schemeClr val="tx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sz="1050" dirty="0" err="1">
                  <a:solidFill>
                    <a:schemeClr val="tx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딜리버리</a:t>
              </a:r>
              <a:endParaRPr lang="en-US" altLang="ko-KR" sz="10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</p:txBody>
        </p:sp>
        <p:sp>
          <p:nvSpPr>
            <p:cNvPr id="25" name="Shape 150">
              <a:extLst>
                <a:ext uri="{FF2B5EF4-FFF2-40B4-BE49-F238E27FC236}">
                  <a16:creationId xmlns:a16="http://schemas.microsoft.com/office/drawing/2014/main" id="{458AAD8C-B30E-FEC5-DF15-34C3B6E64CC2}"/>
                </a:ext>
              </a:extLst>
            </p:cNvPr>
            <p:cNvSpPr/>
            <p:nvPr/>
          </p:nvSpPr>
          <p:spPr>
            <a:xfrm>
              <a:off x="9301489" y="3384101"/>
              <a:ext cx="1951759" cy="25391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8" tIns="45718" rIns="45718" bIns="45718">
              <a:spAutoFit/>
            </a:bodyPr>
            <a:lstStyle>
              <a:lvl1pPr>
                <a:defRPr sz="1200">
                  <a:ln w="9525">
                    <a:solidFill>
                      <a:srgbClr val="404040">
                        <a:alpha val="0"/>
                      </a:srgbClr>
                    </a:solidFill>
                  </a:ln>
                  <a:solidFill>
                    <a:srgbClr val="595959"/>
                  </a:solidFill>
                  <a:latin typeface="+mj-lt"/>
                  <a:ea typeface="+mj-ea"/>
                  <a:cs typeface="+mj-cs"/>
                  <a:sym typeface="나눔바른고딕"/>
                </a:defRPr>
              </a:lvl1pPr>
            </a:lstStyle>
            <a:p>
              <a:pPr algn="ctr"/>
              <a:r>
                <a:rPr lang="ko-KR" altLang="en-US" sz="1050" dirty="0">
                  <a:solidFill>
                    <a:srgbClr val="002C5F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커머스 광고주</a:t>
              </a:r>
              <a:r>
                <a:rPr lang="en-US" altLang="ko-KR" sz="1050" dirty="0">
                  <a:solidFill>
                    <a:srgbClr val="002C5F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DSP</a:t>
              </a:r>
            </a:p>
          </p:txBody>
        </p:sp>
        <p:grpSp>
          <p:nvGrpSpPr>
            <p:cNvPr id="26" name="그룹 43">
              <a:extLst>
                <a:ext uri="{FF2B5EF4-FFF2-40B4-BE49-F238E27FC236}">
                  <a16:creationId xmlns:a16="http://schemas.microsoft.com/office/drawing/2014/main" id="{2C618376-A94C-6E8E-DC8D-8A95B7894B71}"/>
                </a:ext>
              </a:extLst>
            </p:cNvPr>
            <p:cNvGrpSpPr/>
            <p:nvPr/>
          </p:nvGrpSpPr>
          <p:grpSpPr>
            <a:xfrm>
              <a:off x="9570539" y="5161205"/>
              <a:ext cx="339574" cy="286882"/>
              <a:chOff x="6859827" y="1385995"/>
              <a:chExt cx="676579" cy="571594"/>
            </a:xfrm>
          </p:grpSpPr>
          <p:sp>
            <p:nvSpPr>
              <p:cNvPr id="27" name="타원 44">
                <a:extLst>
                  <a:ext uri="{FF2B5EF4-FFF2-40B4-BE49-F238E27FC236}">
                    <a16:creationId xmlns:a16="http://schemas.microsoft.com/office/drawing/2014/main" id="{C0755BC6-BBCE-C834-05BB-A762365949CB}"/>
                  </a:ext>
                </a:extLst>
              </p:cNvPr>
              <p:cNvSpPr/>
              <p:nvPr/>
            </p:nvSpPr>
            <p:spPr>
              <a:xfrm>
                <a:off x="6910903" y="1385995"/>
                <a:ext cx="564367" cy="564367"/>
              </a:xfrm>
              <a:prstGeom prst="ellipse">
                <a:avLst/>
              </a:prstGeom>
              <a:solidFill>
                <a:srgbClr val="002C5F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>
                  <a:latin typeface="나눔스퀘어라운드OTF Regular" panose="020B0600000101010101" pitchFamily="34" charset="-127"/>
                  <a:ea typeface="나눔스퀘어라운드OTF Regular" panose="020B0600000101010101" pitchFamily="34" charset="-127"/>
                </a:endParaRPr>
              </a:p>
            </p:txBody>
          </p:sp>
          <p:sp>
            <p:nvSpPr>
              <p:cNvPr id="28" name="Shape 150">
                <a:extLst>
                  <a:ext uri="{FF2B5EF4-FFF2-40B4-BE49-F238E27FC236}">
                    <a16:creationId xmlns:a16="http://schemas.microsoft.com/office/drawing/2014/main" id="{9747DB68-A2A9-E5D2-445C-5ED2BD99EB9F}"/>
                  </a:ext>
                </a:extLst>
              </p:cNvPr>
              <p:cNvSpPr/>
              <p:nvPr/>
            </p:nvSpPr>
            <p:spPr>
              <a:xfrm>
                <a:off x="6859827" y="1405695"/>
                <a:ext cx="676579" cy="551894"/>
              </a:xfrm>
              <a:prstGeom prst="rect">
                <a:avLst/>
              </a:prstGeom>
              <a:noFill/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5718" tIns="45718" rIns="45718" bIns="45718">
                <a:spAutoFit/>
              </a:bodyPr>
              <a:lstStyle>
                <a:lvl1pPr>
                  <a:defRPr sz="1200">
                    <a:ln w="9525">
                      <a:solidFill>
                        <a:srgbClr val="404040">
                          <a:alpha val="0"/>
                        </a:srgbClr>
                      </a:solidFill>
                    </a:ln>
                    <a:solidFill>
                      <a:srgbClr val="595959"/>
                    </a:solidFill>
                    <a:latin typeface="+mj-lt"/>
                    <a:ea typeface="+mj-ea"/>
                    <a:cs typeface="+mj-cs"/>
                    <a:sym typeface="나눔바른고딕"/>
                  </a:defRPr>
                </a:lvl1pPr>
              </a:lstStyle>
              <a:p>
                <a:pPr algn="ctr"/>
                <a:r>
                  <a:rPr lang="en-US" altLang="ko-KR" b="1" dirty="0">
                    <a:solidFill>
                      <a:schemeClr val="bg1"/>
                    </a:solidFill>
                    <a:latin typeface="나눔스퀘어라운드OTF Regular" panose="020B0600000101010101" pitchFamily="34" charset="-127"/>
                    <a:ea typeface="나눔스퀘어라운드OTF Regular" panose="020B0600000101010101" pitchFamily="34" charset="-127"/>
                  </a:rPr>
                  <a:t>3</a:t>
                </a:r>
              </a:p>
            </p:txBody>
          </p:sp>
        </p:grpSp>
        <p:sp>
          <p:nvSpPr>
            <p:cNvPr id="29" name="Shape 150">
              <a:extLst>
                <a:ext uri="{FF2B5EF4-FFF2-40B4-BE49-F238E27FC236}">
                  <a16:creationId xmlns:a16="http://schemas.microsoft.com/office/drawing/2014/main" id="{2148A661-A139-C274-96A0-BA4FFE435ABB}"/>
                </a:ext>
              </a:extLst>
            </p:cNvPr>
            <p:cNvSpPr/>
            <p:nvPr/>
          </p:nvSpPr>
          <p:spPr>
            <a:xfrm>
              <a:off x="9961168" y="5113345"/>
              <a:ext cx="1614504" cy="41549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8" tIns="45718" rIns="45718" bIns="45718">
              <a:spAutoFit/>
            </a:bodyPr>
            <a:lstStyle>
              <a:lvl1pPr>
                <a:defRPr sz="1200">
                  <a:ln w="9525">
                    <a:solidFill>
                      <a:srgbClr val="404040">
                        <a:alpha val="0"/>
                      </a:srgbClr>
                    </a:solidFill>
                  </a:ln>
                  <a:solidFill>
                    <a:srgbClr val="595959"/>
                  </a:solidFill>
                  <a:latin typeface="+mj-lt"/>
                  <a:ea typeface="+mj-ea"/>
                  <a:cs typeface="+mj-cs"/>
                  <a:sym typeface="나눔바른고딕"/>
                </a:defRPr>
              </a:lvl1pPr>
            </a:lstStyle>
            <a:p>
              <a:r>
                <a:rPr lang="ko-KR" altLang="en-US" sz="1050" dirty="0">
                  <a:solidFill>
                    <a:schemeClr val="tx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실시간 데이터를</a:t>
              </a:r>
              <a:endParaRPr lang="en-US" altLang="ko-KR" sz="10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  <a:p>
              <a:r>
                <a:rPr lang="ko-KR" altLang="en-US" sz="1050" dirty="0">
                  <a:solidFill>
                    <a:schemeClr val="tx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바탕으로 광고 송출</a:t>
              </a:r>
              <a:endParaRPr lang="en-US" altLang="ko-KR" sz="1050" dirty="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</p:txBody>
        </p:sp>
      </p:grpSp>
      <p:sp>
        <p:nvSpPr>
          <p:cNvPr id="30" name="I:header">
            <a:extLst>
              <a:ext uri="{FF2B5EF4-FFF2-40B4-BE49-F238E27FC236}">
                <a16:creationId xmlns:a16="http://schemas.microsoft.com/office/drawing/2014/main" id="{9E950097-F8C5-49B9-8385-573784C8E374}"/>
              </a:ext>
            </a:extLst>
          </p:cNvPr>
          <p:cNvSpPr>
            <a:spLocks noGrp="1"/>
          </p:cNvSpPr>
          <p:nvPr/>
        </p:nvSpPr>
        <p:spPr>
          <a:xfrm>
            <a:off x="190500" y="2000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NHN DATA / 광고 플랫폼 Product Manager</a:t>
            </a:r>
          </a:p>
        </p:txBody>
      </p:sp>
      <p:sp>
        <p:nvSpPr>
          <p:cNvPr id="31" name="I:category">
            <a:extLst>
              <a:ext uri="{FF2B5EF4-FFF2-40B4-BE49-F238E27FC236}">
                <a16:creationId xmlns:a16="http://schemas.microsoft.com/office/drawing/2014/main" id="{086394B5-5740-427B-8554-06A093464F8A}"/>
              </a:ext>
            </a:extLst>
          </p:cNvPr>
          <p:cNvSpPr>
            <a:spLocks noGrp="1"/>
          </p:cNvSpPr>
          <p:nvPr/>
        </p:nvSpPr>
        <p:spPr>
          <a:xfrm>
            <a:off x="0" y="923925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32" name="I:project">
            <a:extLst>
              <a:ext uri="{FF2B5EF4-FFF2-40B4-BE49-F238E27FC236}">
                <a16:creationId xmlns:a16="http://schemas.microsoft.com/office/drawing/2014/main" id="{0DD9C0FF-5603-4621-B607-3082A8D41AFA}"/>
              </a:ext>
            </a:extLst>
          </p:cNvPr>
          <p:cNvSpPr>
            <a:spLocks noGrp="1"/>
          </p:cNvSpPr>
          <p:nvPr/>
        </p:nvSpPr>
        <p:spPr>
          <a:xfrm>
            <a:off x="1171575" y="9144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검색 키워드 데이터 기반 타기팅 광고 상품 기획</a:t>
            </a:r>
          </a:p>
        </p:txBody>
      </p:sp>
      <p:sp>
        <p:nvSpPr>
          <p:cNvPr id="33" name="I:page">
            <a:extLst>
              <a:ext uri="{FF2B5EF4-FFF2-40B4-BE49-F238E27FC236}">
                <a16:creationId xmlns:a16="http://schemas.microsoft.com/office/drawing/2014/main" id="{64D2A6C4-E0E5-482D-88CC-3AA5498D44D4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26</a:t>
            </a:r>
          </a:p>
        </p:txBody>
      </p:sp>
      <p:sp>
        <p:nvSpPr>
          <p:cNvPr id="34" name="I:section 0">
            <a:extLst>
              <a:ext uri="{FF2B5EF4-FFF2-40B4-BE49-F238E27FC236}">
                <a16:creationId xmlns:a16="http://schemas.microsoft.com/office/drawing/2014/main" id="{88AB3385-FA03-45E8-B4C6-DE9213D279C2}"/>
              </a:ext>
            </a:extLst>
          </p:cNvPr>
          <p:cNvSpPr>
            <a:spLocks noGrp="1"/>
          </p:cNvSpPr>
          <p:nvPr/>
        </p:nvSpPr>
        <p:spPr>
          <a:xfrm>
            <a:off x="1000125" y="179070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문제 의식 및 목표</a:t>
            </a:r>
          </a:p>
        </p:txBody>
      </p:sp>
      <p:sp>
        <p:nvSpPr>
          <p:cNvPr id="35" name="I:body 0">
            <a:extLst>
              <a:ext uri="{FF2B5EF4-FFF2-40B4-BE49-F238E27FC236}">
                <a16:creationId xmlns:a16="http://schemas.microsoft.com/office/drawing/2014/main" id="{A504C018-DCA4-4337-A37D-3D557B228A9C}"/>
              </a:ext>
            </a:extLst>
          </p:cNvPr>
          <p:cNvSpPr>
            <a:spLocks noGrp="1"/>
          </p:cNvSpPr>
          <p:nvPr/>
        </p:nvSpPr>
        <p:spPr>
          <a:xfrm>
            <a:off x="1000125" y="2105025"/>
            <a:ext cx="44577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여러 쇼핑몰의 검색·비교 행동에서 구매 관심사 파악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검색 키워드의 커머스 타기팅 활용 가능성 검토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데이터 기반 신규 광고 상품 기획</a:t>
            </a:r>
          </a:p>
        </p:txBody>
      </p:sp>
      <p:sp>
        <p:nvSpPr>
          <p:cNvPr id="36" name="I:section 1">
            <a:extLst>
              <a:ext uri="{FF2B5EF4-FFF2-40B4-BE49-F238E27FC236}">
                <a16:creationId xmlns:a16="http://schemas.microsoft.com/office/drawing/2014/main" id="{F5F791BA-FC22-4321-8817-8784305877E1}"/>
              </a:ext>
            </a:extLst>
          </p:cNvPr>
          <p:cNvSpPr>
            <a:spLocks noGrp="1"/>
          </p:cNvSpPr>
          <p:nvPr/>
        </p:nvSpPr>
        <p:spPr>
          <a:xfrm>
            <a:off x="1000125" y="286702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주요 업무</a:t>
            </a:r>
          </a:p>
        </p:txBody>
      </p:sp>
      <p:sp>
        <p:nvSpPr>
          <p:cNvPr id="37" name="I:body 1">
            <a:extLst>
              <a:ext uri="{FF2B5EF4-FFF2-40B4-BE49-F238E27FC236}">
                <a16:creationId xmlns:a16="http://schemas.microsoft.com/office/drawing/2014/main" id="{D35A7743-4C14-412B-8772-5E29470E3EF0}"/>
              </a:ext>
            </a:extLst>
          </p:cNvPr>
          <p:cNvSpPr>
            <a:spLocks noGrp="1"/>
          </p:cNvSpPr>
          <p:nvPr/>
        </p:nvSpPr>
        <p:spPr>
          <a:xfrm>
            <a:off x="1000125" y="3181350"/>
            <a:ext cx="4457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커머스 키워드와 웹 로그의 매칭률로 사업성 검토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키워드 매핑·적재·정제·전달의 처리 정책 수립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A/B 테스트로 광고 효율 검증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데이터 제공 단가와 상품 운영 정책 수립</a:t>
            </a:r>
          </a:p>
        </p:txBody>
      </p:sp>
      <p:sp>
        <p:nvSpPr>
          <p:cNvPr id="38" name="I:section 2">
            <a:extLst>
              <a:ext uri="{FF2B5EF4-FFF2-40B4-BE49-F238E27FC236}">
                <a16:creationId xmlns:a16="http://schemas.microsoft.com/office/drawing/2014/main" id="{01A662D7-3371-4E8B-AEAA-950BE3E44519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결과/성과</a:t>
            </a:r>
          </a:p>
        </p:txBody>
      </p:sp>
      <p:sp>
        <p:nvSpPr>
          <p:cNvPr id="39" name="I:body 2">
            <a:extLst>
              <a:ext uri="{FF2B5EF4-FFF2-40B4-BE49-F238E27FC236}">
                <a16:creationId xmlns:a16="http://schemas.microsoft.com/office/drawing/2014/main" id="{BA48DB77-AC90-4217-A2A2-2F15E022887A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44577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검색 키워드를 활용한 신규 광고 상품 출시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구매 관심사에 맞는 타기팅으로 광고 효율 개선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데이터 상품을 통한 매출 확대</a:t>
            </a:r>
          </a:p>
        </p:txBody>
      </p:sp>
      <p:sp>
        <p:nvSpPr>
          <p:cNvPr id="40" name="I:section 3">
            <a:extLst>
              <a:ext uri="{FF2B5EF4-FFF2-40B4-BE49-F238E27FC236}">
                <a16:creationId xmlns:a16="http://schemas.microsoft.com/office/drawing/2014/main" id="{A2DBD73F-3323-4EF9-B144-78860C8BD61D}"/>
              </a:ext>
            </a:extLst>
          </p:cNvPr>
          <p:cNvSpPr>
            <a:spLocks noGrp="1"/>
          </p:cNvSpPr>
          <p:nvPr/>
        </p:nvSpPr>
        <p:spPr>
          <a:xfrm>
            <a:off x="1000125" y="5600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담당 역할</a:t>
            </a:r>
          </a:p>
        </p:txBody>
      </p:sp>
      <p:sp>
        <p:nvSpPr>
          <p:cNvPr id="41" name="I:body 3">
            <a:extLst>
              <a:ext uri="{FF2B5EF4-FFF2-40B4-BE49-F238E27FC236}">
                <a16:creationId xmlns:a16="http://schemas.microsoft.com/office/drawing/2014/main" id="{0D6C283C-1BE3-4CD9-93EA-95F30FB1992D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3600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서비스·데이터 정책 기획</a:t>
            </a:r>
          </a:p>
        </p:txBody>
      </p:sp>
      <p:sp>
        <p:nvSpPr>
          <p:cNvPr id="42" name="I:evidence caption">
            <a:extLst>
              <a:ext uri="{FF2B5EF4-FFF2-40B4-BE49-F238E27FC236}">
                <a16:creationId xmlns:a16="http://schemas.microsoft.com/office/drawing/2014/main" id="{9FD6FEE2-1A19-44CB-A5A1-981019204CC9}"/>
              </a:ext>
            </a:extLst>
          </p:cNvPr>
          <p:cNvSpPr>
            <a:spLocks noGrp="1"/>
          </p:cNvSpPr>
          <p:nvPr/>
        </p:nvSpPr>
        <p:spPr>
          <a:xfrm>
            <a:off x="6096000" y="1676400"/>
            <a:ext cx="5600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검색 키워드 데이터 전달 및 광고 집행 흐름</a:t>
            </a:r>
          </a:p>
        </p:txBody>
      </p:sp>
      <p:sp>
        <p:nvSpPr>
          <p:cNvPr id="43" name="I:disclosure">
            <a:extLst>
              <a:ext uri="{FF2B5EF4-FFF2-40B4-BE49-F238E27FC236}">
                <a16:creationId xmlns:a16="http://schemas.microsoft.com/office/drawing/2014/main" id="{F812C792-BAD9-42BA-AB4E-6551C58CB1ED}"/>
              </a:ext>
            </a:extLst>
          </p:cNvPr>
          <p:cNvSpPr>
            <a:spLocks noGrp="1"/>
          </p:cNvSpPr>
          <p:nvPr/>
        </p:nvSpPr>
        <p:spPr>
          <a:xfrm>
            <a:off x="6096000" y="6410325"/>
            <a:ext cx="5486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공개 가능한 범위의 내부 자료 발췌 · 일부 데이터 비식별화</a:t>
            </a:r>
          </a:p>
        </p:txBody>
      </p:sp>
      <p:sp>
        <p:nvSpPr>
          <p:cNvPr id="9901" name="Role contribution label">
            <a:extLst>
              <a:ext uri="{FF2B5EF4-FFF2-40B4-BE49-F238E27FC236}">
                <a16:creationId xmlns:a16="http://schemas.microsoft.com/office/drawing/2014/main" id="{BC28C1EA-7239-45F4-83C1-F5821CA93638}"/>
              </a:ext>
            </a:extLst>
          </p:cNvPr>
          <p:cNvSpPr>
            <a:spLocks noGrp="1"/>
          </p:cNvSpPr>
          <p:nvPr/>
        </p:nvSpPr>
        <p:spPr>
          <a:xfrm>
            <a:off x="1000125" y="58769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기획 기여도</a:t>
            </a:r>
          </a:p>
        </p:txBody>
      </p:sp>
      <p:sp>
        <p:nvSpPr>
          <p:cNvPr id="9902" name="Role contribution value">
            <a:extLst>
              <a:ext uri="{FF2B5EF4-FFF2-40B4-BE49-F238E27FC236}">
                <a16:creationId xmlns:a16="http://schemas.microsoft.com/office/drawing/2014/main" id="{5A59850D-5DE2-45E0-B22E-CE6DAAE1898F}"/>
              </a:ext>
            </a:extLst>
          </p:cNvPr>
          <p:cNvSpPr>
            <a:spLocks noGrp="1"/>
          </p:cNvSpPr>
          <p:nvPr/>
        </p:nvSpPr>
        <p:spPr>
          <a:xfrm>
            <a:off x="1905000" y="5876925"/>
            <a:ext cx="3600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70%</a:t>
            </a:r>
          </a:p>
        </p:txBody>
      </p:sp>
      <p:sp>
        <p:nvSpPr>
          <p:cNvPr id="9903" name="Team label">
            <a:extLst>
              <a:ext uri="{FF2B5EF4-FFF2-40B4-BE49-F238E27FC236}">
                <a16:creationId xmlns:a16="http://schemas.microsoft.com/office/drawing/2014/main" id="{9CE967E5-19AB-47E7-B7AC-3363A96D15E7}"/>
              </a:ext>
            </a:extLst>
          </p:cNvPr>
          <p:cNvSpPr>
            <a:spLocks noGrp="1"/>
          </p:cNvSpPr>
          <p:nvPr/>
        </p:nvSpPr>
        <p:spPr>
          <a:xfrm>
            <a:off x="1000125" y="61531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협업 구성</a:t>
            </a:r>
          </a:p>
        </p:txBody>
      </p:sp>
      <p:sp>
        <p:nvSpPr>
          <p:cNvPr id="9904" name="Team value">
            <a:extLst>
              <a:ext uri="{FF2B5EF4-FFF2-40B4-BE49-F238E27FC236}">
                <a16:creationId xmlns:a16="http://schemas.microsoft.com/office/drawing/2014/main" id="{44C31938-73BA-4CD7-86BE-DA0B7E6104E7}"/>
              </a:ext>
            </a:extLst>
          </p:cNvPr>
          <p:cNvSpPr>
            <a:spLocks noGrp="1"/>
          </p:cNvSpPr>
          <p:nvPr/>
        </p:nvSpPr>
        <p:spPr>
          <a:xfrm>
            <a:off x="1905000" y="61531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rPr>
              <a:t>기획 2명(본인 포함), 분석 1명</a:t>
            </a:r>
          </a:p>
          <a:p>
            <a:pPr algn="l">
              <a:def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rPr>
              <a:t>데이터 엔지니어 3명</a:t>
            </a:r>
          </a:p>
        </p:txBody>
      </p:sp>
    </p:spTree>
    <p:extLst>
      <p:ext uri="{BB962C8B-B14F-4D97-AF65-F5344CB8AC3E}">
        <p14:creationId xmlns:p14="http://schemas.microsoft.com/office/powerpoint/2010/main" val="1182751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27">
            <a:extLst>
              <a:ext uri="{FF2B5EF4-FFF2-40B4-BE49-F238E27FC236}">
                <a16:creationId xmlns:a16="http://schemas.microsoft.com/office/drawing/2014/main" id="{B5392755-5865-F9B0-8A6B-497FC1FEFB7F}"/>
              </a:ext>
            </a:extLst>
          </p:cNvPr>
          <p:cNvSpPr>
            <a:spLocks noGrp="1"/>
          </p:cNvSpPr>
          <p:nvPr/>
        </p:nvSpPr>
        <p:spPr>
          <a:xfrm>
            <a:off x="0" y="824999"/>
            <a:ext cx="1041400" cy="4012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직사각형 24">
            <a:extLst>
              <a:ext uri="{FF2B5EF4-FFF2-40B4-BE49-F238E27FC236}">
                <a16:creationId xmlns:a16="http://schemas.microsoft.com/office/drawing/2014/main" id="{9300C823-004B-CBFA-D2AC-54CAF748651A}"/>
              </a:ext>
            </a:extLst>
          </p:cNvPr>
          <p:cNvSpPr>
            <a:spLocks noGrp="1"/>
          </p:cNvSpPr>
          <p:nvPr/>
        </p:nvSpPr>
        <p:spPr>
          <a:xfrm>
            <a:off x="0" y="56308"/>
            <a:ext cx="12192000" cy="595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직사각형 50">
            <a:extLst>
              <a:ext uri="{FF2B5EF4-FFF2-40B4-BE49-F238E27FC236}">
                <a16:creationId xmlns:a16="http://schemas.microsoft.com/office/drawing/2014/main" id="{3A7B5860-8D32-C866-0A67-DA9795350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선 연결선 15">
            <a:extLst>
              <a:ext uri="{FF2B5EF4-FFF2-40B4-BE49-F238E27FC236}">
                <a16:creationId xmlns:a16="http://schemas.microsoft.com/office/drawing/2014/main" id="{95C1A325-505D-4B67-8F4F-385E5E9505B2}"/>
              </a:ext>
            </a:extLst>
          </p:cNvPr>
          <p:cNvSpPr>
            <a:spLocks noGrp="1"/>
          </p:cNvSpPr>
          <p:nvPr/>
        </p:nvSpPr>
        <p:spPr>
          <a:xfrm>
            <a:off x="0" y="1229505"/>
            <a:ext cx="4204447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6" name="직사각형 16">
            <a:extLst>
              <a:ext uri="{FF2B5EF4-FFF2-40B4-BE49-F238E27FC236}">
                <a16:creationId xmlns:a16="http://schemas.microsoft.com/office/drawing/2014/main" id="{BB03FEB3-BCA6-E72B-25F6-6F59200B89FF}"/>
              </a:ext>
            </a:extLst>
          </p:cNvPr>
          <p:cNvSpPr>
            <a:spLocks noGrp="1"/>
          </p:cNvSpPr>
          <p:nvPr/>
        </p:nvSpPr>
        <p:spPr>
          <a:xfrm>
            <a:off x="762759" y="1601182"/>
            <a:ext cx="4931893" cy="4891685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grpSp>
        <p:nvGrpSpPr>
          <p:cNvPr id="7" name="Original evidence"/>
          <p:cNvGrpSpPr/>
          <p:nvPr/>
        </p:nvGrpSpPr>
        <p:grpSpPr>
          <a:xfrm>
            <a:off x="7058020" y="2047875"/>
            <a:ext cx="3676659" cy="4238625"/>
            <a:chOff x="6738994" y="1333326"/>
            <a:chExt cx="4303072" cy="4960783"/>
          </a:xfrm>
        </p:grpSpPr>
        <p:pic>
          <p:nvPicPr>
            <p:cNvPr id="8" name="그림 29">
              <a:extLst>
                <a:ext uri="{FF2B5EF4-FFF2-40B4-BE49-F238E27FC236}">
                  <a16:creationId xmlns:a16="http://schemas.microsoft.com/office/drawing/2014/main" id="{A662F112-5EA9-04D4-1BB6-AF7E2EE68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782088" y="1333326"/>
              <a:ext cx="4216883" cy="2119037"/>
            </a:xfrm>
            <a:prstGeom prst="rect">
              <a:avLst/>
            </a:prstGeom>
          </p:spPr>
        </p:pic>
        <p:pic>
          <p:nvPicPr>
            <p:cNvPr id="9" name="그림 32">
              <a:extLst>
                <a:ext uri="{FF2B5EF4-FFF2-40B4-BE49-F238E27FC236}">
                  <a16:creationId xmlns:a16="http://schemas.microsoft.com/office/drawing/2014/main" id="{1A751516-2048-2398-39EC-08D7F8718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738994" y="3861449"/>
              <a:ext cx="4303072" cy="2432660"/>
            </a:xfrm>
            <a:prstGeom prst="rect">
              <a:avLst/>
            </a:prstGeom>
          </p:spPr>
        </p:pic>
      </p:grpSp>
      <p:sp>
        <p:nvSpPr>
          <p:cNvPr id="10" name="I:header">
            <a:extLst>
              <a:ext uri="{FF2B5EF4-FFF2-40B4-BE49-F238E27FC236}">
                <a16:creationId xmlns:a16="http://schemas.microsoft.com/office/drawing/2014/main" id="{EE6E5233-F4CB-4F7E-BE71-2E6D0196EFC6}"/>
              </a:ext>
            </a:extLst>
          </p:cNvPr>
          <p:cNvSpPr>
            <a:spLocks noGrp="1"/>
          </p:cNvSpPr>
          <p:nvPr/>
        </p:nvSpPr>
        <p:spPr>
          <a:xfrm>
            <a:off x="190500" y="2000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NHN DATA / 광고 플랫폼 Product Manager</a:t>
            </a:r>
          </a:p>
        </p:txBody>
      </p:sp>
      <p:sp>
        <p:nvSpPr>
          <p:cNvPr id="11" name="I:category">
            <a:extLst>
              <a:ext uri="{FF2B5EF4-FFF2-40B4-BE49-F238E27FC236}">
                <a16:creationId xmlns:a16="http://schemas.microsoft.com/office/drawing/2014/main" id="{06461035-B5AC-472A-B6A8-5E5B6AB6E955}"/>
              </a:ext>
            </a:extLst>
          </p:cNvPr>
          <p:cNvSpPr>
            <a:spLocks noGrp="1"/>
          </p:cNvSpPr>
          <p:nvPr/>
        </p:nvSpPr>
        <p:spPr>
          <a:xfrm>
            <a:off x="0" y="923925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12" name="I:project">
            <a:extLst>
              <a:ext uri="{FF2B5EF4-FFF2-40B4-BE49-F238E27FC236}">
                <a16:creationId xmlns:a16="http://schemas.microsoft.com/office/drawing/2014/main" id="{1126A3BF-18AB-43AB-9194-B377678C78A1}"/>
              </a:ext>
            </a:extLst>
          </p:cNvPr>
          <p:cNvSpPr>
            <a:spLocks noGrp="1"/>
          </p:cNvSpPr>
          <p:nvPr/>
        </p:nvSpPr>
        <p:spPr>
          <a:xfrm>
            <a:off x="1171575" y="9144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Ad Exchange 광고 거래 구조 확장</a:t>
            </a:r>
          </a:p>
        </p:txBody>
      </p:sp>
      <p:sp>
        <p:nvSpPr>
          <p:cNvPr id="13" name="I:page">
            <a:extLst>
              <a:ext uri="{FF2B5EF4-FFF2-40B4-BE49-F238E27FC236}">
                <a16:creationId xmlns:a16="http://schemas.microsoft.com/office/drawing/2014/main" id="{1374C687-5E36-4C10-B873-DD67E2D7654D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27</a:t>
            </a:r>
          </a:p>
        </p:txBody>
      </p:sp>
      <p:sp>
        <p:nvSpPr>
          <p:cNvPr id="14" name="I:section 0">
            <a:extLst>
              <a:ext uri="{FF2B5EF4-FFF2-40B4-BE49-F238E27FC236}">
                <a16:creationId xmlns:a16="http://schemas.microsoft.com/office/drawing/2014/main" id="{ED00E72B-C657-4F35-8F38-E2DD98023796}"/>
              </a:ext>
            </a:extLst>
          </p:cNvPr>
          <p:cNvSpPr>
            <a:spLocks noGrp="1"/>
          </p:cNvSpPr>
          <p:nvPr/>
        </p:nvSpPr>
        <p:spPr>
          <a:xfrm>
            <a:off x="1000125" y="179070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문제 의식 및 목표</a:t>
            </a:r>
          </a:p>
        </p:txBody>
      </p:sp>
      <p:sp>
        <p:nvSpPr>
          <p:cNvPr id="15" name="I:body 0">
            <a:extLst>
              <a:ext uri="{FF2B5EF4-FFF2-40B4-BE49-F238E27FC236}">
                <a16:creationId xmlns:a16="http://schemas.microsoft.com/office/drawing/2014/main" id="{19264EE6-2D08-4C50-ACF1-FA53CF4CC20E}"/>
              </a:ext>
            </a:extLst>
          </p:cNvPr>
          <p:cNvSpPr>
            <a:spLocks noGrp="1"/>
          </p:cNvSpPr>
          <p:nvPr/>
        </p:nvSpPr>
        <p:spPr>
          <a:xfrm>
            <a:off x="1000125" y="2105025"/>
            <a:ext cx="44577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외부 SSP 트래픽의 내부 DSP 한정 연결 구조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외부 DSP의 입찰 참여와 거래 범위 확대 필요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광고 거래 구조 개선을 통한 신규 수요 확보</a:t>
            </a:r>
          </a:p>
        </p:txBody>
      </p:sp>
      <p:sp>
        <p:nvSpPr>
          <p:cNvPr id="16" name="I:section 1">
            <a:extLst>
              <a:ext uri="{FF2B5EF4-FFF2-40B4-BE49-F238E27FC236}">
                <a16:creationId xmlns:a16="http://schemas.microsoft.com/office/drawing/2014/main" id="{E54F84BB-04F0-426A-A27F-D70C04913D1C}"/>
              </a:ext>
            </a:extLst>
          </p:cNvPr>
          <p:cNvSpPr>
            <a:spLocks noGrp="1"/>
          </p:cNvSpPr>
          <p:nvPr/>
        </p:nvSpPr>
        <p:spPr>
          <a:xfrm>
            <a:off x="1000125" y="286702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주요 업무</a:t>
            </a:r>
          </a:p>
        </p:txBody>
      </p:sp>
      <p:sp>
        <p:nvSpPr>
          <p:cNvPr id="17" name="I:body 1">
            <a:extLst>
              <a:ext uri="{FF2B5EF4-FFF2-40B4-BE49-F238E27FC236}">
                <a16:creationId xmlns:a16="http://schemas.microsoft.com/office/drawing/2014/main" id="{729AB02E-F440-4AD3-B61D-484B86077837}"/>
              </a:ext>
            </a:extLst>
          </p:cNvPr>
          <p:cNvSpPr>
            <a:spLocks noGrp="1"/>
          </p:cNvSpPr>
          <p:nvPr/>
        </p:nvSpPr>
        <p:spPr>
          <a:xfrm>
            <a:off x="1000125" y="3181350"/>
            <a:ext cx="4457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구조 변경에 따른 매출 시뮬레이션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내부·외부 플랫폼 간 거래 프로세스와 용어 정의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입찰 시나리오 및 최저 입찰가·낙찰 정책 설계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테스트와 실제 서비스 적용 진행</a:t>
            </a:r>
          </a:p>
        </p:txBody>
      </p:sp>
      <p:sp>
        <p:nvSpPr>
          <p:cNvPr id="18" name="I:section 2">
            <a:extLst>
              <a:ext uri="{FF2B5EF4-FFF2-40B4-BE49-F238E27FC236}">
                <a16:creationId xmlns:a16="http://schemas.microsoft.com/office/drawing/2014/main" id="{F832C177-BE64-48C6-9DEB-2FE684667133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결과/성과</a:t>
            </a:r>
          </a:p>
        </p:txBody>
      </p:sp>
      <p:sp>
        <p:nvSpPr>
          <p:cNvPr id="19" name="I:body 2">
            <a:extLst>
              <a:ext uri="{FF2B5EF4-FFF2-40B4-BE49-F238E27FC236}">
                <a16:creationId xmlns:a16="http://schemas.microsoft.com/office/drawing/2014/main" id="{15A6B4B3-F4C6-479C-A62C-75559C18AC25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44577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거래 가능한 트래픽과 실시간 입찰 참여 확대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신규 광고 수요 확보로 매출 증가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최저 입찰가·낙찰 정보 등 활용 데이터 확대</a:t>
            </a:r>
          </a:p>
        </p:txBody>
      </p:sp>
      <p:sp>
        <p:nvSpPr>
          <p:cNvPr id="20" name="I:section 3">
            <a:extLst>
              <a:ext uri="{FF2B5EF4-FFF2-40B4-BE49-F238E27FC236}">
                <a16:creationId xmlns:a16="http://schemas.microsoft.com/office/drawing/2014/main" id="{2ED0DA99-CBB5-4773-B1CD-109BBF3EA939}"/>
              </a:ext>
            </a:extLst>
          </p:cNvPr>
          <p:cNvSpPr>
            <a:spLocks noGrp="1"/>
          </p:cNvSpPr>
          <p:nvPr/>
        </p:nvSpPr>
        <p:spPr>
          <a:xfrm>
            <a:off x="1000125" y="5600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담당 역할</a:t>
            </a:r>
          </a:p>
        </p:txBody>
      </p:sp>
      <p:sp>
        <p:nvSpPr>
          <p:cNvPr id="21" name="I:body 3">
            <a:extLst>
              <a:ext uri="{FF2B5EF4-FFF2-40B4-BE49-F238E27FC236}">
                <a16:creationId xmlns:a16="http://schemas.microsoft.com/office/drawing/2014/main" id="{8084C52A-321E-4871-9572-97E9D9C0FFFF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3600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거래 구조·프로세스·정책 기획</a:t>
            </a:r>
          </a:p>
        </p:txBody>
      </p:sp>
      <p:sp>
        <p:nvSpPr>
          <p:cNvPr id="22" name="I:evidence caption">
            <a:extLst>
              <a:ext uri="{FF2B5EF4-FFF2-40B4-BE49-F238E27FC236}">
                <a16:creationId xmlns:a16="http://schemas.microsoft.com/office/drawing/2014/main" id="{08D62D63-5547-4284-A4F5-EFB5A547D958}"/>
              </a:ext>
            </a:extLst>
          </p:cNvPr>
          <p:cNvSpPr>
            <a:spLocks noGrp="1"/>
          </p:cNvSpPr>
          <p:nvPr/>
        </p:nvSpPr>
        <p:spPr>
          <a:xfrm>
            <a:off x="6096000" y="1676400"/>
            <a:ext cx="5600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광고 거래 구조 변경 전·후</a:t>
            </a:r>
          </a:p>
        </p:txBody>
      </p:sp>
      <p:sp>
        <p:nvSpPr>
          <p:cNvPr id="23" name="I:disclosure">
            <a:extLst>
              <a:ext uri="{FF2B5EF4-FFF2-40B4-BE49-F238E27FC236}">
                <a16:creationId xmlns:a16="http://schemas.microsoft.com/office/drawing/2014/main" id="{039EF0CE-65E4-4097-9804-0E684FD02786}"/>
              </a:ext>
            </a:extLst>
          </p:cNvPr>
          <p:cNvSpPr>
            <a:spLocks noGrp="1"/>
          </p:cNvSpPr>
          <p:nvPr/>
        </p:nvSpPr>
        <p:spPr>
          <a:xfrm>
            <a:off x="6096000" y="6410325"/>
            <a:ext cx="5486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공개 가능한 범위의 내부 자료 발췌 · 일부 데이터 비식별화</a:t>
            </a:r>
          </a:p>
        </p:txBody>
      </p:sp>
      <p:sp>
        <p:nvSpPr>
          <p:cNvPr id="9901" name="Role contribution label">
            <a:extLst>
              <a:ext uri="{FF2B5EF4-FFF2-40B4-BE49-F238E27FC236}">
                <a16:creationId xmlns:a16="http://schemas.microsoft.com/office/drawing/2014/main" id="{BEACC137-225C-4CDB-9D35-342C4115486D}"/>
              </a:ext>
            </a:extLst>
          </p:cNvPr>
          <p:cNvSpPr>
            <a:spLocks noGrp="1"/>
          </p:cNvSpPr>
          <p:nvPr/>
        </p:nvSpPr>
        <p:spPr>
          <a:xfrm>
            <a:off x="1000125" y="58769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기획 기여도</a:t>
            </a:r>
          </a:p>
        </p:txBody>
      </p:sp>
      <p:sp>
        <p:nvSpPr>
          <p:cNvPr id="9902" name="Role contribution value">
            <a:extLst>
              <a:ext uri="{FF2B5EF4-FFF2-40B4-BE49-F238E27FC236}">
                <a16:creationId xmlns:a16="http://schemas.microsoft.com/office/drawing/2014/main" id="{D479AEF7-B7CA-4DB4-B34A-CF6B4ABCA73A}"/>
              </a:ext>
            </a:extLst>
          </p:cNvPr>
          <p:cNvSpPr>
            <a:spLocks noGrp="1"/>
          </p:cNvSpPr>
          <p:nvPr/>
        </p:nvSpPr>
        <p:spPr>
          <a:xfrm>
            <a:off x="1905000" y="5876925"/>
            <a:ext cx="3600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70%</a:t>
            </a:r>
          </a:p>
        </p:txBody>
      </p:sp>
      <p:sp>
        <p:nvSpPr>
          <p:cNvPr id="9903" name="Team label">
            <a:extLst>
              <a:ext uri="{FF2B5EF4-FFF2-40B4-BE49-F238E27FC236}">
                <a16:creationId xmlns:a16="http://schemas.microsoft.com/office/drawing/2014/main" id="{42788DAA-DFBE-4092-8711-AA310E5449B1}"/>
              </a:ext>
            </a:extLst>
          </p:cNvPr>
          <p:cNvSpPr>
            <a:spLocks noGrp="1"/>
          </p:cNvSpPr>
          <p:nvPr/>
        </p:nvSpPr>
        <p:spPr>
          <a:xfrm>
            <a:off x="1000125" y="61531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협업 구성</a:t>
            </a:r>
          </a:p>
        </p:txBody>
      </p:sp>
      <p:sp>
        <p:nvSpPr>
          <p:cNvPr id="9904" name="Team value">
            <a:extLst>
              <a:ext uri="{FF2B5EF4-FFF2-40B4-BE49-F238E27FC236}">
                <a16:creationId xmlns:a16="http://schemas.microsoft.com/office/drawing/2014/main" id="{A1476EE3-451B-4C30-97C7-09F9EFCD5FE9}"/>
              </a:ext>
            </a:extLst>
          </p:cNvPr>
          <p:cNvSpPr>
            <a:spLocks noGrp="1"/>
          </p:cNvSpPr>
          <p:nvPr/>
        </p:nvSpPr>
        <p:spPr>
          <a:xfrm>
            <a:off x="1905000" y="61531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rPr>
              <a:t>기획 2명(본인 포함), 서버 4명</a:t>
            </a:r>
          </a:p>
          <a:p>
            <a:pPr algn="l">
              <a:def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rPr>
              <a:t>프론트 2명, 디자인 1명</a:t>
            </a:r>
          </a:p>
        </p:txBody>
      </p:sp>
    </p:spTree>
    <p:extLst>
      <p:ext uri="{BB962C8B-B14F-4D97-AF65-F5344CB8AC3E}">
        <p14:creationId xmlns:p14="http://schemas.microsoft.com/office/powerpoint/2010/main" val="4177193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27">
            <a:extLst>
              <a:ext uri="{FF2B5EF4-FFF2-40B4-BE49-F238E27FC236}">
                <a16:creationId xmlns:a16="http://schemas.microsoft.com/office/drawing/2014/main" id="{B5392755-5865-F9B0-8A6B-497FC1FEFB7F}"/>
              </a:ext>
            </a:extLst>
          </p:cNvPr>
          <p:cNvSpPr>
            <a:spLocks noGrp="1"/>
          </p:cNvSpPr>
          <p:nvPr/>
        </p:nvSpPr>
        <p:spPr>
          <a:xfrm>
            <a:off x="0" y="824999"/>
            <a:ext cx="1041400" cy="4012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직사각형 24">
            <a:extLst>
              <a:ext uri="{FF2B5EF4-FFF2-40B4-BE49-F238E27FC236}">
                <a16:creationId xmlns:a16="http://schemas.microsoft.com/office/drawing/2014/main" id="{9300C823-004B-CBFA-D2AC-54CAF748651A}"/>
              </a:ext>
            </a:extLst>
          </p:cNvPr>
          <p:cNvSpPr>
            <a:spLocks noGrp="1"/>
          </p:cNvSpPr>
          <p:nvPr/>
        </p:nvSpPr>
        <p:spPr>
          <a:xfrm>
            <a:off x="0" y="56308"/>
            <a:ext cx="12192000" cy="595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직사각형 50">
            <a:extLst>
              <a:ext uri="{FF2B5EF4-FFF2-40B4-BE49-F238E27FC236}">
                <a16:creationId xmlns:a16="http://schemas.microsoft.com/office/drawing/2014/main" id="{3A7B5860-8D32-C866-0A67-DA9795350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선 연결선 15">
            <a:extLst>
              <a:ext uri="{FF2B5EF4-FFF2-40B4-BE49-F238E27FC236}">
                <a16:creationId xmlns:a16="http://schemas.microsoft.com/office/drawing/2014/main" id="{95C1A325-505D-4B67-8F4F-385E5E9505B2}"/>
              </a:ext>
            </a:extLst>
          </p:cNvPr>
          <p:cNvSpPr>
            <a:spLocks noGrp="1"/>
          </p:cNvSpPr>
          <p:nvPr/>
        </p:nvSpPr>
        <p:spPr>
          <a:xfrm>
            <a:off x="0" y="1229505"/>
            <a:ext cx="4204447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6" name="직사각형 16">
            <a:extLst>
              <a:ext uri="{FF2B5EF4-FFF2-40B4-BE49-F238E27FC236}">
                <a16:creationId xmlns:a16="http://schemas.microsoft.com/office/drawing/2014/main" id="{BB03FEB3-BCA6-E72B-25F6-6F59200B89FF}"/>
              </a:ext>
            </a:extLst>
          </p:cNvPr>
          <p:cNvSpPr>
            <a:spLocks noGrp="1"/>
          </p:cNvSpPr>
          <p:nvPr/>
        </p:nvSpPr>
        <p:spPr>
          <a:xfrm>
            <a:off x="762759" y="1601182"/>
            <a:ext cx="4931893" cy="4891685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grpSp>
        <p:nvGrpSpPr>
          <p:cNvPr id="7" name="Original evidence"/>
          <p:cNvGrpSpPr/>
          <p:nvPr/>
        </p:nvGrpSpPr>
        <p:grpSpPr>
          <a:xfrm>
            <a:off x="6336685" y="2047875"/>
            <a:ext cx="5119329" cy="4238625"/>
            <a:chOff x="6407022" y="1693408"/>
            <a:chExt cx="5295810" cy="4384745"/>
          </a:xfrm>
        </p:grpSpPr>
        <p:pic>
          <p:nvPicPr>
            <p:cNvPr id="8" name="그림 21">
              <a:extLst>
                <a:ext uri="{FF2B5EF4-FFF2-40B4-BE49-F238E27FC236}">
                  <a16:creationId xmlns:a16="http://schemas.microsoft.com/office/drawing/2014/main" id="{797D4C05-E76A-E61C-3311-6B3C49F13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7022" y="1693408"/>
              <a:ext cx="5295810" cy="4384745"/>
            </a:xfrm>
            <a:prstGeom prst="rect">
              <a:avLst/>
            </a:prstGeom>
          </p:spPr>
        </p:pic>
      </p:grpSp>
      <p:sp>
        <p:nvSpPr>
          <p:cNvPr id="9" name="I:header">
            <a:extLst>
              <a:ext uri="{FF2B5EF4-FFF2-40B4-BE49-F238E27FC236}">
                <a16:creationId xmlns:a16="http://schemas.microsoft.com/office/drawing/2014/main" id="{AE9B754E-4ACE-45DD-91BA-1A9D057208A0}"/>
              </a:ext>
            </a:extLst>
          </p:cNvPr>
          <p:cNvSpPr>
            <a:spLocks noGrp="1"/>
          </p:cNvSpPr>
          <p:nvPr/>
        </p:nvSpPr>
        <p:spPr>
          <a:xfrm>
            <a:off x="190500" y="2000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NHN DATA / 광고 플랫폼 Product Manager</a:t>
            </a:r>
          </a:p>
        </p:txBody>
      </p:sp>
      <p:sp>
        <p:nvSpPr>
          <p:cNvPr id="10" name="I:category">
            <a:extLst>
              <a:ext uri="{FF2B5EF4-FFF2-40B4-BE49-F238E27FC236}">
                <a16:creationId xmlns:a16="http://schemas.microsoft.com/office/drawing/2014/main" id="{057D44DA-928F-43C2-9586-D57D76554405}"/>
              </a:ext>
            </a:extLst>
          </p:cNvPr>
          <p:cNvSpPr>
            <a:spLocks noGrp="1"/>
          </p:cNvSpPr>
          <p:nvPr/>
        </p:nvSpPr>
        <p:spPr>
          <a:xfrm>
            <a:off x="0" y="923925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11" name="I:project">
            <a:extLst>
              <a:ext uri="{FF2B5EF4-FFF2-40B4-BE49-F238E27FC236}">
                <a16:creationId xmlns:a16="http://schemas.microsoft.com/office/drawing/2014/main" id="{9F0AF455-E62E-4820-B5B8-40969D8CBF4D}"/>
              </a:ext>
            </a:extLst>
          </p:cNvPr>
          <p:cNvSpPr>
            <a:spLocks noGrp="1"/>
          </p:cNvSpPr>
          <p:nvPr/>
        </p:nvSpPr>
        <p:spPr>
          <a:xfrm>
            <a:off x="1171575" y="9144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광고주 대상 DMP 데이터 분석 및 컨설팅</a:t>
            </a:r>
          </a:p>
        </p:txBody>
      </p:sp>
      <p:sp>
        <p:nvSpPr>
          <p:cNvPr id="12" name="I:page">
            <a:extLst>
              <a:ext uri="{FF2B5EF4-FFF2-40B4-BE49-F238E27FC236}">
                <a16:creationId xmlns:a16="http://schemas.microsoft.com/office/drawing/2014/main" id="{B73B356F-B3EC-49D3-A23B-684E27449BF5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28</a:t>
            </a:r>
          </a:p>
        </p:txBody>
      </p:sp>
      <p:sp>
        <p:nvSpPr>
          <p:cNvPr id="13" name="I:section 0">
            <a:extLst>
              <a:ext uri="{FF2B5EF4-FFF2-40B4-BE49-F238E27FC236}">
                <a16:creationId xmlns:a16="http://schemas.microsoft.com/office/drawing/2014/main" id="{741F9D7D-FFF6-4B85-84B5-E4DA3873E972}"/>
              </a:ext>
            </a:extLst>
          </p:cNvPr>
          <p:cNvSpPr>
            <a:spLocks noGrp="1"/>
          </p:cNvSpPr>
          <p:nvPr/>
        </p:nvSpPr>
        <p:spPr>
          <a:xfrm>
            <a:off x="1000125" y="179070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문제 의식 및 목표</a:t>
            </a:r>
          </a:p>
        </p:txBody>
      </p:sp>
      <p:sp>
        <p:nvSpPr>
          <p:cNvPr id="14" name="I:body 0">
            <a:extLst>
              <a:ext uri="{FF2B5EF4-FFF2-40B4-BE49-F238E27FC236}">
                <a16:creationId xmlns:a16="http://schemas.microsoft.com/office/drawing/2014/main" id="{BEDC1D34-7A1C-4A6D-AF7B-C0467EE5C02E}"/>
              </a:ext>
            </a:extLst>
          </p:cNvPr>
          <p:cNvSpPr>
            <a:spLocks noGrp="1"/>
          </p:cNvSpPr>
          <p:nvPr/>
        </p:nvSpPr>
        <p:spPr>
          <a:xfrm>
            <a:off x="1000125" y="2105025"/>
            <a:ext cx="44577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클릭·유입 사용자의 행동과 광고 반응 분석 수요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보유 데이터의 광고 운영 활용 필요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광고주별 가설 검증과 맞춤 분석 지원</a:t>
            </a:r>
          </a:p>
        </p:txBody>
      </p:sp>
      <p:sp>
        <p:nvSpPr>
          <p:cNvPr id="15" name="I:section 1">
            <a:extLst>
              <a:ext uri="{FF2B5EF4-FFF2-40B4-BE49-F238E27FC236}">
                <a16:creationId xmlns:a16="http://schemas.microsoft.com/office/drawing/2014/main" id="{1A7C4BDC-F2C9-4DC0-8B9A-DD72F247F5A4}"/>
              </a:ext>
            </a:extLst>
          </p:cNvPr>
          <p:cNvSpPr>
            <a:spLocks noGrp="1"/>
          </p:cNvSpPr>
          <p:nvPr/>
        </p:nvSpPr>
        <p:spPr>
          <a:xfrm>
            <a:off x="1000125" y="286702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주요 업무</a:t>
            </a:r>
          </a:p>
        </p:txBody>
      </p:sp>
      <p:sp>
        <p:nvSpPr>
          <p:cNvPr id="16" name="I:body 1">
            <a:extLst>
              <a:ext uri="{FF2B5EF4-FFF2-40B4-BE49-F238E27FC236}">
                <a16:creationId xmlns:a16="http://schemas.microsoft.com/office/drawing/2014/main" id="{2B72B658-419E-42C3-B836-269ADB1FEA2E}"/>
              </a:ext>
            </a:extLst>
          </p:cNvPr>
          <p:cNvSpPr>
            <a:spLocks noGrp="1"/>
          </p:cNvSpPr>
          <p:nvPr/>
        </p:nvSpPr>
        <p:spPr>
          <a:xfrm>
            <a:off x="1000125" y="3181350"/>
            <a:ext cx="4457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사용자 행동에 대한 가설과 분석 지표 정의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필요한 행동 데이터를 추출·가공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가설을 검증하고 광고 운영 인사이트 도출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광고주별 분석 리포트 작성 및 제공</a:t>
            </a:r>
          </a:p>
        </p:txBody>
      </p:sp>
      <p:sp>
        <p:nvSpPr>
          <p:cNvPr id="17" name="I:section 2">
            <a:extLst>
              <a:ext uri="{FF2B5EF4-FFF2-40B4-BE49-F238E27FC236}">
                <a16:creationId xmlns:a16="http://schemas.microsoft.com/office/drawing/2014/main" id="{AA226D6A-DC11-42E1-9DF9-18E0118015CD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결과/성과</a:t>
            </a:r>
          </a:p>
        </p:txBody>
      </p:sp>
      <p:sp>
        <p:nvSpPr>
          <p:cNvPr id="18" name="I:body 2">
            <a:extLst>
              <a:ext uri="{FF2B5EF4-FFF2-40B4-BE49-F238E27FC236}">
                <a16:creationId xmlns:a16="http://schemas.microsoft.com/office/drawing/2014/main" id="{B6D80616-48AB-411B-AF7A-D1E7CE11718B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44577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데이터 분석을 바탕으로 광고 집행 금액 확대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맞춤 리포트 제공을 통한 추가 수익 창출</a:t>
            </a:r>
          </a:p>
        </p:txBody>
      </p:sp>
      <p:sp>
        <p:nvSpPr>
          <p:cNvPr id="19" name="I:section 3">
            <a:extLst>
              <a:ext uri="{FF2B5EF4-FFF2-40B4-BE49-F238E27FC236}">
                <a16:creationId xmlns:a16="http://schemas.microsoft.com/office/drawing/2014/main" id="{8DB1A650-9C28-4353-BF5A-31195E94DADA}"/>
              </a:ext>
            </a:extLst>
          </p:cNvPr>
          <p:cNvSpPr>
            <a:spLocks noGrp="1"/>
          </p:cNvSpPr>
          <p:nvPr/>
        </p:nvSpPr>
        <p:spPr>
          <a:xfrm>
            <a:off x="1000125" y="5600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담당 역할</a:t>
            </a:r>
          </a:p>
        </p:txBody>
      </p:sp>
      <p:sp>
        <p:nvSpPr>
          <p:cNvPr id="20" name="I:body 3">
            <a:extLst>
              <a:ext uri="{FF2B5EF4-FFF2-40B4-BE49-F238E27FC236}">
                <a16:creationId xmlns:a16="http://schemas.microsoft.com/office/drawing/2014/main" id="{9AD58C26-EE4C-4F4B-A5BF-4AEBFD5B5232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3600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분석 기획·인사이트 도출·리포트 작성</a:t>
            </a:r>
          </a:p>
        </p:txBody>
      </p:sp>
      <p:sp>
        <p:nvSpPr>
          <p:cNvPr id="21" name="I:evidence caption">
            <a:extLst>
              <a:ext uri="{FF2B5EF4-FFF2-40B4-BE49-F238E27FC236}">
                <a16:creationId xmlns:a16="http://schemas.microsoft.com/office/drawing/2014/main" id="{23A34CBD-CD12-4049-95DB-357667340BB1}"/>
              </a:ext>
            </a:extLst>
          </p:cNvPr>
          <p:cNvSpPr>
            <a:spLocks noGrp="1"/>
          </p:cNvSpPr>
          <p:nvPr/>
        </p:nvSpPr>
        <p:spPr>
          <a:xfrm>
            <a:off x="6096000" y="1676400"/>
            <a:ext cx="5600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광고주 행동 데이터 분석 및 컨설팅 리포트</a:t>
            </a:r>
          </a:p>
        </p:txBody>
      </p:sp>
      <p:sp>
        <p:nvSpPr>
          <p:cNvPr id="22" name="I:disclosure">
            <a:extLst>
              <a:ext uri="{FF2B5EF4-FFF2-40B4-BE49-F238E27FC236}">
                <a16:creationId xmlns:a16="http://schemas.microsoft.com/office/drawing/2014/main" id="{8F01655C-99E8-478A-B1A4-989D0A0C312C}"/>
              </a:ext>
            </a:extLst>
          </p:cNvPr>
          <p:cNvSpPr>
            <a:spLocks noGrp="1"/>
          </p:cNvSpPr>
          <p:nvPr/>
        </p:nvSpPr>
        <p:spPr>
          <a:xfrm>
            <a:off x="6096000" y="6410325"/>
            <a:ext cx="5486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공개 가능한 범위의 내부 자료 발췌 · 일부 데이터 비식별화</a:t>
            </a:r>
          </a:p>
        </p:txBody>
      </p:sp>
      <p:sp>
        <p:nvSpPr>
          <p:cNvPr id="9901" name="Role contribution label">
            <a:extLst>
              <a:ext uri="{FF2B5EF4-FFF2-40B4-BE49-F238E27FC236}">
                <a16:creationId xmlns:a16="http://schemas.microsoft.com/office/drawing/2014/main" id="{AB44B7DD-29E3-4275-943E-D2194B197A85}"/>
              </a:ext>
            </a:extLst>
          </p:cNvPr>
          <p:cNvSpPr>
            <a:spLocks noGrp="1"/>
          </p:cNvSpPr>
          <p:nvPr/>
        </p:nvSpPr>
        <p:spPr>
          <a:xfrm>
            <a:off x="1000125" y="58769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기획 기여도</a:t>
            </a:r>
          </a:p>
        </p:txBody>
      </p:sp>
      <p:sp>
        <p:nvSpPr>
          <p:cNvPr id="9902" name="Role contribution value">
            <a:extLst>
              <a:ext uri="{FF2B5EF4-FFF2-40B4-BE49-F238E27FC236}">
                <a16:creationId xmlns:a16="http://schemas.microsoft.com/office/drawing/2014/main" id="{4B93D360-3ED1-4923-AD28-BDD25314D9B2}"/>
              </a:ext>
            </a:extLst>
          </p:cNvPr>
          <p:cNvSpPr>
            <a:spLocks noGrp="1"/>
          </p:cNvSpPr>
          <p:nvPr/>
        </p:nvSpPr>
        <p:spPr>
          <a:xfrm>
            <a:off x="1905000" y="5876925"/>
            <a:ext cx="3600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100%</a:t>
            </a:r>
          </a:p>
        </p:txBody>
      </p:sp>
      <p:sp>
        <p:nvSpPr>
          <p:cNvPr id="9903" name="Team label">
            <a:extLst>
              <a:ext uri="{FF2B5EF4-FFF2-40B4-BE49-F238E27FC236}">
                <a16:creationId xmlns:a16="http://schemas.microsoft.com/office/drawing/2014/main" id="{AAC66316-4005-4ADF-837E-E549DD71344A}"/>
              </a:ext>
            </a:extLst>
          </p:cNvPr>
          <p:cNvSpPr>
            <a:spLocks noGrp="1"/>
          </p:cNvSpPr>
          <p:nvPr/>
        </p:nvSpPr>
        <p:spPr>
          <a:xfrm>
            <a:off x="1000125" y="61531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협업 구성</a:t>
            </a:r>
          </a:p>
        </p:txBody>
      </p:sp>
      <p:sp>
        <p:nvSpPr>
          <p:cNvPr id="9904" name="Team value">
            <a:extLst>
              <a:ext uri="{FF2B5EF4-FFF2-40B4-BE49-F238E27FC236}">
                <a16:creationId xmlns:a16="http://schemas.microsoft.com/office/drawing/2014/main" id="{C5CE0294-907C-45FA-9E11-CD7D03CAFC0C}"/>
              </a:ext>
            </a:extLst>
          </p:cNvPr>
          <p:cNvSpPr>
            <a:spLocks noGrp="1"/>
          </p:cNvSpPr>
          <p:nvPr/>
        </p:nvSpPr>
        <p:spPr>
          <a:xfrm>
            <a:off x="1905000" y="61531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rPr>
              <a:t>기획 1명(본인), 데이터 분석가 1명</a:t>
            </a:r>
          </a:p>
        </p:txBody>
      </p:sp>
    </p:spTree>
    <p:extLst>
      <p:ext uri="{BB962C8B-B14F-4D97-AF65-F5344CB8AC3E}">
        <p14:creationId xmlns:p14="http://schemas.microsoft.com/office/powerpoint/2010/main" val="5175361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27">
            <a:extLst>
              <a:ext uri="{FF2B5EF4-FFF2-40B4-BE49-F238E27FC236}">
                <a16:creationId xmlns:a16="http://schemas.microsoft.com/office/drawing/2014/main" id="{B5392755-5865-F9B0-8A6B-497FC1FEFB7F}"/>
              </a:ext>
            </a:extLst>
          </p:cNvPr>
          <p:cNvSpPr>
            <a:spLocks noGrp="1"/>
          </p:cNvSpPr>
          <p:nvPr/>
        </p:nvSpPr>
        <p:spPr>
          <a:xfrm>
            <a:off x="0" y="824999"/>
            <a:ext cx="1041400" cy="4012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직사각형 24">
            <a:extLst>
              <a:ext uri="{FF2B5EF4-FFF2-40B4-BE49-F238E27FC236}">
                <a16:creationId xmlns:a16="http://schemas.microsoft.com/office/drawing/2014/main" id="{9300C823-004B-CBFA-D2AC-54CAF748651A}"/>
              </a:ext>
            </a:extLst>
          </p:cNvPr>
          <p:cNvSpPr>
            <a:spLocks noGrp="1"/>
          </p:cNvSpPr>
          <p:nvPr/>
        </p:nvSpPr>
        <p:spPr>
          <a:xfrm>
            <a:off x="0" y="56308"/>
            <a:ext cx="12192000" cy="595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직사각형 50">
            <a:extLst>
              <a:ext uri="{FF2B5EF4-FFF2-40B4-BE49-F238E27FC236}">
                <a16:creationId xmlns:a16="http://schemas.microsoft.com/office/drawing/2014/main" id="{3A7B5860-8D32-C866-0A67-DA9795350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선 연결선 15">
            <a:extLst>
              <a:ext uri="{FF2B5EF4-FFF2-40B4-BE49-F238E27FC236}">
                <a16:creationId xmlns:a16="http://schemas.microsoft.com/office/drawing/2014/main" id="{95C1A325-505D-4B67-8F4F-385E5E9505B2}"/>
              </a:ext>
            </a:extLst>
          </p:cNvPr>
          <p:cNvSpPr>
            <a:spLocks noGrp="1"/>
          </p:cNvSpPr>
          <p:nvPr/>
        </p:nvSpPr>
        <p:spPr>
          <a:xfrm>
            <a:off x="0" y="1229505"/>
            <a:ext cx="4204447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6" name="직사각형 16">
            <a:extLst>
              <a:ext uri="{FF2B5EF4-FFF2-40B4-BE49-F238E27FC236}">
                <a16:creationId xmlns:a16="http://schemas.microsoft.com/office/drawing/2014/main" id="{BB03FEB3-BCA6-E72B-25F6-6F59200B89FF}"/>
              </a:ext>
            </a:extLst>
          </p:cNvPr>
          <p:cNvSpPr>
            <a:spLocks noGrp="1"/>
          </p:cNvSpPr>
          <p:nvPr/>
        </p:nvSpPr>
        <p:spPr>
          <a:xfrm>
            <a:off x="762759" y="1601182"/>
            <a:ext cx="4931893" cy="4891685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grpSp>
        <p:nvGrpSpPr>
          <p:cNvPr id="7" name="Original evidence"/>
          <p:cNvGrpSpPr/>
          <p:nvPr/>
        </p:nvGrpSpPr>
        <p:grpSpPr>
          <a:xfrm>
            <a:off x="6328071" y="2047875"/>
            <a:ext cx="5136559" cy="4238625"/>
            <a:chOff x="6002207" y="1096179"/>
            <a:chExt cx="5998726" cy="4950075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92D31139-267D-FD7D-5B5D-6E1C50BCDEA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63" t="14559" r="17107"/>
            <a:stretch/>
          </p:blipFill>
          <p:spPr bwMode="auto">
            <a:xfrm>
              <a:off x="6012499" y="1112880"/>
              <a:ext cx="3604978" cy="2563808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grpSp>
          <p:nvGrpSpPr>
            <p:cNvPr id="9" name="그룹 68">
              <a:extLst>
                <a:ext uri="{FF2B5EF4-FFF2-40B4-BE49-F238E27FC236}">
                  <a16:creationId xmlns:a16="http://schemas.microsoft.com/office/drawing/2014/main" id="{DDB6794D-F6BC-16BD-37A0-89DB0B518D44}"/>
                </a:ext>
              </a:extLst>
            </p:cNvPr>
            <p:cNvGrpSpPr/>
            <p:nvPr/>
          </p:nvGrpSpPr>
          <p:grpSpPr>
            <a:xfrm>
              <a:off x="8582639" y="3403346"/>
              <a:ext cx="3418294" cy="2623415"/>
              <a:chOff x="4886030" y="2907560"/>
              <a:chExt cx="4723756" cy="3344579"/>
            </a:xfrm>
          </p:grpSpPr>
          <p:grpSp>
            <p:nvGrpSpPr>
              <p:cNvPr id="10" name="그룹 69">
                <a:extLst>
                  <a:ext uri="{FF2B5EF4-FFF2-40B4-BE49-F238E27FC236}">
                    <a16:creationId xmlns:a16="http://schemas.microsoft.com/office/drawing/2014/main" id="{E09A1D5A-6088-53F2-8798-E40AD5175200}"/>
                  </a:ext>
                </a:extLst>
              </p:cNvPr>
              <p:cNvGrpSpPr/>
              <p:nvPr/>
            </p:nvGrpSpPr>
            <p:grpSpPr>
              <a:xfrm>
                <a:off x="4886030" y="2907560"/>
                <a:ext cx="4723756" cy="3344579"/>
                <a:chOff x="710640" y="800628"/>
                <a:chExt cx="8471898" cy="6009352"/>
              </a:xfrm>
            </p:grpSpPr>
            <p:pic>
              <p:nvPicPr>
                <p:cNvPr id="11" name="image34.png">
                  <a:extLst>
                    <a:ext uri="{FF2B5EF4-FFF2-40B4-BE49-F238E27FC236}">
                      <a16:creationId xmlns:a16="http://schemas.microsoft.com/office/drawing/2014/main" id="{0793D331-30BE-8F62-CE24-FAE4D9A645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10640" y="800628"/>
                  <a:ext cx="8471898" cy="6009352"/>
                </a:xfrm>
                <a:prstGeom prst="rect">
                  <a:avLst/>
                </a:prstGeom>
                <a:ln w="12700">
                  <a:miter lim="400000"/>
                </a:ln>
              </p:spPr>
            </p:pic>
            <p:pic>
              <p:nvPicPr>
                <p:cNvPr id="12" name="image42.png">
                  <a:extLst>
                    <a:ext uri="{FF2B5EF4-FFF2-40B4-BE49-F238E27FC236}">
                      <a16:creationId xmlns:a16="http://schemas.microsoft.com/office/drawing/2014/main" id="{295850D4-C941-196D-5480-1989C5F99A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b="676"/>
                <a:stretch>
                  <a:fillRect/>
                </a:stretch>
              </p:blipFill>
              <p:spPr>
                <a:xfrm>
                  <a:off x="907046" y="1526200"/>
                  <a:ext cx="8079087" cy="5175767"/>
                </a:xfrm>
                <a:prstGeom prst="rect">
                  <a:avLst/>
                </a:prstGeom>
                <a:ln w="12700">
                  <a:miter lim="400000"/>
                </a:ln>
              </p:spPr>
            </p:pic>
          </p:grpSp>
          <p:sp>
            <p:nvSpPr>
              <p:cNvPr id="13" name="직사각형 70">
                <a:extLst>
                  <a:ext uri="{FF2B5EF4-FFF2-40B4-BE49-F238E27FC236}">
                    <a16:creationId xmlns:a16="http://schemas.microsoft.com/office/drawing/2014/main" id="{3921AC19-5400-1E45-733C-99F2EF7F1B51}"/>
                  </a:ext>
                </a:extLst>
              </p:cNvPr>
              <p:cNvSpPr/>
              <p:nvPr/>
            </p:nvSpPr>
            <p:spPr>
              <a:xfrm>
                <a:off x="4995542" y="3012140"/>
                <a:ext cx="4508362" cy="3190297"/>
              </a:xfrm>
              <a:prstGeom prst="rect">
                <a:avLst/>
              </a:prstGeom>
              <a:noFill/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라운드OTF Regular" panose="020B0600000101010101" pitchFamily="34" charset="-127"/>
                  <a:ea typeface="나눔스퀘어라운드OTF Regular" panose="020B0600000101010101" pitchFamily="34" charset="-127"/>
                </a:endParaRPr>
              </a:p>
            </p:txBody>
          </p:sp>
        </p:grpSp>
        <p:sp>
          <p:nvSpPr>
            <p:cNvPr id="14" name="타원 44">
              <a:extLst>
                <a:ext uri="{FF2B5EF4-FFF2-40B4-BE49-F238E27FC236}">
                  <a16:creationId xmlns:a16="http://schemas.microsoft.com/office/drawing/2014/main" id="{321DA7CC-D58A-AAED-A571-F050B956A387}"/>
                </a:ext>
              </a:extLst>
            </p:cNvPr>
            <p:cNvSpPr/>
            <p:nvPr/>
          </p:nvSpPr>
          <p:spPr>
            <a:xfrm>
              <a:off x="10420880" y="1914637"/>
              <a:ext cx="45719" cy="46097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나눔스퀘어라운드OTF Regular" panose="020B0600000101010101" pitchFamily="34" charset="-127"/>
                <a:ea typeface="나눔스퀘어라운드OTF Regular" panose="020B0600000101010101" pitchFamily="34" charset="-127"/>
              </a:endParaRPr>
            </a:p>
          </p:txBody>
        </p:sp>
        <p:grpSp>
          <p:nvGrpSpPr>
            <p:cNvPr id="15" name="그룹 45">
              <a:extLst>
                <a:ext uri="{FF2B5EF4-FFF2-40B4-BE49-F238E27FC236}">
                  <a16:creationId xmlns:a16="http://schemas.microsoft.com/office/drawing/2014/main" id="{D69B84DD-EBFC-EEF3-FDF8-AFAA9F01DA18}"/>
                </a:ext>
              </a:extLst>
            </p:cNvPr>
            <p:cNvGrpSpPr/>
            <p:nvPr/>
          </p:nvGrpSpPr>
          <p:grpSpPr>
            <a:xfrm>
              <a:off x="9369443" y="1096179"/>
              <a:ext cx="2506762" cy="2757244"/>
              <a:chOff x="5257869" y="1397932"/>
              <a:chExt cx="3263052" cy="3502976"/>
            </a:xfrm>
          </p:grpSpPr>
          <p:grpSp>
            <p:nvGrpSpPr>
              <p:cNvPr id="16" name="그룹 46">
                <a:extLst>
                  <a:ext uri="{FF2B5EF4-FFF2-40B4-BE49-F238E27FC236}">
                    <a16:creationId xmlns:a16="http://schemas.microsoft.com/office/drawing/2014/main" id="{367815EB-6277-CEC1-0468-B0DCEA2B1CBF}"/>
                  </a:ext>
                </a:extLst>
              </p:cNvPr>
              <p:cNvGrpSpPr/>
              <p:nvPr/>
            </p:nvGrpSpPr>
            <p:grpSpPr>
              <a:xfrm>
                <a:off x="5257869" y="1397932"/>
                <a:ext cx="3263052" cy="3502976"/>
                <a:chOff x="7683181" y="3501816"/>
                <a:chExt cx="2893964" cy="3106750"/>
              </a:xfrm>
            </p:grpSpPr>
            <p:sp>
              <p:nvSpPr>
                <p:cNvPr id="17" name="Shape 587">
                  <a:extLst>
                    <a:ext uri="{FF2B5EF4-FFF2-40B4-BE49-F238E27FC236}">
                      <a16:creationId xmlns:a16="http://schemas.microsoft.com/office/drawing/2014/main" id="{101486C8-51B1-38E9-0EFF-F2CA71628EA2}"/>
                    </a:ext>
                  </a:extLst>
                </p:cNvPr>
                <p:cNvSpPr/>
                <p:nvPr/>
              </p:nvSpPr>
              <p:spPr>
                <a:xfrm>
                  <a:off x="8189072" y="6029592"/>
                  <a:ext cx="73665" cy="218367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5718" tIns="45718" rIns="45718" bIns="45718">
                  <a:spAutoFit/>
                </a:bodyPr>
                <a:lstStyle/>
                <a:p>
                  <a:pPr>
                    <a:defRPr sz="1000" spc="-90">
                      <a:ln w="7937">
                        <a:solidFill>
                          <a:srgbClr val="A7A7A7"/>
                        </a:solidFill>
                      </a:ln>
                      <a:solidFill>
                        <a:srgbClr val="A7A7A7"/>
                      </a:solidFill>
                      <a:latin typeface="+mj-lt"/>
                      <a:ea typeface="+mj-ea"/>
                      <a:cs typeface="+mj-cs"/>
                      <a:sym typeface="나눔바른고딕"/>
                    </a:defRPr>
                  </a:pPr>
                  <a:endParaRPr dirty="0">
                    <a:latin typeface="나눔스퀘어라운드OTF Regular" panose="020B0600000101010101" pitchFamily="34" charset="-127"/>
                  </a:endParaRPr>
                </a:p>
              </p:txBody>
            </p:sp>
            <p:grpSp>
              <p:nvGrpSpPr>
                <p:cNvPr id="18" name="그룹 49">
                  <a:extLst>
                    <a:ext uri="{FF2B5EF4-FFF2-40B4-BE49-F238E27FC236}">
                      <a16:creationId xmlns:a16="http://schemas.microsoft.com/office/drawing/2014/main" id="{BEFA4872-9E5B-BC7F-13E3-46171FAC733E}"/>
                    </a:ext>
                  </a:extLst>
                </p:cNvPr>
                <p:cNvGrpSpPr/>
                <p:nvPr/>
              </p:nvGrpSpPr>
              <p:grpSpPr>
                <a:xfrm>
                  <a:off x="7683181" y="3501816"/>
                  <a:ext cx="2893964" cy="3106750"/>
                  <a:chOff x="1924113" y="800628"/>
                  <a:chExt cx="5851615" cy="6009352"/>
                </a:xfrm>
              </p:grpSpPr>
              <p:pic>
                <p:nvPicPr>
                  <p:cNvPr id="19" name="image34.png">
                    <a:extLst>
                      <a:ext uri="{FF2B5EF4-FFF2-40B4-BE49-F238E27FC236}">
                        <a16:creationId xmlns:a16="http://schemas.microsoft.com/office/drawing/2014/main" id="{077E9787-FC78-4CD1-67E7-48BA6756AFB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4"/>
                  <a:srcRect r="26938"/>
                  <a:stretch/>
                </p:blipFill>
                <p:spPr>
                  <a:xfrm>
                    <a:off x="1924113" y="800628"/>
                    <a:ext cx="5677431" cy="6009352"/>
                  </a:xfrm>
                  <a:prstGeom prst="rect">
                    <a:avLst/>
                  </a:prstGeom>
                  <a:ln w="12700">
                    <a:miter lim="400000"/>
                  </a:ln>
                </p:spPr>
              </p:pic>
              <p:pic>
                <p:nvPicPr>
                  <p:cNvPr id="20" name="image36.png">
                    <a:extLst>
                      <a:ext uri="{FF2B5EF4-FFF2-40B4-BE49-F238E27FC236}">
                        <a16:creationId xmlns:a16="http://schemas.microsoft.com/office/drawing/2014/main" id="{B63E3471-D23E-3BCF-9A09-453B1D2224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3512839" y="3963027"/>
                    <a:ext cx="1163713" cy="166246"/>
                  </a:xfrm>
                  <a:prstGeom prst="rect">
                    <a:avLst/>
                  </a:prstGeom>
                  <a:ln w="12700">
                    <a:miter lim="400000"/>
                  </a:ln>
                </p:spPr>
              </p:pic>
              <p:pic>
                <p:nvPicPr>
                  <p:cNvPr id="21" name="image34.png">
                    <a:extLst>
                      <a:ext uri="{FF2B5EF4-FFF2-40B4-BE49-F238E27FC236}">
                        <a16:creationId xmlns:a16="http://schemas.microsoft.com/office/drawing/2014/main" id="{8675A8A1-95C0-C681-35BB-870E69A95F4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4"/>
                  <a:srcRect l="82932"/>
                  <a:stretch/>
                </p:blipFill>
                <p:spPr>
                  <a:xfrm>
                    <a:off x="6449417" y="800628"/>
                    <a:ext cx="1326311" cy="6009352"/>
                  </a:xfrm>
                  <a:prstGeom prst="rect">
                    <a:avLst/>
                  </a:prstGeom>
                  <a:ln w="12700">
                    <a:miter lim="400000"/>
                  </a:ln>
                </p:spPr>
              </p:pic>
            </p:grpSp>
            <p:pic>
              <p:nvPicPr>
                <p:cNvPr id="22" name="그림 51">
                  <a:extLst>
                    <a:ext uri="{FF2B5EF4-FFF2-40B4-BE49-F238E27FC236}">
                      <a16:creationId xmlns:a16="http://schemas.microsoft.com/office/drawing/2014/main" id="{DCD72560-DC2F-D0B7-4F51-8BD1EE4B91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b="33250"/>
                <a:stretch/>
              </p:blipFill>
              <p:spPr>
                <a:xfrm>
                  <a:off x="7791450" y="3906058"/>
                  <a:ext cx="2683952" cy="2633241"/>
                </a:xfrm>
                <a:prstGeom prst="rect">
                  <a:avLst/>
                </a:prstGeom>
              </p:spPr>
            </p:pic>
          </p:grpSp>
          <p:sp>
            <p:nvSpPr>
              <p:cNvPr id="23" name="직사각형 47">
                <a:extLst>
                  <a:ext uri="{FF2B5EF4-FFF2-40B4-BE49-F238E27FC236}">
                    <a16:creationId xmlns:a16="http://schemas.microsoft.com/office/drawing/2014/main" id="{3495DD43-5D0F-02A2-66E0-8E3596C4FACB}"/>
                  </a:ext>
                </a:extLst>
              </p:cNvPr>
              <p:cNvSpPr/>
              <p:nvPr/>
            </p:nvSpPr>
            <p:spPr>
              <a:xfrm>
                <a:off x="5349752" y="1515401"/>
                <a:ext cx="3081295" cy="3336000"/>
              </a:xfrm>
              <a:prstGeom prst="rect">
                <a:avLst/>
              </a:prstGeom>
              <a:noFill/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라운드OTF Regular" panose="020B0600000101010101" pitchFamily="34" charset="-127"/>
                  <a:ea typeface="나눔스퀘어라운드OTF Regular" panose="020B0600000101010101" pitchFamily="34" charset="-127"/>
                </a:endParaRPr>
              </a:p>
            </p:txBody>
          </p:sp>
        </p:grpSp>
        <p:grpSp>
          <p:nvGrpSpPr>
            <p:cNvPr id="24" name="그룹 55">
              <a:extLst>
                <a:ext uri="{FF2B5EF4-FFF2-40B4-BE49-F238E27FC236}">
                  <a16:creationId xmlns:a16="http://schemas.microsoft.com/office/drawing/2014/main" id="{2556F52A-929D-032D-9150-85FF9DC9DA97}"/>
                </a:ext>
              </a:extLst>
            </p:cNvPr>
            <p:cNvGrpSpPr/>
            <p:nvPr/>
          </p:nvGrpSpPr>
          <p:grpSpPr>
            <a:xfrm>
              <a:off x="7142859" y="2340708"/>
              <a:ext cx="2936732" cy="3004884"/>
              <a:chOff x="8208989" y="1164961"/>
              <a:chExt cx="3587855" cy="3726192"/>
            </a:xfrm>
          </p:grpSpPr>
          <p:grpSp>
            <p:nvGrpSpPr>
              <p:cNvPr id="25" name="그룹 56">
                <a:extLst>
                  <a:ext uri="{FF2B5EF4-FFF2-40B4-BE49-F238E27FC236}">
                    <a16:creationId xmlns:a16="http://schemas.microsoft.com/office/drawing/2014/main" id="{9CD84531-1819-47D0-9D64-CD30E5B2EB4D}"/>
                  </a:ext>
                </a:extLst>
              </p:cNvPr>
              <p:cNvGrpSpPr/>
              <p:nvPr/>
            </p:nvGrpSpPr>
            <p:grpSpPr>
              <a:xfrm>
                <a:off x="8208989" y="1164961"/>
                <a:ext cx="3587855" cy="3726192"/>
                <a:chOff x="4739069" y="3990841"/>
                <a:chExt cx="3101487" cy="3221071"/>
              </a:xfrm>
            </p:grpSpPr>
            <p:sp>
              <p:nvSpPr>
                <p:cNvPr id="26" name="Shape 587">
                  <a:extLst>
                    <a:ext uri="{FF2B5EF4-FFF2-40B4-BE49-F238E27FC236}">
                      <a16:creationId xmlns:a16="http://schemas.microsoft.com/office/drawing/2014/main" id="{0870F315-CA55-C03D-D184-7D81D904B03B}"/>
                    </a:ext>
                  </a:extLst>
                </p:cNvPr>
                <p:cNvSpPr/>
                <p:nvPr/>
              </p:nvSpPr>
              <p:spPr>
                <a:xfrm>
                  <a:off x="4739069" y="3990841"/>
                  <a:ext cx="92394" cy="212840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5718" tIns="45718" rIns="45718" bIns="45718">
                  <a:spAutoFit/>
                </a:bodyPr>
                <a:lstStyle/>
                <a:p>
                  <a:pPr>
                    <a:defRPr sz="1000" spc="-90">
                      <a:ln w="7937">
                        <a:solidFill>
                          <a:srgbClr val="A7A7A7"/>
                        </a:solidFill>
                      </a:ln>
                      <a:solidFill>
                        <a:srgbClr val="A7A7A7"/>
                      </a:solidFill>
                      <a:latin typeface="+mj-lt"/>
                      <a:ea typeface="+mj-ea"/>
                      <a:cs typeface="+mj-cs"/>
                      <a:sym typeface="나눔바른고딕"/>
                    </a:defRPr>
                  </a:pPr>
                  <a:endParaRPr dirty="0">
                    <a:latin typeface="나눔스퀘어라운드OTF Regular" panose="020B0600000101010101" pitchFamily="34" charset="-127"/>
                  </a:endParaRPr>
                </a:p>
              </p:txBody>
            </p:sp>
            <p:sp>
              <p:nvSpPr>
                <p:cNvPr id="27" name="TextBox 59">
                  <a:extLst>
                    <a:ext uri="{FF2B5EF4-FFF2-40B4-BE49-F238E27FC236}">
                      <a16:creationId xmlns:a16="http://schemas.microsoft.com/office/drawing/2014/main" id="{C1553ED7-7406-F097-FCA1-A171EDA01AE2}"/>
                    </a:ext>
                  </a:extLst>
                </p:cNvPr>
                <p:cNvSpPr txBox="1"/>
                <p:nvPr/>
              </p:nvSpPr>
              <p:spPr>
                <a:xfrm>
                  <a:off x="6685874" y="5030628"/>
                  <a:ext cx="1154682" cy="2394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buClr>
                      <a:srgbClr val="B00000"/>
                    </a:buClr>
                  </a:pPr>
                  <a:r>
                    <a:rPr lang="ko-KR" altLang="en-US" sz="1200" dirty="0">
                      <a:ln>
                        <a:solidFill>
                          <a:schemeClr val="tx1">
                            <a:alpha val="30000"/>
                          </a:schemeClr>
                        </a:solidFill>
                      </a:ln>
                      <a:solidFill>
                        <a:srgbClr val="272123"/>
                      </a:solidFill>
                      <a:latin typeface="나눔스퀘어라운드OTF Regular" panose="020B0600000101010101" pitchFamily="34" charset="-127"/>
                      <a:ea typeface="나눔스퀘어라운드OTF Regular" panose="020B0600000101010101" pitchFamily="34" charset="-127"/>
                    </a:rPr>
                    <a:t>메인 페이지</a:t>
                  </a:r>
                  <a:endParaRPr lang="en-US" altLang="ko-KR" sz="1200" dirty="0">
                    <a:ln>
                      <a:solidFill>
                        <a:schemeClr val="tx1">
                          <a:alpha val="30000"/>
                        </a:schemeClr>
                      </a:solidFill>
                    </a:ln>
                    <a:solidFill>
                      <a:srgbClr val="272123"/>
                    </a:solidFill>
                    <a:latin typeface="나눔스퀘어라운드OTF Regular" panose="020B0600000101010101" pitchFamily="34" charset="-127"/>
                    <a:ea typeface="나눔스퀘어라운드OTF Regular" panose="020B0600000101010101" pitchFamily="34" charset="-127"/>
                  </a:endParaRPr>
                </a:p>
              </p:txBody>
            </p:sp>
            <p:grpSp>
              <p:nvGrpSpPr>
                <p:cNvPr id="28" name="그룹 60">
                  <a:extLst>
                    <a:ext uri="{FF2B5EF4-FFF2-40B4-BE49-F238E27FC236}">
                      <a16:creationId xmlns:a16="http://schemas.microsoft.com/office/drawing/2014/main" id="{D4594FB7-3F98-0B6B-8976-45272DE0A4B0}"/>
                    </a:ext>
                  </a:extLst>
                </p:cNvPr>
                <p:cNvGrpSpPr/>
                <p:nvPr/>
              </p:nvGrpSpPr>
              <p:grpSpPr>
                <a:xfrm>
                  <a:off x="4847902" y="3999216"/>
                  <a:ext cx="2992654" cy="3212696"/>
                  <a:chOff x="1939865" y="800628"/>
                  <a:chExt cx="5851615" cy="6009352"/>
                </a:xfrm>
              </p:grpSpPr>
              <p:pic>
                <p:nvPicPr>
                  <p:cNvPr id="29" name="image34.png">
                    <a:extLst>
                      <a:ext uri="{FF2B5EF4-FFF2-40B4-BE49-F238E27FC236}">
                        <a16:creationId xmlns:a16="http://schemas.microsoft.com/office/drawing/2014/main" id="{F38833C7-08DE-9C8D-F81B-2C9964E9E84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4"/>
                  <a:srcRect r="26938"/>
                  <a:stretch/>
                </p:blipFill>
                <p:spPr>
                  <a:xfrm>
                    <a:off x="1939865" y="800628"/>
                    <a:ext cx="5677431" cy="6009352"/>
                  </a:xfrm>
                  <a:prstGeom prst="rect">
                    <a:avLst/>
                  </a:prstGeom>
                  <a:ln w="12700">
                    <a:miter lim="400000"/>
                  </a:ln>
                </p:spPr>
              </p:pic>
              <p:pic>
                <p:nvPicPr>
                  <p:cNvPr id="30" name="image36.png">
                    <a:extLst>
                      <a:ext uri="{FF2B5EF4-FFF2-40B4-BE49-F238E27FC236}">
                        <a16:creationId xmlns:a16="http://schemas.microsoft.com/office/drawing/2014/main" id="{D9D5FB3A-118C-AE96-8EB8-C97B7FE940B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3512839" y="3963027"/>
                    <a:ext cx="1163713" cy="166246"/>
                  </a:xfrm>
                  <a:prstGeom prst="rect">
                    <a:avLst/>
                  </a:prstGeom>
                  <a:ln w="12700">
                    <a:miter lim="400000"/>
                  </a:ln>
                </p:spPr>
              </p:pic>
              <p:pic>
                <p:nvPicPr>
                  <p:cNvPr id="31" name="image37.png">
                    <a:extLst>
                      <a:ext uri="{FF2B5EF4-FFF2-40B4-BE49-F238E27FC236}">
                        <a16:creationId xmlns:a16="http://schemas.microsoft.com/office/drawing/2014/main" id="{4BFB51F7-F49E-8572-6954-E502FF4C1D3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/>
                  <a:srcRect r="50000"/>
                  <a:stretch>
                    <a:fillRect/>
                  </a:stretch>
                </p:blipFill>
                <p:spPr>
                  <a:xfrm>
                    <a:off x="6609184" y="4468128"/>
                    <a:ext cx="792089" cy="226312"/>
                  </a:xfrm>
                  <a:prstGeom prst="rect">
                    <a:avLst/>
                  </a:prstGeom>
                  <a:ln w="12700">
                    <a:miter lim="400000"/>
                  </a:ln>
                </p:spPr>
              </p:pic>
              <p:pic>
                <p:nvPicPr>
                  <p:cNvPr id="32" name="image34.png">
                    <a:extLst>
                      <a:ext uri="{FF2B5EF4-FFF2-40B4-BE49-F238E27FC236}">
                        <a16:creationId xmlns:a16="http://schemas.microsoft.com/office/drawing/2014/main" id="{84D53B35-826D-8616-41EB-D40A988873A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4"/>
                  <a:srcRect l="82932"/>
                  <a:stretch/>
                </p:blipFill>
                <p:spPr>
                  <a:xfrm>
                    <a:off x="6465168" y="800628"/>
                    <a:ext cx="1326312" cy="6009352"/>
                  </a:xfrm>
                  <a:prstGeom prst="rect">
                    <a:avLst/>
                  </a:prstGeom>
                  <a:ln w="12700">
                    <a:miter lim="400000"/>
                  </a:ln>
                </p:spPr>
              </p:pic>
            </p:grpSp>
            <p:grpSp>
              <p:nvGrpSpPr>
                <p:cNvPr id="33" name="그룹 61">
                  <a:extLst>
                    <a:ext uri="{FF2B5EF4-FFF2-40B4-BE49-F238E27FC236}">
                      <a16:creationId xmlns:a16="http://schemas.microsoft.com/office/drawing/2014/main" id="{329AD964-8529-5B18-EADE-6425E473448F}"/>
                    </a:ext>
                  </a:extLst>
                </p:cNvPr>
                <p:cNvGrpSpPr/>
                <p:nvPr/>
              </p:nvGrpSpPr>
              <p:grpSpPr>
                <a:xfrm>
                  <a:off x="4990127" y="4408730"/>
                  <a:ext cx="2769534" cy="2723418"/>
                  <a:chOff x="7927051" y="2740168"/>
                  <a:chExt cx="3359119" cy="3303185"/>
                </a:xfrm>
              </p:grpSpPr>
              <p:pic>
                <p:nvPicPr>
                  <p:cNvPr id="34" name="그림 62">
                    <a:extLst>
                      <a:ext uri="{FF2B5EF4-FFF2-40B4-BE49-F238E27FC236}">
                        <a16:creationId xmlns:a16="http://schemas.microsoft.com/office/drawing/2014/main" id="{F02F1401-3E03-3658-3A51-251BB9B64DC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33648" t="15936" r="6614" b="30026"/>
                  <a:stretch/>
                </p:blipFill>
                <p:spPr>
                  <a:xfrm>
                    <a:off x="7927049" y="2740168"/>
                    <a:ext cx="3338777" cy="2970675"/>
                  </a:xfrm>
                  <a:prstGeom prst="rect">
                    <a:avLst/>
                  </a:prstGeom>
                </p:spPr>
              </p:pic>
              <p:pic>
                <p:nvPicPr>
                  <p:cNvPr id="35" name="그림 63">
                    <a:extLst>
                      <a:ext uri="{FF2B5EF4-FFF2-40B4-BE49-F238E27FC236}">
                        <a16:creationId xmlns:a16="http://schemas.microsoft.com/office/drawing/2014/main" id="{F0F1C2FF-6FC2-54AF-36C1-5551B861B7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33648" t="78995" r="6614" b="11249"/>
                  <a:stretch/>
                </p:blipFill>
                <p:spPr>
                  <a:xfrm>
                    <a:off x="7947393" y="5507033"/>
                    <a:ext cx="3338777" cy="536320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36" name="직사각형 57">
                <a:extLst>
                  <a:ext uri="{FF2B5EF4-FFF2-40B4-BE49-F238E27FC236}">
                    <a16:creationId xmlns:a16="http://schemas.microsoft.com/office/drawing/2014/main" id="{97DC38FA-9E06-0999-EB1B-21EE0504D77E}"/>
                  </a:ext>
                </a:extLst>
              </p:cNvPr>
              <p:cNvSpPr/>
              <p:nvPr/>
            </p:nvSpPr>
            <p:spPr>
              <a:xfrm>
                <a:off x="8434677" y="1294957"/>
                <a:ext cx="3262746" cy="3531479"/>
              </a:xfrm>
              <a:prstGeom prst="rect">
                <a:avLst/>
              </a:prstGeom>
              <a:noFill/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라운드OTF Regular" panose="020B0600000101010101" pitchFamily="34" charset="-127"/>
                  <a:ea typeface="나눔스퀘어라운드OTF Regular" panose="020B0600000101010101" pitchFamily="34" charset="-127"/>
                </a:endParaRPr>
              </a:p>
            </p:txBody>
          </p:sp>
        </p:grpSp>
        <p:grpSp>
          <p:nvGrpSpPr>
            <p:cNvPr id="37" name="그룹 73">
              <a:extLst>
                <a:ext uri="{FF2B5EF4-FFF2-40B4-BE49-F238E27FC236}">
                  <a16:creationId xmlns:a16="http://schemas.microsoft.com/office/drawing/2014/main" id="{3C27A506-5776-EF9A-59D4-B7F1B17568BB}"/>
                </a:ext>
              </a:extLst>
            </p:cNvPr>
            <p:cNvGrpSpPr/>
            <p:nvPr/>
          </p:nvGrpSpPr>
          <p:grpSpPr>
            <a:xfrm>
              <a:off x="6002207" y="3613056"/>
              <a:ext cx="2750301" cy="2433198"/>
              <a:chOff x="8038707" y="3555365"/>
              <a:chExt cx="3257831" cy="3008227"/>
            </a:xfrm>
          </p:grpSpPr>
          <p:grpSp>
            <p:nvGrpSpPr>
              <p:cNvPr id="38" name="그룹 74">
                <a:extLst>
                  <a:ext uri="{FF2B5EF4-FFF2-40B4-BE49-F238E27FC236}">
                    <a16:creationId xmlns:a16="http://schemas.microsoft.com/office/drawing/2014/main" id="{76F255E3-87C3-60A8-3A8C-D1B846F06463}"/>
                  </a:ext>
                </a:extLst>
              </p:cNvPr>
              <p:cNvGrpSpPr/>
              <p:nvPr/>
            </p:nvGrpSpPr>
            <p:grpSpPr>
              <a:xfrm>
                <a:off x="8038707" y="3555365"/>
                <a:ext cx="3257831" cy="3008227"/>
                <a:chOff x="6248626" y="3266520"/>
                <a:chExt cx="3532408" cy="3261766"/>
              </a:xfrm>
            </p:grpSpPr>
            <p:grpSp>
              <p:nvGrpSpPr>
                <p:cNvPr id="39" name="그룹 76">
                  <a:extLst>
                    <a:ext uri="{FF2B5EF4-FFF2-40B4-BE49-F238E27FC236}">
                      <a16:creationId xmlns:a16="http://schemas.microsoft.com/office/drawing/2014/main" id="{52570F7D-E0AA-D6B7-9B9E-358A40EB4817}"/>
                    </a:ext>
                  </a:extLst>
                </p:cNvPr>
                <p:cNvGrpSpPr/>
                <p:nvPr/>
              </p:nvGrpSpPr>
              <p:grpSpPr>
                <a:xfrm>
                  <a:off x="6248626" y="3266520"/>
                  <a:ext cx="3532408" cy="3261766"/>
                  <a:chOff x="6248626" y="3266517"/>
                  <a:chExt cx="3532408" cy="3627632"/>
                </a:xfrm>
              </p:grpSpPr>
              <p:pic>
                <p:nvPicPr>
                  <p:cNvPr id="40" name="image34.png">
                    <a:extLst>
                      <a:ext uri="{FF2B5EF4-FFF2-40B4-BE49-F238E27FC236}">
                        <a16:creationId xmlns:a16="http://schemas.microsoft.com/office/drawing/2014/main" id="{7AAE96D7-82A8-C6FF-2183-095D67647C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4"/>
                  <a:srcRect r="26938"/>
                  <a:stretch/>
                </p:blipFill>
                <p:spPr>
                  <a:xfrm>
                    <a:off x="6248626" y="3266518"/>
                    <a:ext cx="3427260" cy="3627631"/>
                  </a:xfrm>
                  <a:prstGeom prst="rect">
                    <a:avLst/>
                  </a:prstGeom>
                  <a:ln w="12700">
                    <a:miter lim="400000"/>
                  </a:ln>
                </p:spPr>
              </p:pic>
              <p:pic>
                <p:nvPicPr>
                  <p:cNvPr id="41" name="image34.png">
                    <a:extLst>
                      <a:ext uri="{FF2B5EF4-FFF2-40B4-BE49-F238E27FC236}">
                        <a16:creationId xmlns:a16="http://schemas.microsoft.com/office/drawing/2014/main" id="{A4E43E66-B43B-C88A-0D0D-7525F1D28E9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4"/>
                  <a:srcRect l="82932"/>
                  <a:stretch/>
                </p:blipFill>
                <p:spPr>
                  <a:xfrm>
                    <a:off x="8980386" y="3266517"/>
                    <a:ext cx="800648" cy="3627629"/>
                  </a:xfrm>
                  <a:prstGeom prst="rect">
                    <a:avLst/>
                  </a:prstGeom>
                  <a:ln w="12700">
                    <a:miter lim="400000"/>
                  </a:ln>
                </p:spPr>
              </p:pic>
            </p:grpSp>
            <p:pic>
              <p:nvPicPr>
                <p:cNvPr id="42" name="image35.png">
                  <a:extLst>
                    <a:ext uri="{FF2B5EF4-FFF2-40B4-BE49-F238E27FC236}">
                      <a16:creationId xmlns:a16="http://schemas.microsoft.com/office/drawing/2014/main" id="{BF2CFC36-0026-C7DB-0FB9-71D178A20A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0"/>
                <a:srcRect l="1652" t="3086" r="2520" b="25918"/>
                <a:stretch/>
              </p:blipFill>
              <p:spPr>
                <a:xfrm>
                  <a:off x="6376206" y="3765176"/>
                  <a:ext cx="3303616" cy="2698378"/>
                </a:xfrm>
                <a:prstGeom prst="rect">
                  <a:avLst/>
                </a:prstGeom>
                <a:ln w="12700">
                  <a:miter lim="400000"/>
                </a:ln>
              </p:spPr>
            </p:pic>
          </p:grpSp>
          <p:sp>
            <p:nvSpPr>
              <p:cNvPr id="43" name="직사각형 75">
                <a:extLst>
                  <a:ext uri="{FF2B5EF4-FFF2-40B4-BE49-F238E27FC236}">
                    <a16:creationId xmlns:a16="http://schemas.microsoft.com/office/drawing/2014/main" id="{C6A5DD82-412B-C936-832E-E0F59CC8DD42}"/>
                  </a:ext>
                </a:extLst>
              </p:cNvPr>
              <p:cNvSpPr/>
              <p:nvPr/>
            </p:nvSpPr>
            <p:spPr>
              <a:xfrm>
                <a:off x="8138770" y="3655075"/>
                <a:ext cx="3063056" cy="2862684"/>
              </a:xfrm>
              <a:prstGeom prst="rect">
                <a:avLst/>
              </a:prstGeom>
              <a:noFill/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나눔스퀘어라운드OTF Regular" panose="020B0600000101010101" pitchFamily="34" charset="-127"/>
                  <a:ea typeface="나눔스퀘어라운드OTF Regular" panose="020B0600000101010101" pitchFamily="34" charset="-127"/>
                </a:endParaRPr>
              </a:p>
            </p:txBody>
          </p:sp>
        </p:grpSp>
      </p:grpSp>
      <p:sp>
        <p:nvSpPr>
          <p:cNvPr id="44" name="I:header">
            <a:extLst>
              <a:ext uri="{FF2B5EF4-FFF2-40B4-BE49-F238E27FC236}">
                <a16:creationId xmlns:a16="http://schemas.microsoft.com/office/drawing/2014/main" id="{51FE9092-72AF-478A-8597-8B87F2DB8509}"/>
              </a:ext>
            </a:extLst>
          </p:cNvPr>
          <p:cNvSpPr>
            <a:spLocks noGrp="1"/>
          </p:cNvSpPr>
          <p:nvPr/>
        </p:nvSpPr>
        <p:spPr>
          <a:xfrm>
            <a:off x="190500" y="2000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소셜업 / 대표</a:t>
            </a:r>
          </a:p>
        </p:txBody>
      </p:sp>
      <p:sp>
        <p:nvSpPr>
          <p:cNvPr id="45" name="I:category">
            <a:extLst>
              <a:ext uri="{FF2B5EF4-FFF2-40B4-BE49-F238E27FC236}">
                <a16:creationId xmlns:a16="http://schemas.microsoft.com/office/drawing/2014/main" id="{96F56249-3C53-4AE1-BC85-7C5A0C4884A3}"/>
              </a:ext>
            </a:extLst>
          </p:cNvPr>
          <p:cNvSpPr>
            <a:spLocks noGrp="1"/>
          </p:cNvSpPr>
          <p:nvPr/>
        </p:nvSpPr>
        <p:spPr>
          <a:xfrm>
            <a:off x="0" y="923925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46" name="I:project">
            <a:extLst>
              <a:ext uri="{FF2B5EF4-FFF2-40B4-BE49-F238E27FC236}">
                <a16:creationId xmlns:a16="http://schemas.microsoft.com/office/drawing/2014/main" id="{F8640A97-5134-4C7D-852E-30C1F40452F6}"/>
              </a:ext>
            </a:extLst>
          </p:cNvPr>
          <p:cNvSpPr>
            <a:spLocks noGrp="1"/>
          </p:cNvSpPr>
          <p:nvPr/>
        </p:nvSpPr>
        <p:spPr>
          <a:xfrm>
            <a:off x="1171575" y="9144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SNS 광고 오픈마켓 기획·출시·운영</a:t>
            </a:r>
          </a:p>
        </p:txBody>
      </p:sp>
      <p:sp>
        <p:nvSpPr>
          <p:cNvPr id="47" name="I:page">
            <a:extLst>
              <a:ext uri="{FF2B5EF4-FFF2-40B4-BE49-F238E27FC236}">
                <a16:creationId xmlns:a16="http://schemas.microsoft.com/office/drawing/2014/main" id="{87AEFEFE-AC57-4655-BC06-0A1772F1699E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29</a:t>
            </a:r>
          </a:p>
        </p:txBody>
      </p:sp>
      <p:sp>
        <p:nvSpPr>
          <p:cNvPr id="48" name="I:section 0">
            <a:extLst>
              <a:ext uri="{FF2B5EF4-FFF2-40B4-BE49-F238E27FC236}">
                <a16:creationId xmlns:a16="http://schemas.microsoft.com/office/drawing/2014/main" id="{EEE6EEA2-E262-4B00-9165-906D00A50513}"/>
              </a:ext>
            </a:extLst>
          </p:cNvPr>
          <p:cNvSpPr>
            <a:spLocks noGrp="1"/>
          </p:cNvSpPr>
          <p:nvPr/>
        </p:nvSpPr>
        <p:spPr>
          <a:xfrm>
            <a:off x="1000125" y="179070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문제 의식 및 목표</a:t>
            </a:r>
          </a:p>
        </p:txBody>
      </p:sp>
      <p:sp>
        <p:nvSpPr>
          <p:cNvPr id="49" name="I:body 0">
            <a:extLst>
              <a:ext uri="{FF2B5EF4-FFF2-40B4-BE49-F238E27FC236}">
                <a16:creationId xmlns:a16="http://schemas.microsoft.com/office/drawing/2014/main" id="{F582661F-4089-4DA0-8324-4B318A6B10DF}"/>
              </a:ext>
            </a:extLst>
          </p:cNvPr>
          <p:cNvSpPr>
            <a:spLocks noGrp="1"/>
          </p:cNvSpPr>
          <p:nvPr/>
        </p:nvSpPr>
        <p:spPr>
          <a:xfrm>
            <a:off x="1000125" y="2105025"/>
            <a:ext cx="44577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인플루언서별 가격 문의·선입금 과정의 거래 부담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광고주의 비교·구매·성과 확인 수요 검증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거래와 성과 관리를 지원하는 광고 오픈마켓 기획</a:t>
            </a:r>
          </a:p>
        </p:txBody>
      </p:sp>
      <p:sp>
        <p:nvSpPr>
          <p:cNvPr id="50" name="I:section 1">
            <a:extLst>
              <a:ext uri="{FF2B5EF4-FFF2-40B4-BE49-F238E27FC236}">
                <a16:creationId xmlns:a16="http://schemas.microsoft.com/office/drawing/2014/main" id="{F894D450-B7CF-4DF0-92E9-9E1E4734E230}"/>
              </a:ext>
            </a:extLst>
          </p:cNvPr>
          <p:cNvSpPr>
            <a:spLocks noGrp="1"/>
          </p:cNvSpPr>
          <p:nvPr/>
        </p:nvSpPr>
        <p:spPr>
          <a:xfrm>
            <a:off x="1000125" y="286702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주요 업무</a:t>
            </a:r>
          </a:p>
        </p:txBody>
      </p:sp>
      <p:sp>
        <p:nvSpPr>
          <p:cNvPr id="51" name="I:body 1">
            <a:extLst>
              <a:ext uri="{FF2B5EF4-FFF2-40B4-BE49-F238E27FC236}">
                <a16:creationId xmlns:a16="http://schemas.microsoft.com/office/drawing/2014/main" id="{0D6192E7-6B73-4F54-B451-3E5CE0F50084}"/>
              </a:ext>
            </a:extLst>
          </p:cNvPr>
          <p:cNvSpPr>
            <a:spLocks noGrp="1"/>
          </p:cNvSpPr>
          <p:nvPr/>
        </p:nvSpPr>
        <p:spPr>
          <a:xfrm>
            <a:off x="1000125" y="3181350"/>
            <a:ext cx="4457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광고주 약 100명을 만나 수요와 시장성 검증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요구사항을 반영한 웹 서비스 설계·구축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광고 거래·에스크로·성과 리포트 기능 기획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광고주와 인플루언서 유입 마케팅 및 운영 개선</a:t>
            </a:r>
          </a:p>
        </p:txBody>
      </p:sp>
      <p:sp>
        <p:nvSpPr>
          <p:cNvPr id="52" name="I:section 2">
            <a:extLst>
              <a:ext uri="{FF2B5EF4-FFF2-40B4-BE49-F238E27FC236}">
                <a16:creationId xmlns:a16="http://schemas.microsoft.com/office/drawing/2014/main" id="{2AD97E01-DEA9-485C-98B7-B0C96E1042BB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결과/성과</a:t>
            </a:r>
          </a:p>
        </p:txBody>
      </p:sp>
      <p:sp>
        <p:nvSpPr>
          <p:cNvPr id="53" name="I:body 2">
            <a:extLst>
              <a:ext uri="{FF2B5EF4-FFF2-40B4-BE49-F238E27FC236}">
                <a16:creationId xmlns:a16="http://schemas.microsoft.com/office/drawing/2014/main" id="{1446CBF0-819B-4747-899F-D7749B4B26F4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44577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SNS 광고 오픈마켓 출시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시드 투자 </a:t>
            </a:r>
            <a:r>
              <a:rPr sz="132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2억 원</a:t>
            </a: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 유치 · 인플루언서 약 </a:t>
            </a:r>
            <a:r>
              <a:rPr sz="132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1,300명</a:t>
            </a: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 확보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세션당 페이지 수와 이용 시간 </a:t>
            </a:r>
            <a:r>
              <a:rPr sz="132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3배</a:t>
            </a: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 이상 개선</a:t>
            </a:r>
          </a:p>
        </p:txBody>
      </p:sp>
      <p:sp>
        <p:nvSpPr>
          <p:cNvPr id="54" name="I:section 3">
            <a:extLst>
              <a:ext uri="{FF2B5EF4-FFF2-40B4-BE49-F238E27FC236}">
                <a16:creationId xmlns:a16="http://schemas.microsoft.com/office/drawing/2014/main" id="{EAF546D5-F7FA-4174-B448-FC0D5A7F0F1D}"/>
              </a:ext>
            </a:extLst>
          </p:cNvPr>
          <p:cNvSpPr>
            <a:spLocks noGrp="1"/>
          </p:cNvSpPr>
          <p:nvPr/>
        </p:nvSpPr>
        <p:spPr>
          <a:xfrm>
            <a:off x="1000125" y="5600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담당 역할</a:t>
            </a:r>
          </a:p>
        </p:txBody>
      </p:sp>
      <p:sp>
        <p:nvSpPr>
          <p:cNvPr id="55" name="I:body 3">
            <a:extLst>
              <a:ext uri="{FF2B5EF4-FFF2-40B4-BE49-F238E27FC236}">
                <a16:creationId xmlns:a16="http://schemas.microsoft.com/office/drawing/2014/main" id="{56FA002B-58E4-43D3-8EBE-AD7630789915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3600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창업자·대표, 서비스 기획·출시·운영 총괄</a:t>
            </a:r>
          </a:p>
        </p:txBody>
      </p:sp>
      <p:sp>
        <p:nvSpPr>
          <p:cNvPr id="56" name="I:evidence caption">
            <a:extLst>
              <a:ext uri="{FF2B5EF4-FFF2-40B4-BE49-F238E27FC236}">
                <a16:creationId xmlns:a16="http://schemas.microsoft.com/office/drawing/2014/main" id="{1CBFEB8A-C976-4DB8-9CCE-BC6886E524C0}"/>
              </a:ext>
            </a:extLst>
          </p:cNvPr>
          <p:cNvSpPr>
            <a:spLocks noGrp="1"/>
          </p:cNvSpPr>
          <p:nvPr/>
        </p:nvSpPr>
        <p:spPr>
          <a:xfrm>
            <a:off x="6096000" y="1676400"/>
            <a:ext cx="5600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광고 거래·관리·리포트 서비스 화면</a:t>
            </a:r>
          </a:p>
        </p:txBody>
      </p:sp>
      <p:sp>
        <p:nvSpPr>
          <p:cNvPr id="57" name="I:disclosure">
            <a:extLst>
              <a:ext uri="{FF2B5EF4-FFF2-40B4-BE49-F238E27FC236}">
                <a16:creationId xmlns:a16="http://schemas.microsoft.com/office/drawing/2014/main" id="{EC43B2EB-92D3-44AC-8503-8E361B141343}"/>
              </a:ext>
            </a:extLst>
          </p:cNvPr>
          <p:cNvSpPr>
            <a:spLocks noGrp="1"/>
          </p:cNvSpPr>
          <p:nvPr/>
        </p:nvSpPr>
        <p:spPr>
          <a:xfrm>
            <a:off x="6096000" y="6410325"/>
            <a:ext cx="54864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825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공개 가능한 범위의 내부 자료 발췌 · 일부 데이터 비식별화</a:t>
            </a:r>
          </a:p>
        </p:txBody>
      </p:sp>
      <p:sp>
        <p:nvSpPr>
          <p:cNvPr id="9901" name="Role contribution label">
            <a:extLst>
              <a:ext uri="{FF2B5EF4-FFF2-40B4-BE49-F238E27FC236}">
                <a16:creationId xmlns:a16="http://schemas.microsoft.com/office/drawing/2014/main" id="{75BA2A4C-0A9D-4EFF-82D6-6A75809E173D}"/>
              </a:ext>
            </a:extLst>
          </p:cNvPr>
          <p:cNvSpPr>
            <a:spLocks noGrp="1"/>
          </p:cNvSpPr>
          <p:nvPr/>
        </p:nvSpPr>
        <p:spPr>
          <a:xfrm>
            <a:off x="1000125" y="58769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기획 기여도</a:t>
            </a:r>
          </a:p>
        </p:txBody>
      </p:sp>
      <p:sp>
        <p:nvSpPr>
          <p:cNvPr id="9902" name="Role contribution value">
            <a:extLst>
              <a:ext uri="{FF2B5EF4-FFF2-40B4-BE49-F238E27FC236}">
                <a16:creationId xmlns:a16="http://schemas.microsoft.com/office/drawing/2014/main" id="{1943BF3A-F562-490F-B773-ABC103D5F798}"/>
              </a:ext>
            </a:extLst>
          </p:cNvPr>
          <p:cNvSpPr>
            <a:spLocks noGrp="1"/>
          </p:cNvSpPr>
          <p:nvPr/>
        </p:nvSpPr>
        <p:spPr>
          <a:xfrm>
            <a:off x="1905000" y="5876925"/>
            <a:ext cx="3600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100%</a:t>
            </a:r>
          </a:p>
        </p:txBody>
      </p:sp>
      <p:sp>
        <p:nvSpPr>
          <p:cNvPr id="9903" name="Team label">
            <a:extLst>
              <a:ext uri="{FF2B5EF4-FFF2-40B4-BE49-F238E27FC236}">
                <a16:creationId xmlns:a16="http://schemas.microsoft.com/office/drawing/2014/main" id="{D22E3087-AB8F-4F1F-A838-36C0E2B01650}"/>
              </a:ext>
            </a:extLst>
          </p:cNvPr>
          <p:cNvSpPr>
            <a:spLocks noGrp="1"/>
          </p:cNvSpPr>
          <p:nvPr/>
        </p:nvSpPr>
        <p:spPr>
          <a:xfrm>
            <a:off x="1000125" y="61531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협업 구성</a:t>
            </a:r>
          </a:p>
        </p:txBody>
      </p:sp>
      <p:sp>
        <p:nvSpPr>
          <p:cNvPr id="9904" name="Team value">
            <a:extLst>
              <a:ext uri="{FF2B5EF4-FFF2-40B4-BE49-F238E27FC236}">
                <a16:creationId xmlns:a16="http://schemas.microsoft.com/office/drawing/2014/main" id="{35918ABD-4D78-4647-B6E8-B8CDD59F1CDD}"/>
              </a:ext>
            </a:extLst>
          </p:cNvPr>
          <p:cNvSpPr>
            <a:spLocks noGrp="1"/>
          </p:cNvSpPr>
          <p:nvPr/>
        </p:nvSpPr>
        <p:spPr>
          <a:xfrm>
            <a:off x="1905000" y="61531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rPr>
              <a:t>기획 1명(본인), 디자인 1명, 풀스택 개발 3명</a:t>
            </a:r>
          </a:p>
        </p:txBody>
      </p:sp>
    </p:spTree>
    <p:extLst>
      <p:ext uri="{BB962C8B-B14F-4D97-AF65-F5344CB8AC3E}">
        <p14:creationId xmlns:p14="http://schemas.microsoft.com/office/powerpoint/2010/main" val="15296338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36">
            <a:extLst>
              <a:ext uri="{FF2B5EF4-FFF2-40B4-BE49-F238E27FC236}">
                <a16:creationId xmlns:a16="http://schemas.microsoft.com/office/drawing/2014/main" id="{6B83128F-F42B-38BD-9FAF-80822D27FDC8}"/>
              </a:ext>
            </a:extLst>
          </p:cNvPr>
          <p:cNvSpPr/>
          <p:nvPr/>
        </p:nvSpPr>
        <p:spPr>
          <a:xfrm>
            <a:off x="4016375" y="3126166"/>
            <a:ext cx="4159250" cy="974748"/>
          </a:xfrm>
          <a:prstGeom prst="ellipse">
            <a:avLst/>
          </a:prstGeom>
          <a:solidFill>
            <a:srgbClr val="F4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I:thanks">
            <a:extLst>
              <a:ext uri="{FF2B5EF4-FFF2-40B4-BE49-F238E27FC236}">
                <a16:creationId xmlns:a16="http://schemas.microsoft.com/office/drawing/2014/main" id="{BCFAAAB1-5EE7-4EE2-96B6-F77187F027F1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10287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5100" b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5100" b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이수지</a:t>
            </a:r>
          </a:p>
        </p:txBody>
      </p:sp>
      <p:sp>
        <p:nvSpPr>
          <p:cNvPr id="4" name="I:page">
            <a:extLst>
              <a:ext uri="{FF2B5EF4-FFF2-40B4-BE49-F238E27FC236}">
                <a16:creationId xmlns:a16="http://schemas.microsoft.com/office/drawing/2014/main" id="{851BF4F3-3A2F-4BF4-938D-697401EFD71A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070775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직사각형 27">
            <a:extLst>
              <a:ext uri="{FF2B5EF4-FFF2-40B4-BE49-F238E27FC236}">
                <a16:creationId xmlns:a16="http://schemas.microsoft.com/office/drawing/2014/main" id="{B5392755-5865-F9B0-8A6B-497FC1FEFB7F}"/>
              </a:ext>
            </a:extLst>
          </p:cNvPr>
          <p:cNvSpPr>
            <a:spLocks noGrp="1"/>
          </p:cNvSpPr>
          <p:nvPr/>
        </p:nvSpPr>
        <p:spPr>
          <a:xfrm>
            <a:off x="0" y="824999"/>
            <a:ext cx="1041400" cy="4012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직사각형 24">
            <a:extLst>
              <a:ext uri="{FF2B5EF4-FFF2-40B4-BE49-F238E27FC236}">
                <a16:creationId xmlns:a16="http://schemas.microsoft.com/office/drawing/2014/main" id="{9300C823-004B-CBFA-D2AC-54CAF748651A}"/>
              </a:ext>
            </a:extLst>
          </p:cNvPr>
          <p:cNvSpPr>
            <a:spLocks noGrp="1"/>
          </p:cNvSpPr>
          <p:nvPr/>
        </p:nvSpPr>
        <p:spPr>
          <a:xfrm>
            <a:off x="0" y="56308"/>
            <a:ext cx="12192000" cy="595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직사각형 50">
            <a:extLst>
              <a:ext uri="{FF2B5EF4-FFF2-40B4-BE49-F238E27FC236}">
                <a16:creationId xmlns:a16="http://schemas.microsoft.com/office/drawing/2014/main" id="{3A7B5860-8D32-C866-0A67-DA9795350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선 연결선 15">
            <a:extLst>
              <a:ext uri="{FF2B5EF4-FFF2-40B4-BE49-F238E27FC236}">
                <a16:creationId xmlns:a16="http://schemas.microsoft.com/office/drawing/2014/main" id="{95C1A325-505D-4B67-8F4F-385E5E9505B2}"/>
              </a:ext>
            </a:extLst>
          </p:cNvPr>
          <p:cNvSpPr>
            <a:spLocks noGrp="1"/>
          </p:cNvSpPr>
          <p:nvPr/>
        </p:nvSpPr>
        <p:spPr>
          <a:xfrm>
            <a:off x="0" y="1229505"/>
            <a:ext cx="4204447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6" name="직사각형 16">
            <a:extLst>
              <a:ext uri="{FF2B5EF4-FFF2-40B4-BE49-F238E27FC236}">
                <a16:creationId xmlns:a16="http://schemas.microsoft.com/office/drawing/2014/main" id="{BB03FEB3-BCA6-E72B-25F6-6F59200B89FF}"/>
              </a:ext>
            </a:extLst>
          </p:cNvPr>
          <p:cNvSpPr>
            <a:spLocks noGrp="1"/>
          </p:cNvSpPr>
          <p:nvPr/>
        </p:nvSpPr>
        <p:spPr>
          <a:xfrm>
            <a:off x="762759" y="1601182"/>
            <a:ext cx="4931893" cy="4891685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" name="전체방 화면 설명">
            <a:extLst>
              <a:ext uri="{FF2B5EF4-FFF2-40B4-BE49-F238E27FC236}">
                <a16:creationId xmlns:a16="http://schemas.microsoft.com/office/drawing/2014/main" id="{009B18B1-3450-4D08-91D5-F5E226AC159D}"/>
              </a:ext>
            </a:extLst>
          </p:cNvPr>
          <p:cNvSpPr>
            <a:spLocks noGrp="1"/>
          </p:cNvSpPr>
          <p:nvPr/>
        </p:nvSpPr>
        <p:spPr>
          <a:xfrm>
            <a:off x="6143625" y="1704975"/>
            <a:ext cx="541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발화 기반 기간 추천과 직접 선택을 함께 제공</a:t>
            </a:r>
          </a:p>
        </p:txBody>
      </p:sp>
      <p:pic>
        <p:nvPicPr>
          <p:cNvPr id="8" name=""/>
          <p:cNvPicPr>
            <a:picLocks noChangeAspect="1"/>
          </p:cNvPicPr>
          <p:nvPr/>
        </p:nvPicPr>
        <p:blipFill>
          <a:blip r:embed="rIdV4_Rbce9dda9dbaa4340"/>
          <a:stretch/>
        </p:blipFill>
        <p:spPr>
          <a:xfrm>
            <a:off x="6106066" y="2114550"/>
            <a:ext cx="2732594" cy="3419475"/>
          </a:xfrm>
          <a:prstGeom prst="rect">
            <a:avLst/>
          </a:prstGeom>
        </p:spPr>
      </p:pic>
      <p:pic>
        <p:nvPicPr>
          <p:cNvPr id="9" name=""/>
          <p:cNvPicPr>
            <a:picLocks noChangeAspect="1"/>
          </p:cNvPicPr>
          <p:nvPr/>
        </p:nvPicPr>
        <p:blipFill>
          <a:blip r:embed="rIdV4_R9ea127f23f674b5b"/>
          <a:stretch/>
        </p:blipFill>
        <p:spPr>
          <a:xfrm>
            <a:off x="9296529" y="2114550"/>
            <a:ext cx="2066668" cy="3429000"/>
          </a:xfrm>
          <a:prstGeom prst="rect">
            <a:avLst/>
          </a:prstGeom>
        </p:spPr>
      </p:pic>
      <p:sp>
        <p:nvSpPr>
          <p:cNvPr id="10" name="추천 캡션">
            <a:extLst>
              <a:ext uri="{FF2B5EF4-FFF2-40B4-BE49-F238E27FC236}">
                <a16:creationId xmlns:a16="http://schemas.microsoft.com/office/drawing/2014/main" id="{B964B9D7-6246-4A6C-9CF0-D6DA25C33848}"/>
              </a:ext>
            </a:extLst>
          </p:cNvPr>
          <p:cNvSpPr>
            <a:spLocks noGrp="1"/>
          </p:cNvSpPr>
          <p:nvPr/>
        </p:nvSpPr>
        <p:spPr>
          <a:xfrm>
            <a:off x="6038850" y="5772150"/>
            <a:ext cx="28765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기간 추천 → 전체 채팅방에서 확인</a:t>
            </a:r>
          </a:p>
        </p:txBody>
      </p:sp>
      <p:sp>
        <p:nvSpPr>
          <p:cNvPr id="11" name="선택 캡션">
            <a:extLst>
              <a:ext uri="{FF2B5EF4-FFF2-40B4-BE49-F238E27FC236}">
                <a16:creationId xmlns:a16="http://schemas.microsoft.com/office/drawing/2014/main" id="{34B12246-809D-4EC0-B2DA-E7F50E9A9D42}"/>
              </a:ext>
            </a:extLst>
          </p:cNvPr>
          <p:cNvSpPr>
            <a:spLocks noGrp="1"/>
          </p:cNvSpPr>
          <p:nvPr/>
        </p:nvSpPr>
        <p:spPr>
          <a:xfrm>
            <a:off x="9201150" y="5772150"/>
            <a:ext cx="23431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필요하면 직접 선택</a:t>
            </a:r>
          </a:p>
        </p:txBody>
      </p:sp>
      <p:sp>
        <p:nvSpPr>
          <p:cNvPr id="12" name="전체방 출처">
            <a:extLst>
              <a:ext uri="{FF2B5EF4-FFF2-40B4-BE49-F238E27FC236}">
                <a16:creationId xmlns:a16="http://schemas.microsoft.com/office/drawing/2014/main" id="{93E2D758-89D9-4BDA-9B58-704A3DFE7477}"/>
              </a:ext>
            </a:extLst>
          </p:cNvPr>
          <p:cNvSpPr>
            <a:spLocks noGrp="1"/>
          </p:cNvSpPr>
          <p:nvPr/>
        </p:nvSpPr>
        <p:spPr>
          <a:xfrm>
            <a:off x="6143625" y="6191250"/>
            <a:ext cx="541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975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정책서에 반영한 조회 범위 개선 시안</a:t>
            </a:r>
          </a:p>
        </p:txBody>
      </p:sp>
      <p:sp>
        <p:nvSpPr>
          <p:cNvPr id="13" name="I:header">
            <a:extLst>
              <a:ext uri="{FF2B5EF4-FFF2-40B4-BE49-F238E27FC236}">
                <a16:creationId xmlns:a16="http://schemas.microsoft.com/office/drawing/2014/main" id="{FCA14FBD-92AC-442A-B01D-9819DD1E2EB9}"/>
              </a:ext>
            </a:extLst>
          </p:cNvPr>
          <p:cNvSpPr>
            <a:spLocks noGrp="1"/>
          </p:cNvSpPr>
          <p:nvPr/>
        </p:nvSpPr>
        <p:spPr>
          <a:xfrm>
            <a:off x="190500" y="2000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카카오 / AI 서비스 기획</a:t>
            </a:r>
          </a:p>
        </p:txBody>
      </p:sp>
      <p:sp>
        <p:nvSpPr>
          <p:cNvPr id="14" name="I:category">
            <a:extLst>
              <a:ext uri="{FF2B5EF4-FFF2-40B4-BE49-F238E27FC236}">
                <a16:creationId xmlns:a16="http://schemas.microsoft.com/office/drawing/2014/main" id="{BC69ECE4-EE9B-4DD0-95B3-ECA324A58243}"/>
              </a:ext>
            </a:extLst>
          </p:cNvPr>
          <p:cNvSpPr>
            <a:spLocks noGrp="1"/>
          </p:cNvSpPr>
          <p:nvPr/>
        </p:nvSpPr>
        <p:spPr>
          <a:xfrm>
            <a:off x="0" y="923925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15" name="I:project">
            <a:extLst>
              <a:ext uri="{FF2B5EF4-FFF2-40B4-BE49-F238E27FC236}">
                <a16:creationId xmlns:a16="http://schemas.microsoft.com/office/drawing/2014/main" id="{F9B1FB84-E8CF-48B4-BFD1-06A79D123E14}"/>
              </a:ext>
            </a:extLst>
          </p:cNvPr>
          <p:cNvSpPr>
            <a:spLocks noGrp="1"/>
          </p:cNvSpPr>
          <p:nvPr/>
        </p:nvSpPr>
        <p:spPr>
          <a:xfrm>
            <a:off x="1171575" y="9144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전체 채팅방 조회 및 발화 기반 탐색 경험 개선</a:t>
            </a:r>
          </a:p>
        </p:txBody>
      </p:sp>
      <p:sp>
        <p:nvSpPr>
          <p:cNvPr id="16" name="I:page">
            <a:extLst>
              <a:ext uri="{FF2B5EF4-FFF2-40B4-BE49-F238E27FC236}">
                <a16:creationId xmlns:a16="http://schemas.microsoft.com/office/drawing/2014/main" id="{B0F580D3-5445-4664-8B99-A78004142C02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7</a:t>
            </a:r>
          </a:p>
        </p:txBody>
      </p:sp>
      <p:sp>
        <p:nvSpPr>
          <p:cNvPr id="17" name="I:section 0">
            <a:extLst>
              <a:ext uri="{FF2B5EF4-FFF2-40B4-BE49-F238E27FC236}">
                <a16:creationId xmlns:a16="http://schemas.microsoft.com/office/drawing/2014/main" id="{6089443C-EAA1-4E16-8D45-FE4941DFD17A}"/>
              </a:ext>
            </a:extLst>
          </p:cNvPr>
          <p:cNvSpPr>
            <a:spLocks noGrp="1"/>
          </p:cNvSpPr>
          <p:nvPr/>
        </p:nvSpPr>
        <p:spPr>
          <a:xfrm>
            <a:off x="1000125" y="179070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문제 의식 및 목표</a:t>
            </a:r>
          </a:p>
        </p:txBody>
      </p:sp>
      <p:sp>
        <p:nvSpPr>
          <p:cNvPr id="18" name="I:body 0">
            <a:extLst>
              <a:ext uri="{FF2B5EF4-FFF2-40B4-BE49-F238E27FC236}">
                <a16:creationId xmlns:a16="http://schemas.microsoft.com/office/drawing/2014/main" id="{3AEC9EA2-B3D2-4E98-BE8F-BA3D1866DF9C}"/>
              </a:ext>
            </a:extLst>
          </p:cNvPr>
          <p:cNvSpPr>
            <a:spLocks noGrp="1"/>
          </p:cNvSpPr>
          <p:nvPr/>
        </p:nvSpPr>
        <p:spPr>
          <a:xfrm>
            <a:off x="1000125" y="2105025"/>
            <a:ext cx="44577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관련 채팅방을 기억하고 직접 선택하는 부담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최대 4개 방 제한에 따른 조회 범위의 제약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질문 의도에 맞는 조회 기간·대화 근거 연결 필요</a:t>
            </a:r>
          </a:p>
        </p:txBody>
      </p:sp>
      <p:sp>
        <p:nvSpPr>
          <p:cNvPr id="19" name="I:section 1">
            <a:extLst>
              <a:ext uri="{FF2B5EF4-FFF2-40B4-BE49-F238E27FC236}">
                <a16:creationId xmlns:a16="http://schemas.microsoft.com/office/drawing/2014/main" id="{F55F120F-1488-4788-9831-90BA4D773E28}"/>
              </a:ext>
            </a:extLst>
          </p:cNvPr>
          <p:cNvSpPr>
            <a:spLocks noGrp="1"/>
          </p:cNvSpPr>
          <p:nvPr/>
        </p:nvSpPr>
        <p:spPr>
          <a:xfrm>
            <a:off x="1000125" y="286702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주요 업무</a:t>
            </a:r>
          </a:p>
        </p:txBody>
      </p:sp>
      <p:sp>
        <p:nvSpPr>
          <p:cNvPr id="20" name="I:body 1">
            <a:extLst>
              <a:ext uri="{FF2B5EF4-FFF2-40B4-BE49-F238E27FC236}">
                <a16:creationId xmlns:a16="http://schemas.microsoft.com/office/drawing/2014/main" id="{9425A05A-DCF7-4C2B-B383-597D07EA58CA}"/>
              </a:ext>
            </a:extLst>
          </p:cNvPr>
          <p:cNvSpPr>
            <a:spLocks noGrp="1"/>
          </p:cNvSpPr>
          <p:nvPr/>
        </p:nvSpPr>
        <p:spPr>
          <a:xfrm>
            <a:off x="1000125" y="3181350"/>
            <a:ext cx="4457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채팅방 4개 제한 해제와 전체 조회 정책 설계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발화에서 조회 기간을 추천하는 프롬프트 검증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특정 기간·최근 맥락·직접 선택의 분기 정의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대화량 분포와 모델 입력 한도로 조회 범위 검토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범위 변경·데이터 부족·추가 확인의 UX 정리</a:t>
            </a:r>
          </a:p>
        </p:txBody>
      </p:sp>
      <p:sp>
        <p:nvSpPr>
          <p:cNvPr id="21" name="I:section 2">
            <a:extLst>
              <a:ext uri="{FF2B5EF4-FFF2-40B4-BE49-F238E27FC236}">
                <a16:creationId xmlns:a16="http://schemas.microsoft.com/office/drawing/2014/main" id="{98AA989C-B2B0-41E0-BF42-17290AAAEA8B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결과/성과</a:t>
            </a:r>
          </a:p>
        </p:txBody>
      </p:sp>
      <p:sp>
        <p:nvSpPr>
          <p:cNvPr id="22" name="I:body 2">
            <a:extLst>
              <a:ext uri="{FF2B5EF4-FFF2-40B4-BE49-F238E27FC236}">
                <a16:creationId xmlns:a16="http://schemas.microsoft.com/office/drawing/2014/main" id="{90C7E479-6B6F-4D17-A155-31B4C819653B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44577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발화·기간 기반 전체 채팅방 탐색으로 조회 범위 확장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추천 기간 확인 후 바로 분석하는 흐름 구체화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대화량·토큰 환산 가정에 따른 최근 </a:t>
            </a:r>
            <a:r>
              <a:rPr sz="132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7일</a:t>
            </a: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 가이드 도출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전체 조회와 직접 선택을 함께 제공하는 정책 수립</a:t>
            </a:r>
          </a:p>
        </p:txBody>
      </p:sp>
      <p:sp>
        <p:nvSpPr>
          <p:cNvPr id="23" name="I:section 3">
            <a:extLst>
              <a:ext uri="{FF2B5EF4-FFF2-40B4-BE49-F238E27FC236}">
                <a16:creationId xmlns:a16="http://schemas.microsoft.com/office/drawing/2014/main" id="{0FE7C898-C23B-4700-8F92-62F3B463A966}"/>
              </a:ext>
            </a:extLst>
          </p:cNvPr>
          <p:cNvSpPr>
            <a:spLocks noGrp="1"/>
          </p:cNvSpPr>
          <p:nvPr/>
        </p:nvSpPr>
        <p:spPr>
          <a:xfrm>
            <a:off x="1000125" y="5600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담당 역할</a:t>
            </a:r>
          </a:p>
        </p:txBody>
      </p:sp>
      <p:sp>
        <p:nvSpPr>
          <p:cNvPr id="24" name="I:body 3">
            <a:extLst>
              <a:ext uri="{FF2B5EF4-FFF2-40B4-BE49-F238E27FC236}">
                <a16:creationId xmlns:a16="http://schemas.microsoft.com/office/drawing/2014/main" id="{9BBB12D8-C63B-4CA8-95BB-8632FFA73569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3600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조회 경험·프롬프트·정책 기획, 데이터 분석</a:t>
            </a:r>
          </a:p>
        </p:txBody>
      </p:sp>
      <p:sp>
        <p:nvSpPr>
          <p:cNvPr id="9901" name="Role contribution label">
            <a:extLst>
              <a:ext uri="{FF2B5EF4-FFF2-40B4-BE49-F238E27FC236}">
                <a16:creationId xmlns:a16="http://schemas.microsoft.com/office/drawing/2014/main" id="{1796B1E7-62B1-4520-815C-02949F2641CE}"/>
              </a:ext>
            </a:extLst>
          </p:cNvPr>
          <p:cNvSpPr>
            <a:spLocks noGrp="1"/>
          </p:cNvSpPr>
          <p:nvPr/>
        </p:nvSpPr>
        <p:spPr>
          <a:xfrm>
            <a:off x="1000125" y="58769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기획 기여도</a:t>
            </a:r>
          </a:p>
        </p:txBody>
      </p:sp>
      <p:sp>
        <p:nvSpPr>
          <p:cNvPr id="9902" name="Role contribution value">
            <a:extLst>
              <a:ext uri="{FF2B5EF4-FFF2-40B4-BE49-F238E27FC236}">
                <a16:creationId xmlns:a16="http://schemas.microsoft.com/office/drawing/2014/main" id="{152021E6-8EA0-4139-BB50-DF5444BF111E}"/>
              </a:ext>
            </a:extLst>
          </p:cNvPr>
          <p:cNvSpPr>
            <a:spLocks noGrp="1"/>
          </p:cNvSpPr>
          <p:nvPr/>
        </p:nvSpPr>
        <p:spPr>
          <a:xfrm>
            <a:off x="1905000" y="5876925"/>
            <a:ext cx="3600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100%</a:t>
            </a:r>
          </a:p>
        </p:txBody>
      </p:sp>
      <p:sp>
        <p:nvSpPr>
          <p:cNvPr id="9903" name="Team label">
            <a:extLst>
              <a:ext uri="{FF2B5EF4-FFF2-40B4-BE49-F238E27FC236}">
                <a16:creationId xmlns:a16="http://schemas.microsoft.com/office/drawing/2014/main" id="{5C14D6EA-CCAC-4A0B-AC01-F17FAB12E2FA}"/>
              </a:ext>
            </a:extLst>
          </p:cNvPr>
          <p:cNvSpPr>
            <a:spLocks noGrp="1"/>
          </p:cNvSpPr>
          <p:nvPr/>
        </p:nvSpPr>
        <p:spPr>
          <a:xfrm>
            <a:off x="1000125" y="61531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협업 구성</a:t>
            </a:r>
          </a:p>
        </p:txBody>
      </p:sp>
      <p:sp>
        <p:nvSpPr>
          <p:cNvPr id="9904" name="Team value">
            <a:extLst>
              <a:ext uri="{FF2B5EF4-FFF2-40B4-BE49-F238E27FC236}">
                <a16:creationId xmlns:a16="http://schemas.microsoft.com/office/drawing/2014/main" id="{06219012-3A41-49FD-9080-3F683D36BDBA}"/>
              </a:ext>
            </a:extLst>
          </p:cNvPr>
          <p:cNvSpPr>
            <a:spLocks noGrp="1"/>
          </p:cNvSpPr>
          <p:nvPr/>
        </p:nvSpPr>
        <p:spPr>
          <a:xfrm>
            <a:off x="1905000" y="61531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rPr>
              <a:t>디자인·클라이언트·서버·모델</a:t>
            </a:r>
          </a:p>
        </p:txBody>
      </p:sp>
    </p:spTree>
    <p:extLst>
      <p:ext uri="{BB962C8B-B14F-4D97-AF65-F5344CB8AC3E}">
        <p14:creationId xmlns:p14="http://schemas.microsoft.com/office/powerpoint/2010/main" val="23972996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직사각형 27">
            <a:extLst>
              <a:ext uri="{FF2B5EF4-FFF2-40B4-BE49-F238E27FC236}">
                <a16:creationId xmlns:a16="http://schemas.microsoft.com/office/drawing/2014/main" id="{B5392755-5865-F9B0-8A6B-497FC1FEFB7F}"/>
              </a:ext>
            </a:extLst>
          </p:cNvPr>
          <p:cNvSpPr>
            <a:spLocks noGrp="1"/>
          </p:cNvSpPr>
          <p:nvPr/>
        </p:nvSpPr>
        <p:spPr>
          <a:xfrm>
            <a:off x="0" y="824999"/>
            <a:ext cx="1041400" cy="4012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직사각형 24">
            <a:extLst>
              <a:ext uri="{FF2B5EF4-FFF2-40B4-BE49-F238E27FC236}">
                <a16:creationId xmlns:a16="http://schemas.microsoft.com/office/drawing/2014/main" id="{9300C823-004B-CBFA-D2AC-54CAF748651A}"/>
              </a:ext>
            </a:extLst>
          </p:cNvPr>
          <p:cNvSpPr>
            <a:spLocks noGrp="1"/>
          </p:cNvSpPr>
          <p:nvPr/>
        </p:nvSpPr>
        <p:spPr>
          <a:xfrm>
            <a:off x="0" y="56308"/>
            <a:ext cx="12192000" cy="595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직사각형 50">
            <a:extLst>
              <a:ext uri="{FF2B5EF4-FFF2-40B4-BE49-F238E27FC236}">
                <a16:creationId xmlns:a16="http://schemas.microsoft.com/office/drawing/2014/main" id="{3A7B5860-8D32-C866-0A67-DA9795350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선 연결선 15">
            <a:extLst>
              <a:ext uri="{FF2B5EF4-FFF2-40B4-BE49-F238E27FC236}">
                <a16:creationId xmlns:a16="http://schemas.microsoft.com/office/drawing/2014/main" id="{95C1A325-505D-4B67-8F4F-385E5E9505B2}"/>
              </a:ext>
            </a:extLst>
          </p:cNvPr>
          <p:cNvSpPr>
            <a:spLocks noGrp="1"/>
          </p:cNvSpPr>
          <p:nvPr/>
        </p:nvSpPr>
        <p:spPr>
          <a:xfrm>
            <a:off x="0" y="1229505"/>
            <a:ext cx="4204447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6" name="직사각형 16">
            <a:extLst>
              <a:ext uri="{FF2B5EF4-FFF2-40B4-BE49-F238E27FC236}">
                <a16:creationId xmlns:a16="http://schemas.microsoft.com/office/drawing/2014/main" id="{BB03FEB3-BCA6-E72B-25F6-6F59200B89FF}"/>
              </a:ext>
            </a:extLst>
          </p:cNvPr>
          <p:cNvSpPr>
            <a:spLocks noGrp="1"/>
          </p:cNvSpPr>
          <p:nvPr/>
        </p:nvSpPr>
        <p:spPr>
          <a:xfrm>
            <a:off x="762759" y="1601182"/>
            <a:ext cx="4931893" cy="4891685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" name="평가 설계 캡션">
            <a:extLst>
              <a:ext uri="{FF2B5EF4-FFF2-40B4-BE49-F238E27FC236}">
                <a16:creationId xmlns:a16="http://schemas.microsoft.com/office/drawing/2014/main" id="{AB3D07A3-794F-4C9B-A90F-7CA1E52F2BAB}"/>
              </a:ext>
            </a:extLst>
          </p:cNvPr>
          <p:cNvSpPr>
            <a:spLocks noGrp="1"/>
          </p:cNvSpPr>
          <p:nvPr/>
        </p:nvSpPr>
        <p:spPr>
          <a:xfrm>
            <a:off x="6143625" y="1704975"/>
            <a:ext cx="541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21개 케이스 × 5개 실험안 × 5회 반복</a:t>
            </a:r>
          </a:p>
        </p:txBody>
      </p:sp>
      <p:pic>
        <p:nvPicPr>
          <p:cNvPr id="8" name=""/>
          <p:cNvPicPr>
            <a:picLocks noChangeAspect="1"/>
          </p:cNvPicPr>
          <p:nvPr/>
        </p:nvPicPr>
        <p:blipFill>
          <a:blip r:embed="rIdV4_R4193b3c3a637480d"/>
          <a:stretch/>
        </p:blipFill>
        <p:spPr>
          <a:xfrm>
            <a:off x="6172200" y="2187258"/>
            <a:ext cx="5334000" cy="1864360"/>
          </a:xfrm>
          <a:prstGeom prst="rect">
            <a:avLst/>
          </a:prstGeom>
        </p:spPr>
      </p:pic>
      <p:sp>
        <p:nvSpPr>
          <p:cNvPr id="9" name="평가 결과 캡션">
            <a:extLst>
              <a:ext uri="{FF2B5EF4-FFF2-40B4-BE49-F238E27FC236}">
                <a16:creationId xmlns:a16="http://schemas.microsoft.com/office/drawing/2014/main" id="{DAD9C09C-02C6-40A7-8EDD-399099819307}"/>
              </a:ext>
            </a:extLst>
          </p:cNvPr>
          <p:cNvSpPr>
            <a:spLocks noGrp="1"/>
          </p:cNvSpPr>
          <p:nvPr/>
        </p:nvSpPr>
        <p:spPr>
          <a:xfrm>
            <a:off x="6143625" y="4381500"/>
            <a:ext cx="541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내용 품질·실행 오류·응답시간을 함께 비교</a:t>
            </a:r>
          </a:p>
        </p:txBody>
      </p:sp>
      <p:pic>
        <p:nvPicPr>
          <p:cNvPr id="10" name=""/>
          <p:cNvPicPr>
            <a:picLocks noChangeAspect="1"/>
          </p:cNvPicPr>
          <p:nvPr/>
        </p:nvPicPr>
        <p:blipFill>
          <a:blip r:embed="rIdV4_R04fa96135d514c3d"/>
          <a:stretch/>
        </p:blipFill>
        <p:spPr>
          <a:xfrm>
            <a:off x="6115050" y="4749595"/>
            <a:ext cx="5438775" cy="1054509"/>
          </a:xfrm>
          <a:prstGeom prst="rect">
            <a:avLst/>
          </a:prstGeom>
        </p:spPr>
      </p:pic>
      <p:sp>
        <p:nvSpPr>
          <p:cNvPr id="11" name="고도화 출처">
            <a:extLst>
              <a:ext uri="{FF2B5EF4-FFF2-40B4-BE49-F238E27FC236}">
                <a16:creationId xmlns:a16="http://schemas.microsoft.com/office/drawing/2014/main" id="{70897094-DF57-4659-8068-04F0282BBB13}"/>
              </a:ext>
            </a:extLst>
          </p:cNvPr>
          <p:cNvSpPr>
            <a:spLocks noGrp="1"/>
          </p:cNvSpPr>
          <p:nvPr/>
        </p:nvSpPr>
        <p:spPr>
          <a:xfrm>
            <a:off x="6143625" y="6200775"/>
            <a:ext cx="541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975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모델 실험 분석 보고서 발췌 · 오프라인 평가 결과</a:t>
            </a:r>
          </a:p>
        </p:txBody>
      </p:sp>
      <p:sp>
        <p:nvSpPr>
          <p:cNvPr id="12" name="I:header">
            <a:extLst>
              <a:ext uri="{FF2B5EF4-FFF2-40B4-BE49-F238E27FC236}">
                <a16:creationId xmlns:a16="http://schemas.microsoft.com/office/drawing/2014/main" id="{C329DF16-6D68-4B4F-B4B6-39E8C81ACBCD}"/>
              </a:ext>
            </a:extLst>
          </p:cNvPr>
          <p:cNvSpPr>
            <a:spLocks noGrp="1"/>
          </p:cNvSpPr>
          <p:nvPr/>
        </p:nvSpPr>
        <p:spPr>
          <a:xfrm>
            <a:off x="190500" y="2000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카카오 / AI 서비스 기획</a:t>
            </a:r>
          </a:p>
        </p:txBody>
      </p:sp>
      <p:sp>
        <p:nvSpPr>
          <p:cNvPr id="13" name="I:category">
            <a:extLst>
              <a:ext uri="{FF2B5EF4-FFF2-40B4-BE49-F238E27FC236}">
                <a16:creationId xmlns:a16="http://schemas.microsoft.com/office/drawing/2014/main" id="{A9D960F0-BA35-4E12-B4A5-015F86FE3B53}"/>
              </a:ext>
            </a:extLst>
          </p:cNvPr>
          <p:cNvSpPr>
            <a:spLocks noGrp="1"/>
          </p:cNvSpPr>
          <p:nvPr/>
        </p:nvSpPr>
        <p:spPr>
          <a:xfrm>
            <a:off x="0" y="923925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14" name="I:project">
            <a:extLst>
              <a:ext uri="{FF2B5EF4-FFF2-40B4-BE49-F238E27FC236}">
                <a16:creationId xmlns:a16="http://schemas.microsoft.com/office/drawing/2014/main" id="{4E0CB929-573D-4401-B34E-24073AC179A3}"/>
              </a:ext>
            </a:extLst>
          </p:cNvPr>
          <p:cNvSpPr>
            <a:spLocks noGrp="1"/>
          </p:cNvSpPr>
          <p:nvPr/>
        </p:nvSpPr>
        <p:spPr>
          <a:xfrm>
            <a:off x="1171575" y="9144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사용자 피드백과 모델 평가 기반 대화연동 고도화</a:t>
            </a:r>
          </a:p>
        </p:txBody>
      </p:sp>
      <p:sp>
        <p:nvSpPr>
          <p:cNvPr id="15" name="I:page">
            <a:extLst>
              <a:ext uri="{FF2B5EF4-FFF2-40B4-BE49-F238E27FC236}">
                <a16:creationId xmlns:a16="http://schemas.microsoft.com/office/drawing/2014/main" id="{0E88A3C4-A1BF-491A-BC1A-2FE2C2390313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8</a:t>
            </a:r>
          </a:p>
        </p:txBody>
      </p:sp>
      <p:sp>
        <p:nvSpPr>
          <p:cNvPr id="16" name="I:section 0">
            <a:extLst>
              <a:ext uri="{FF2B5EF4-FFF2-40B4-BE49-F238E27FC236}">
                <a16:creationId xmlns:a16="http://schemas.microsoft.com/office/drawing/2014/main" id="{72CE30F2-CC25-4FCF-A896-14CDE8095E69}"/>
              </a:ext>
            </a:extLst>
          </p:cNvPr>
          <p:cNvSpPr>
            <a:spLocks noGrp="1"/>
          </p:cNvSpPr>
          <p:nvPr/>
        </p:nvSpPr>
        <p:spPr>
          <a:xfrm>
            <a:off x="1000125" y="179070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문제 의식 및 목표</a:t>
            </a:r>
          </a:p>
        </p:txBody>
      </p:sp>
      <p:sp>
        <p:nvSpPr>
          <p:cNvPr id="17" name="I:body 0">
            <a:extLst>
              <a:ext uri="{FF2B5EF4-FFF2-40B4-BE49-F238E27FC236}">
                <a16:creationId xmlns:a16="http://schemas.microsoft.com/office/drawing/2014/main" id="{F5A54AA8-C834-4181-B273-CEFBBBB4CF83}"/>
              </a:ext>
            </a:extLst>
          </p:cNvPr>
          <p:cNvSpPr>
            <a:spLocks noGrp="1"/>
          </p:cNvSpPr>
          <p:nvPr/>
        </p:nvSpPr>
        <p:spPr>
          <a:xfrm>
            <a:off x="1000125" y="2105025"/>
            <a:ext cx="44577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긴 대화의 정보 누락·주체 오연결 문제 확인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내용 정확도와 실행 안정성·대기시간의 동시 고려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실패 유형별 개선 기준과 검증 체계 수립</a:t>
            </a:r>
          </a:p>
        </p:txBody>
      </p:sp>
      <p:sp>
        <p:nvSpPr>
          <p:cNvPr id="18" name="I:section 1">
            <a:extLst>
              <a:ext uri="{FF2B5EF4-FFF2-40B4-BE49-F238E27FC236}">
                <a16:creationId xmlns:a16="http://schemas.microsoft.com/office/drawing/2014/main" id="{B0AB74EA-2D9C-4308-B147-289AF298E5C4}"/>
              </a:ext>
            </a:extLst>
          </p:cNvPr>
          <p:cNvSpPr>
            <a:spLocks noGrp="1"/>
          </p:cNvSpPr>
          <p:nvPr/>
        </p:nvSpPr>
        <p:spPr>
          <a:xfrm>
            <a:off x="1000125" y="286702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주요 업무</a:t>
            </a:r>
          </a:p>
        </p:txBody>
      </p:sp>
      <p:sp>
        <p:nvSpPr>
          <p:cNvPr id="19" name="I:body 1">
            <a:extLst>
              <a:ext uri="{FF2B5EF4-FFF2-40B4-BE49-F238E27FC236}">
                <a16:creationId xmlns:a16="http://schemas.microsoft.com/office/drawing/2014/main" id="{86085F8B-A6B8-4F6A-9FAC-656C4764BB33}"/>
              </a:ext>
            </a:extLst>
          </p:cNvPr>
          <p:cNvSpPr>
            <a:spLocks noGrp="1"/>
          </p:cNvSpPr>
          <p:nvPr/>
        </p:nvSpPr>
        <p:spPr>
          <a:xfrm>
            <a:off x="1000125" y="3181350"/>
            <a:ext cx="4457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응답 5,503건과 수집 피드백 350건 분석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정보 탐색·추출·요약 21개 평가 케이스 구성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5개 모델·프롬프트 실험안을 각 5회 반복 평가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내용 점수·시스템 오류·응답시간을 분리해 비교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병렬 분석·중복 제거·실패 구간 재시도 정책 기획</a:t>
            </a:r>
          </a:p>
        </p:txBody>
      </p:sp>
      <p:sp>
        <p:nvSpPr>
          <p:cNvPr id="20" name="I:section 2">
            <a:extLst>
              <a:ext uri="{FF2B5EF4-FFF2-40B4-BE49-F238E27FC236}">
                <a16:creationId xmlns:a16="http://schemas.microsoft.com/office/drawing/2014/main" id="{1044DEA1-2628-4D8B-89C5-A31FBD143518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결과/성과</a:t>
            </a:r>
          </a:p>
        </p:txBody>
      </p:sp>
      <p:sp>
        <p:nvSpPr>
          <p:cNvPr id="21" name="I:body 2">
            <a:extLst>
              <a:ext uri="{FF2B5EF4-FFF2-40B4-BE49-F238E27FC236}">
                <a16:creationId xmlns:a16="http://schemas.microsoft.com/office/drawing/2014/main" id="{BF791E8A-2405-4EE9-9DA4-4EA6086D446B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44577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525회</a:t>
            </a: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 비교 평가로 후보별 품질·속도 차이 확인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품질·속도를 고려한 V3(CoT) 모델 후보 제안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정보 누락·주체 오연결 등 공통 실패 유형 도출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평가 결과를 바탕으로 고도화 우선순위 구체화</a:t>
            </a:r>
          </a:p>
        </p:txBody>
      </p:sp>
      <p:sp>
        <p:nvSpPr>
          <p:cNvPr id="22" name="I:section 3">
            <a:extLst>
              <a:ext uri="{FF2B5EF4-FFF2-40B4-BE49-F238E27FC236}">
                <a16:creationId xmlns:a16="http://schemas.microsoft.com/office/drawing/2014/main" id="{D67298BD-A7BC-4E28-8BA1-9C1BC13F6140}"/>
              </a:ext>
            </a:extLst>
          </p:cNvPr>
          <p:cNvSpPr>
            <a:spLocks noGrp="1"/>
          </p:cNvSpPr>
          <p:nvPr/>
        </p:nvSpPr>
        <p:spPr>
          <a:xfrm>
            <a:off x="1000125" y="5600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담당 역할</a:t>
            </a:r>
          </a:p>
        </p:txBody>
      </p:sp>
      <p:sp>
        <p:nvSpPr>
          <p:cNvPr id="23" name="I:body 3">
            <a:extLst>
              <a:ext uri="{FF2B5EF4-FFF2-40B4-BE49-F238E27FC236}">
                <a16:creationId xmlns:a16="http://schemas.microsoft.com/office/drawing/2014/main" id="{30E59CDF-1AD2-4348-B314-CA155519A1C2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3600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사용자 반응 분석·평가 설계·고도화 기획</a:t>
            </a:r>
          </a:p>
        </p:txBody>
      </p:sp>
      <p:sp>
        <p:nvSpPr>
          <p:cNvPr id="9901" name="Role contribution label">
            <a:extLst>
              <a:ext uri="{FF2B5EF4-FFF2-40B4-BE49-F238E27FC236}">
                <a16:creationId xmlns:a16="http://schemas.microsoft.com/office/drawing/2014/main" id="{794A3A6D-CC5C-4BD8-A1AF-1FC0445AA5E1}"/>
              </a:ext>
            </a:extLst>
          </p:cNvPr>
          <p:cNvSpPr>
            <a:spLocks noGrp="1"/>
          </p:cNvSpPr>
          <p:nvPr/>
        </p:nvSpPr>
        <p:spPr>
          <a:xfrm>
            <a:off x="1000125" y="58769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기획 기여도</a:t>
            </a:r>
          </a:p>
        </p:txBody>
      </p:sp>
      <p:sp>
        <p:nvSpPr>
          <p:cNvPr id="9902" name="Role contribution value">
            <a:extLst>
              <a:ext uri="{FF2B5EF4-FFF2-40B4-BE49-F238E27FC236}">
                <a16:creationId xmlns:a16="http://schemas.microsoft.com/office/drawing/2014/main" id="{9130A182-61AC-4274-A63C-089D625B03D2}"/>
              </a:ext>
            </a:extLst>
          </p:cNvPr>
          <p:cNvSpPr>
            <a:spLocks noGrp="1"/>
          </p:cNvSpPr>
          <p:nvPr/>
        </p:nvSpPr>
        <p:spPr>
          <a:xfrm>
            <a:off x="1905000" y="5876925"/>
            <a:ext cx="3600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100%</a:t>
            </a:r>
          </a:p>
        </p:txBody>
      </p:sp>
      <p:sp>
        <p:nvSpPr>
          <p:cNvPr id="9903" name="Team label">
            <a:extLst>
              <a:ext uri="{FF2B5EF4-FFF2-40B4-BE49-F238E27FC236}">
                <a16:creationId xmlns:a16="http://schemas.microsoft.com/office/drawing/2014/main" id="{3D5A4445-C7FC-402F-AD56-AF38DC02D4ED}"/>
              </a:ext>
            </a:extLst>
          </p:cNvPr>
          <p:cNvSpPr>
            <a:spLocks noGrp="1"/>
          </p:cNvSpPr>
          <p:nvPr/>
        </p:nvSpPr>
        <p:spPr>
          <a:xfrm>
            <a:off x="1000125" y="61531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협업 구성</a:t>
            </a:r>
          </a:p>
        </p:txBody>
      </p:sp>
      <p:sp>
        <p:nvSpPr>
          <p:cNvPr id="9904" name="Team value">
            <a:extLst>
              <a:ext uri="{FF2B5EF4-FFF2-40B4-BE49-F238E27FC236}">
                <a16:creationId xmlns:a16="http://schemas.microsoft.com/office/drawing/2014/main" id="{BF1AE6A8-A3F5-4C76-912C-B98DD7D81EF0}"/>
              </a:ext>
            </a:extLst>
          </p:cNvPr>
          <p:cNvSpPr>
            <a:spLocks noGrp="1"/>
          </p:cNvSpPr>
          <p:nvPr/>
        </p:nvSpPr>
        <p:spPr>
          <a:xfrm>
            <a:off x="1905000" y="61531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rPr>
              <a:t>모델·개발</a:t>
            </a:r>
          </a:p>
        </p:txBody>
      </p:sp>
    </p:spTree>
    <p:extLst>
      <p:ext uri="{BB962C8B-B14F-4D97-AF65-F5344CB8AC3E}">
        <p14:creationId xmlns:p14="http://schemas.microsoft.com/office/powerpoint/2010/main" val="23972996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직사각형 27">
            <a:extLst>
              <a:ext uri="{FF2B5EF4-FFF2-40B4-BE49-F238E27FC236}">
                <a16:creationId xmlns:a16="http://schemas.microsoft.com/office/drawing/2014/main" id="{B5392755-5865-F9B0-8A6B-497FC1FEFB7F}"/>
              </a:ext>
            </a:extLst>
          </p:cNvPr>
          <p:cNvSpPr>
            <a:spLocks noGrp="1"/>
          </p:cNvSpPr>
          <p:nvPr/>
        </p:nvSpPr>
        <p:spPr>
          <a:xfrm>
            <a:off x="0" y="824999"/>
            <a:ext cx="1041400" cy="4012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직사각형 24">
            <a:extLst>
              <a:ext uri="{FF2B5EF4-FFF2-40B4-BE49-F238E27FC236}">
                <a16:creationId xmlns:a16="http://schemas.microsoft.com/office/drawing/2014/main" id="{9300C823-004B-CBFA-D2AC-54CAF748651A}"/>
              </a:ext>
            </a:extLst>
          </p:cNvPr>
          <p:cNvSpPr>
            <a:spLocks noGrp="1"/>
          </p:cNvSpPr>
          <p:nvPr/>
        </p:nvSpPr>
        <p:spPr>
          <a:xfrm>
            <a:off x="0" y="56308"/>
            <a:ext cx="12192000" cy="595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직사각형 50">
            <a:extLst>
              <a:ext uri="{FF2B5EF4-FFF2-40B4-BE49-F238E27FC236}">
                <a16:creationId xmlns:a16="http://schemas.microsoft.com/office/drawing/2014/main" id="{3A7B5860-8D32-C866-0A67-DA9795350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선 연결선 15">
            <a:extLst>
              <a:ext uri="{FF2B5EF4-FFF2-40B4-BE49-F238E27FC236}">
                <a16:creationId xmlns:a16="http://schemas.microsoft.com/office/drawing/2014/main" id="{95C1A325-505D-4B67-8F4F-385E5E9505B2}"/>
              </a:ext>
            </a:extLst>
          </p:cNvPr>
          <p:cNvSpPr>
            <a:spLocks noGrp="1"/>
          </p:cNvSpPr>
          <p:nvPr/>
        </p:nvSpPr>
        <p:spPr>
          <a:xfrm>
            <a:off x="0" y="1229505"/>
            <a:ext cx="4204447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6" name="직사각형 16">
            <a:extLst>
              <a:ext uri="{FF2B5EF4-FFF2-40B4-BE49-F238E27FC236}">
                <a16:creationId xmlns:a16="http://schemas.microsoft.com/office/drawing/2014/main" id="{BB03FEB3-BCA6-E72B-25F6-6F59200B89FF}"/>
              </a:ext>
            </a:extLst>
          </p:cNvPr>
          <p:cNvSpPr>
            <a:spLocks noGrp="1"/>
          </p:cNvSpPr>
          <p:nvPr/>
        </p:nvSpPr>
        <p:spPr>
          <a:xfrm>
            <a:off x="762759" y="1601182"/>
            <a:ext cx="4931893" cy="4891685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" name="메모리 화면 설명">
            <a:extLst>
              <a:ext uri="{FF2B5EF4-FFF2-40B4-BE49-F238E27FC236}">
                <a16:creationId xmlns:a16="http://schemas.microsoft.com/office/drawing/2014/main" id="{3778A616-2F5C-484F-83E5-FF9FAD817B51}"/>
              </a:ext>
            </a:extLst>
          </p:cNvPr>
          <p:cNvSpPr>
            <a:spLocks noGrp="1"/>
          </p:cNvSpPr>
          <p:nvPr/>
        </p:nvSpPr>
        <p:spPr>
          <a:xfrm>
            <a:off x="6143625" y="1704975"/>
            <a:ext cx="541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기억을 확인하고 직접 관리하는 메모리 경험</a:t>
            </a:r>
          </a:p>
        </p:txBody>
      </p:sp>
      <p:pic>
        <p:nvPicPr>
          <p:cNvPr id="8" name=""/>
          <p:cNvPicPr>
            <a:picLocks noChangeAspect="1"/>
          </p:cNvPicPr>
          <p:nvPr/>
        </p:nvPicPr>
        <p:blipFill>
          <a:blip r:embed="rIdV4_R404853f10d1c4fe1"/>
          <a:stretch/>
        </p:blipFill>
        <p:spPr>
          <a:xfrm>
            <a:off x="6134100" y="2125049"/>
            <a:ext cx="1657350" cy="3579452"/>
          </a:xfrm>
          <a:prstGeom prst="rect">
            <a:avLst/>
          </a:prstGeom>
        </p:spPr>
      </p:pic>
      <p:pic>
        <p:nvPicPr>
          <p:cNvPr id="9" name=""/>
          <p:cNvPicPr>
            <a:picLocks noChangeAspect="1"/>
          </p:cNvPicPr>
          <p:nvPr/>
        </p:nvPicPr>
        <p:blipFill>
          <a:blip r:embed="rIdV4_Rc24baf96bf594cad"/>
          <a:stretch/>
        </p:blipFill>
        <p:spPr>
          <a:xfrm>
            <a:off x="8003198" y="2124075"/>
            <a:ext cx="1652954" cy="3581400"/>
          </a:xfrm>
          <a:prstGeom prst="rect">
            <a:avLst/>
          </a:prstGeom>
        </p:spPr>
      </p:pic>
      <p:pic>
        <p:nvPicPr>
          <p:cNvPr id="10" name=""/>
          <p:cNvPicPr>
            <a:picLocks noChangeAspect="1"/>
          </p:cNvPicPr>
          <p:nvPr/>
        </p:nvPicPr>
        <p:blipFill>
          <a:blip r:embed="rIdV4_Ra4967e85b148446e"/>
          <a:stretch/>
        </p:blipFill>
        <p:spPr>
          <a:xfrm>
            <a:off x="9867900" y="2130749"/>
            <a:ext cx="1657350" cy="3568053"/>
          </a:xfrm>
          <a:prstGeom prst="rect">
            <a:avLst/>
          </a:prstGeom>
        </p:spPr>
      </p:pic>
      <p:sp>
        <p:nvSpPr>
          <p:cNvPr id="11" name="메모리 단계0">
            <a:extLst>
              <a:ext uri="{FF2B5EF4-FFF2-40B4-BE49-F238E27FC236}">
                <a16:creationId xmlns:a16="http://schemas.microsoft.com/office/drawing/2014/main" id="{B5982914-E009-482F-84A6-A449BACE9C39}"/>
              </a:ext>
            </a:extLst>
          </p:cNvPr>
          <p:cNvSpPr>
            <a:spLocks noGrp="1"/>
          </p:cNvSpPr>
          <p:nvPr/>
        </p:nvSpPr>
        <p:spPr>
          <a:xfrm>
            <a:off x="6076950" y="5857875"/>
            <a:ext cx="1800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메모리 사용·설정</a:t>
            </a:r>
          </a:p>
        </p:txBody>
      </p:sp>
      <p:sp>
        <p:nvSpPr>
          <p:cNvPr id="12" name="메모리 단계1">
            <a:extLst>
              <a:ext uri="{FF2B5EF4-FFF2-40B4-BE49-F238E27FC236}">
                <a16:creationId xmlns:a16="http://schemas.microsoft.com/office/drawing/2014/main" id="{FAA8E5C0-0751-41D2-9CB3-60C2F5BD198C}"/>
              </a:ext>
            </a:extLst>
          </p:cNvPr>
          <p:cNvSpPr>
            <a:spLocks noGrp="1"/>
          </p:cNvSpPr>
          <p:nvPr/>
        </p:nvSpPr>
        <p:spPr>
          <a:xfrm>
            <a:off x="7953375" y="5857875"/>
            <a:ext cx="1800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기억한 정보 요약</a:t>
            </a:r>
          </a:p>
        </p:txBody>
      </p:sp>
      <p:sp>
        <p:nvSpPr>
          <p:cNvPr id="13" name="메모리 단계2">
            <a:extLst>
              <a:ext uri="{FF2B5EF4-FFF2-40B4-BE49-F238E27FC236}">
                <a16:creationId xmlns:a16="http://schemas.microsoft.com/office/drawing/2014/main" id="{B0B42563-062F-4BBE-AA55-AC3338D6AEFD}"/>
              </a:ext>
            </a:extLst>
          </p:cNvPr>
          <p:cNvSpPr>
            <a:spLocks noGrp="1"/>
          </p:cNvSpPr>
          <p:nvPr/>
        </p:nvSpPr>
        <p:spPr>
          <a:xfrm>
            <a:off x="9829800" y="5857875"/>
            <a:ext cx="1800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삭제 확인</a:t>
            </a:r>
          </a:p>
        </p:txBody>
      </p:sp>
      <p:sp>
        <p:nvSpPr>
          <p:cNvPr id="14" name="메모리 출처">
            <a:extLst>
              <a:ext uri="{FF2B5EF4-FFF2-40B4-BE49-F238E27FC236}">
                <a16:creationId xmlns:a16="http://schemas.microsoft.com/office/drawing/2014/main" id="{4713D8CB-55A2-47EE-BDBC-7A6F5F1EA74E}"/>
              </a:ext>
            </a:extLst>
          </p:cNvPr>
          <p:cNvSpPr>
            <a:spLocks noGrp="1"/>
          </p:cNvSpPr>
          <p:nvPr/>
        </p:nvSpPr>
        <p:spPr>
          <a:xfrm>
            <a:off x="6143625" y="6238875"/>
            <a:ext cx="54102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75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975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메모리 MVP 정책서의 기획 시안</a:t>
            </a:r>
          </a:p>
        </p:txBody>
      </p:sp>
      <p:sp>
        <p:nvSpPr>
          <p:cNvPr id="15" name="I:header">
            <a:extLst>
              <a:ext uri="{FF2B5EF4-FFF2-40B4-BE49-F238E27FC236}">
                <a16:creationId xmlns:a16="http://schemas.microsoft.com/office/drawing/2014/main" id="{F4D2329E-5847-481F-A17B-3A1AA5CEAB33}"/>
              </a:ext>
            </a:extLst>
          </p:cNvPr>
          <p:cNvSpPr>
            <a:spLocks noGrp="1"/>
          </p:cNvSpPr>
          <p:nvPr/>
        </p:nvSpPr>
        <p:spPr>
          <a:xfrm>
            <a:off x="190500" y="2000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카카오 / AI 서비스 기획</a:t>
            </a:r>
          </a:p>
        </p:txBody>
      </p:sp>
      <p:sp>
        <p:nvSpPr>
          <p:cNvPr id="16" name="I:category">
            <a:extLst>
              <a:ext uri="{FF2B5EF4-FFF2-40B4-BE49-F238E27FC236}">
                <a16:creationId xmlns:a16="http://schemas.microsoft.com/office/drawing/2014/main" id="{D6AFD1C3-9F01-4F36-8614-13E92251E6FD}"/>
              </a:ext>
            </a:extLst>
          </p:cNvPr>
          <p:cNvSpPr>
            <a:spLocks noGrp="1"/>
          </p:cNvSpPr>
          <p:nvPr/>
        </p:nvSpPr>
        <p:spPr>
          <a:xfrm>
            <a:off x="0" y="923925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17" name="I:project">
            <a:extLst>
              <a:ext uri="{FF2B5EF4-FFF2-40B4-BE49-F238E27FC236}">
                <a16:creationId xmlns:a16="http://schemas.microsoft.com/office/drawing/2014/main" id="{25F4E937-C28A-4BC1-A9C8-78D03EC6FBDA}"/>
              </a:ext>
            </a:extLst>
          </p:cNvPr>
          <p:cNvSpPr>
            <a:spLocks noGrp="1"/>
          </p:cNvSpPr>
          <p:nvPr/>
        </p:nvSpPr>
        <p:spPr>
          <a:xfrm>
            <a:off x="1171575" y="9144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개인 맥락을 지속적으로 활용하는 메모리 MVP 기획</a:t>
            </a:r>
          </a:p>
        </p:txBody>
      </p:sp>
      <p:sp>
        <p:nvSpPr>
          <p:cNvPr id="18" name="I:page">
            <a:extLst>
              <a:ext uri="{FF2B5EF4-FFF2-40B4-BE49-F238E27FC236}">
                <a16:creationId xmlns:a16="http://schemas.microsoft.com/office/drawing/2014/main" id="{0312B723-2B01-41BF-823F-16A154D0008F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9</a:t>
            </a:r>
          </a:p>
        </p:txBody>
      </p:sp>
      <p:sp>
        <p:nvSpPr>
          <p:cNvPr id="19" name="I:section 0">
            <a:extLst>
              <a:ext uri="{FF2B5EF4-FFF2-40B4-BE49-F238E27FC236}">
                <a16:creationId xmlns:a16="http://schemas.microsoft.com/office/drawing/2014/main" id="{5CAF58C8-FB07-44FE-83EC-6D3EB23F9EF9}"/>
              </a:ext>
            </a:extLst>
          </p:cNvPr>
          <p:cNvSpPr>
            <a:spLocks noGrp="1"/>
          </p:cNvSpPr>
          <p:nvPr/>
        </p:nvSpPr>
        <p:spPr>
          <a:xfrm>
            <a:off x="1000125" y="179070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문제 의식 및 목표</a:t>
            </a:r>
          </a:p>
        </p:txBody>
      </p:sp>
      <p:sp>
        <p:nvSpPr>
          <p:cNvPr id="20" name="I:body 0">
            <a:extLst>
              <a:ext uri="{FF2B5EF4-FFF2-40B4-BE49-F238E27FC236}">
                <a16:creationId xmlns:a16="http://schemas.microsoft.com/office/drawing/2014/main" id="{970DFD50-D193-461D-9285-ABEC00611C31}"/>
              </a:ext>
            </a:extLst>
          </p:cNvPr>
          <p:cNvSpPr>
            <a:spLocks noGrp="1"/>
          </p:cNvSpPr>
          <p:nvPr/>
        </p:nvSpPr>
        <p:spPr>
          <a:xfrm>
            <a:off x="1000125" y="2105025"/>
            <a:ext cx="44577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동일한 배경·선호의 반복 설명에 따른 사용 부담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이전 대화 정보를 다음 응답에 활용하는 개인화 기획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기억 생성·활용·삭제에 대한 사용자 제어권 확보</a:t>
            </a:r>
          </a:p>
        </p:txBody>
      </p:sp>
      <p:sp>
        <p:nvSpPr>
          <p:cNvPr id="21" name="I:section 1">
            <a:extLst>
              <a:ext uri="{FF2B5EF4-FFF2-40B4-BE49-F238E27FC236}">
                <a16:creationId xmlns:a16="http://schemas.microsoft.com/office/drawing/2014/main" id="{66C1FF93-8293-4992-BCD4-ECDCF325EA7B}"/>
              </a:ext>
            </a:extLst>
          </p:cNvPr>
          <p:cNvSpPr>
            <a:spLocks noGrp="1"/>
          </p:cNvSpPr>
          <p:nvPr/>
        </p:nvSpPr>
        <p:spPr>
          <a:xfrm>
            <a:off x="1000125" y="286702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주요 업무</a:t>
            </a:r>
          </a:p>
        </p:txBody>
      </p:sp>
      <p:sp>
        <p:nvSpPr>
          <p:cNvPr id="22" name="I:body 1">
            <a:extLst>
              <a:ext uri="{FF2B5EF4-FFF2-40B4-BE49-F238E27FC236}">
                <a16:creationId xmlns:a16="http://schemas.microsoft.com/office/drawing/2014/main" id="{08191D3E-B2ED-4ED9-A5E3-C03AB442350A}"/>
              </a:ext>
            </a:extLst>
          </p:cNvPr>
          <p:cNvSpPr>
            <a:spLocks noGrp="1"/>
          </p:cNvSpPr>
          <p:nvPr/>
        </p:nvSpPr>
        <p:spPr>
          <a:xfrm>
            <a:off x="1000125" y="3181350"/>
            <a:ext cx="4457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자동 기억·직접 기억 요청의 생성·갱신 기준 정의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기억 조회·수정·삭제를 대화와 설정 화면으로 연결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장기적으로 유용한 정보와 저장 제외 정보 구분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메모리 켜기·끄기와 삭제의 동작 차이 정리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삭제한 기억의 자동 재생성·재저장 방지 정책 수립</a:t>
            </a:r>
          </a:p>
        </p:txBody>
      </p:sp>
      <p:sp>
        <p:nvSpPr>
          <p:cNvPr id="23" name="I:section 2">
            <a:extLst>
              <a:ext uri="{FF2B5EF4-FFF2-40B4-BE49-F238E27FC236}">
                <a16:creationId xmlns:a16="http://schemas.microsoft.com/office/drawing/2014/main" id="{DC62FCA8-7273-436A-BDDC-25D49C29AF8E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결과/성과 · 기획 및 출시 준비</a:t>
            </a:r>
          </a:p>
        </p:txBody>
      </p:sp>
      <p:sp>
        <p:nvSpPr>
          <p:cNvPr id="24" name="I:body 2">
            <a:extLst>
              <a:ext uri="{FF2B5EF4-FFF2-40B4-BE49-F238E27FC236}">
                <a16:creationId xmlns:a16="http://schemas.microsoft.com/office/drawing/2014/main" id="{659C87F2-BA14-4C2D-90E4-7E4697626CD2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44577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메모리 MVP 기능 범위와 사용자 플로우 구체화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기억 생성·활용·삭제 정책 및 도구 명세 정리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기억 요약·설정·삭제의 화면별 동작 기준 마련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민감정보 분석 기반 저장 제외 필터링 기준 수립</a:t>
            </a:r>
          </a:p>
        </p:txBody>
      </p:sp>
      <p:sp>
        <p:nvSpPr>
          <p:cNvPr id="25" name="I:section 3">
            <a:extLst>
              <a:ext uri="{FF2B5EF4-FFF2-40B4-BE49-F238E27FC236}">
                <a16:creationId xmlns:a16="http://schemas.microsoft.com/office/drawing/2014/main" id="{5327EBB4-BFE8-4D56-97C7-43FE5FE51C97}"/>
              </a:ext>
            </a:extLst>
          </p:cNvPr>
          <p:cNvSpPr>
            <a:spLocks noGrp="1"/>
          </p:cNvSpPr>
          <p:nvPr/>
        </p:nvSpPr>
        <p:spPr>
          <a:xfrm>
            <a:off x="1000125" y="5600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담당 역할</a:t>
            </a:r>
          </a:p>
        </p:txBody>
      </p:sp>
      <p:sp>
        <p:nvSpPr>
          <p:cNvPr id="26" name="I:body 3">
            <a:extLst>
              <a:ext uri="{FF2B5EF4-FFF2-40B4-BE49-F238E27FC236}">
                <a16:creationId xmlns:a16="http://schemas.microsoft.com/office/drawing/2014/main" id="{E49D8709-C31C-4974-BAAF-077470732680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3600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메모리 MVP 서비스·UX·정책 기획</a:t>
            </a:r>
          </a:p>
        </p:txBody>
      </p:sp>
      <p:sp>
        <p:nvSpPr>
          <p:cNvPr id="9901" name="Role contribution label">
            <a:extLst>
              <a:ext uri="{FF2B5EF4-FFF2-40B4-BE49-F238E27FC236}">
                <a16:creationId xmlns:a16="http://schemas.microsoft.com/office/drawing/2014/main" id="{4590478E-C9B4-45E9-943C-4CE3612BBE7E}"/>
              </a:ext>
            </a:extLst>
          </p:cNvPr>
          <p:cNvSpPr>
            <a:spLocks noGrp="1"/>
          </p:cNvSpPr>
          <p:nvPr/>
        </p:nvSpPr>
        <p:spPr>
          <a:xfrm>
            <a:off x="1000125" y="58769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기획 기여도</a:t>
            </a:r>
          </a:p>
        </p:txBody>
      </p:sp>
      <p:sp>
        <p:nvSpPr>
          <p:cNvPr id="9902" name="Role contribution value">
            <a:extLst>
              <a:ext uri="{FF2B5EF4-FFF2-40B4-BE49-F238E27FC236}">
                <a16:creationId xmlns:a16="http://schemas.microsoft.com/office/drawing/2014/main" id="{72CAED40-DCE3-46DB-A7DC-AFAB4BD2F7E9}"/>
              </a:ext>
            </a:extLst>
          </p:cNvPr>
          <p:cNvSpPr>
            <a:spLocks noGrp="1"/>
          </p:cNvSpPr>
          <p:nvPr/>
        </p:nvSpPr>
        <p:spPr>
          <a:xfrm>
            <a:off x="1905000" y="5876925"/>
            <a:ext cx="3600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100%</a:t>
            </a:r>
          </a:p>
        </p:txBody>
      </p:sp>
      <p:sp>
        <p:nvSpPr>
          <p:cNvPr id="9903" name="Team label">
            <a:extLst>
              <a:ext uri="{FF2B5EF4-FFF2-40B4-BE49-F238E27FC236}">
                <a16:creationId xmlns:a16="http://schemas.microsoft.com/office/drawing/2014/main" id="{3D837D07-460E-4B2D-9C9F-1E8B72AB4991}"/>
              </a:ext>
            </a:extLst>
          </p:cNvPr>
          <p:cNvSpPr>
            <a:spLocks noGrp="1"/>
          </p:cNvSpPr>
          <p:nvPr/>
        </p:nvSpPr>
        <p:spPr>
          <a:xfrm>
            <a:off x="1000125" y="61531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협업 구성</a:t>
            </a:r>
          </a:p>
        </p:txBody>
      </p:sp>
      <p:sp>
        <p:nvSpPr>
          <p:cNvPr id="9904" name="Team value">
            <a:extLst>
              <a:ext uri="{FF2B5EF4-FFF2-40B4-BE49-F238E27FC236}">
                <a16:creationId xmlns:a16="http://schemas.microsoft.com/office/drawing/2014/main" id="{F4773BC3-F436-4A55-836A-940ABCC9CF5A}"/>
              </a:ext>
            </a:extLst>
          </p:cNvPr>
          <p:cNvSpPr>
            <a:spLocks noGrp="1"/>
          </p:cNvSpPr>
          <p:nvPr/>
        </p:nvSpPr>
        <p:spPr>
          <a:xfrm>
            <a:off x="1905000" y="61531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rPr>
              <a:t>개발·모델·디자인</a:t>
            </a:r>
          </a:p>
        </p:txBody>
      </p:sp>
    </p:spTree>
    <p:extLst>
      <p:ext uri="{BB962C8B-B14F-4D97-AF65-F5344CB8AC3E}">
        <p14:creationId xmlns:p14="http://schemas.microsoft.com/office/powerpoint/2010/main" val="23972996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직사각형 27">
            <a:extLst>
              <a:ext uri="{FF2B5EF4-FFF2-40B4-BE49-F238E27FC236}">
                <a16:creationId xmlns:a16="http://schemas.microsoft.com/office/drawing/2014/main" id="{B5392755-5865-F9B0-8A6B-497FC1FEFB7F}"/>
              </a:ext>
            </a:extLst>
          </p:cNvPr>
          <p:cNvSpPr>
            <a:spLocks noGrp="1"/>
          </p:cNvSpPr>
          <p:nvPr/>
        </p:nvSpPr>
        <p:spPr>
          <a:xfrm>
            <a:off x="0" y="824999"/>
            <a:ext cx="1041400" cy="4012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직사각형 24">
            <a:extLst>
              <a:ext uri="{FF2B5EF4-FFF2-40B4-BE49-F238E27FC236}">
                <a16:creationId xmlns:a16="http://schemas.microsoft.com/office/drawing/2014/main" id="{9300C823-004B-CBFA-D2AC-54CAF748651A}"/>
              </a:ext>
            </a:extLst>
          </p:cNvPr>
          <p:cNvSpPr>
            <a:spLocks noGrp="1"/>
          </p:cNvSpPr>
          <p:nvPr/>
        </p:nvSpPr>
        <p:spPr>
          <a:xfrm>
            <a:off x="0" y="56308"/>
            <a:ext cx="12192000" cy="595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직사각형 50">
            <a:extLst>
              <a:ext uri="{FF2B5EF4-FFF2-40B4-BE49-F238E27FC236}">
                <a16:creationId xmlns:a16="http://schemas.microsoft.com/office/drawing/2014/main" id="{3A7B5860-8D32-C866-0A67-DA9795350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선 연결선 15">
            <a:extLst>
              <a:ext uri="{FF2B5EF4-FFF2-40B4-BE49-F238E27FC236}">
                <a16:creationId xmlns:a16="http://schemas.microsoft.com/office/drawing/2014/main" id="{95C1A325-505D-4B67-8F4F-385E5E9505B2}"/>
              </a:ext>
            </a:extLst>
          </p:cNvPr>
          <p:cNvSpPr>
            <a:spLocks noGrp="1"/>
          </p:cNvSpPr>
          <p:nvPr/>
        </p:nvSpPr>
        <p:spPr>
          <a:xfrm>
            <a:off x="0" y="1229505"/>
            <a:ext cx="4204447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6" name="직사각형 16">
            <a:extLst>
              <a:ext uri="{FF2B5EF4-FFF2-40B4-BE49-F238E27FC236}">
                <a16:creationId xmlns:a16="http://schemas.microsoft.com/office/drawing/2014/main" id="{BB03FEB3-BCA6-E72B-25F6-6F59200B89FF}"/>
              </a:ext>
            </a:extLst>
          </p:cNvPr>
          <p:cNvSpPr>
            <a:spLocks noGrp="1"/>
          </p:cNvSpPr>
          <p:nvPr/>
        </p:nvSpPr>
        <p:spPr>
          <a:xfrm>
            <a:off x="762759" y="1601182"/>
            <a:ext cx="4931893" cy="4891685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7" name="I:header">
            <a:extLst>
              <a:ext uri="{FF2B5EF4-FFF2-40B4-BE49-F238E27FC236}">
                <a16:creationId xmlns:a16="http://schemas.microsoft.com/office/drawing/2014/main" id="{C9B8A073-4C24-4FB5-AA0F-3C57A2018C84}"/>
              </a:ext>
            </a:extLst>
          </p:cNvPr>
          <p:cNvSpPr>
            <a:spLocks noGrp="1"/>
          </p:cNvSpPr>
          <p:nvPr/>
        </p:nvSpPr>
        <p:spPr>
          <a:xfrm>
            <a:off x="190500" y="2000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카카오 / AI 서비스 기획</a:t>
            </a:r>
          </a:p>
        </p:txBody>
      </p:sp>
      <p:sp>
        <p:nvSpPr>
          <p:cNvPr id="8" name="I:category">
            <a:extLst>
              <a:ext uri="{FF2B5EF4-FFF2-40B4-BE49-F238E27FC236}">
                <a16:creationId xmlns:a16="http://schemas.microsoft.com/office/drawing/2014/main" id="{E15B5B81-C645-4F8A-82D1-D5CBB52E5B29}"/>
              </a:ext>
            </a:extLst>
          </p:cNvPr>
          <p:cNvSpPr>
            <a:spLocks noGrp="1"/>
          </p:cNvSpPr>
          <p:nvPr/>
        </p:nvSpPr>
        <p:spPr>
          <a:xfrm>
            <a:off x="0" y="923925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9" name="I:project">
            <a:extLst>
              <a:ext uri="{FF2B5EF4-FFF2-40B4-BE49-F238E27FC236}">
                <a16:creationId xmlns:a16="http://schemas.microsoft.com/office/drawing/2014/main" id="{1FAE5845-DB44-4ECB-97A8-81221747B9D0}"/>
              </a:ext>
            </a:extLst>
          </p:cNvPr>
          <p:cNvSpPr>
            <a:spLocks noGrp="1"/>
          </p:cNvSpPr>
          <p:nvPr/>
        </p:nvSpPr>
        <p:spPr>
          <a:xfrm>
            <a:off x="1171575" y="9144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자발적 공유를 유도하는 대화연동 바이럴 콘텐츠 기획</a:t>
            </a:r>
          </a:p>
        </p:txBody>
      </p:sp>
      <p:sp>
        <p:nvSpPr>
          <p:cNvPr id="10" name="I:page">
            <a:extLst>
              <a:ext uri="{FF2B5EF4-FFF2-40B4-BE49-F238E27FC236}">
                <a16:creationId xmlns:a16="http://schemas.microsoft.com/office/drawing/2014/main" id="{E21531F2-95B9-487D-87D7-FDAE5C051DF0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10</a:t>
            </a:r>
          </a:p>
        </p:txBody>
      </p:sp>
      <p:sp>
        <p:nvSpPr>
          <p:cNvPr id="11" name="I:section 0">
            <a:extLst>
              <a:ext uri="{FF2B5EF4-FFF2-40B4-BE49-F238E27FC236}">
                <a16:creationId xmlns:a16="http://schemas.microsoft.com/office/drawing/2014/main" id="{826D68B3-ADD8-4502-A6AC-1522C00D9901}"/>
              </a:ext>
            </a:extLst>
          </p:cNvPr>
          <p:cNvSpPr>
            <a:spLocks noGrp="1"/>
          </p:cNvSpPr>
          <p:nvPr/>
        </p:nvSpPr>
        <p:spPr>
          <a:xfrm>
            <a:off x="1000125" y="179070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문제 의식 및 가설</a:t>
            </a:r>
          </a:p>
        </p:txBody>
      </p:sp>
      <p:sp>
        <p:nvSpPr>
          <p:cNvPr id="12" name="I:body 0">
            <a:extLst>
              <a:ext uri="{FF2B5EF4-FFF2-40B4-BE49-F238E27FC236}">
                <a16:creationId xmlns:a16="http://schemas.microsoft.com/office/drawing/2014/main" id="{78C84A62-F65A-4827-8883-A009D706A83F}"/>
              </a:ext>
            </a:extLst>
          </p:cNvPr>
          <p:cNvSpPr>
            <a:spLocks noGrp="1"/>
          </p:cNvSpPr>
          <p:nvPr/>
        </p:nvSpPr>
        <p:spPr>
          <a:xfrm>
            <a:off x="1000125" y="2105025"/>
            <a:ext cx="44577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개인·친구의 대화 특징을 활용한 공감 콘텐츠 기획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같은 톡방에서 결과를 비교·공유하는 사용 장면 정의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개인화된 분석 결과를 통한 자발적 공유 유도 가설</a:t>
            </a:r>
          </a:p>
        </p:txBody>
      </p:sp>
      <p:sp>
        <p:nvSpPr>
          <p:cNvPr id="13" name="I:section 1">
            <a:extLst>
              <a:ext uri="{FF2B5EF4-FFF2-40B4-BE49-F238E27FC236}">
                <a16:creationId xmlns:a16="http://schemas.microsoft.com/office/drawing/2014/main" id="{7D5235BA-A548-402E-9393-979F45FF4098}"/>
              </a:ext>
            </a:extLst>
          </p:cNvPr>
          <p:cNvSpPr>
            <a:spLocks noGrp="1"/>
          </p:cNvSpPr>
          <p:nvPr/>
        </p:nvSpPr>
        <p:spPr>
          <a:xfrm>
            <a:off x="1000125" y="286702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주요 업무</a:t>
            </a:r>
          </a:p>
        </p:txBody>
      </p:sp>
      <p:sp>
        <p:nvSpPr>
          <p:cNvPr id="14" name="I:body 1">
            <a:extLst>
              <a:ext uri="{FF2B5EF4-FFF2-40B4-BE49-F238E27FC236}">
                <a16:creationId xmlns:a16="http://schemas.microsoft.com/office/drawing/2014/main" id="{F886659C-4DEA-42ED-B176-186CF7129C90}"/>
              </a:ext>
            </a:extLst>
          </p:cNvPr>
          <p:cNvSpPr>
            <a:spLocks noGrp="1"/>
          </p:cNvSpPr>
          <p:nvPr/>
        </p:nvSpPr>
        <p:spPr>
          <a:xfrm>
            <a:off x="1000125" y="3181350"/>
            <a:ext cx="4457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말투 나이·AI 판결소·TBTI 등 후보 7종 기획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시작 발화와 개인화 결과·응답 구성 설계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점수·유형명과 실제 대화 근거를 연결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1:1·단톡방·개인 캡처 등 공유 방식 구체화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관계 악화를 줄이는 완충 문장과 대화 제안 작성</a:t>
            </a:r>
          </a:p>
        </p:txBody>
      </p:sp>
      <p:sp>
        <p:nvSpPr>
          <p:cNvPr id="15" name="I:section 2">
            <a:extLst>
              <a:ext uri="{FF2B5EF4-FFF2-40B4-BE49-F238E27FC236}">
                <a16:creationId xmlns:a16="http://schemas.microsoft.com/office/drawing/2014/main" id="{64FEEE5B-0453-48D2-9753-3B8DC2841E21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결과/성과 · 기획 산출물</a:t>
            </a:r>
          </a:p>
        </p:txBody>
      </p:sp>
      <p:sp>
        <p:nvSpPr>
          <p:cNvPr id="16" name="I:body 2">
            <a:extLst>
              <a:ext uri="{FF2B5EF4-FFF2-40B4-BE49-F238E27FC236}">
                <a16:creationId xmlns:a16="http://schemas.microsoft.com/office/drawing/2014/main" id="{DB65C972-C9FC-44B0-AB1E-0C7B54096ED6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44577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7개</a:t>
            </a: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 후보의 콘셉트·응답 예시·공유 포인트 문서화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말투 나이·TBTI의 실제 카나나 응답 예시 확보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개인 분석부터 톡방 단체 콘텐츠까지 활용안 구체화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결과를 읽고 비교·공유하는 콘텐츠 형식 마련</a:t>
            </a:r>
          </a:p>
        </p:txBody>
      </p:sp>
      <p:sp>
        <p:nvSpPr>
          <p:cNvPr id="17" name="I:section 3">
            <a:extLst>
              <a:ext uri="{FF2B5EF4-FFF2-40B4-BE49-F238E27FC236}">
                <a16:creationId xmlns:a16="http://schemas.microsoft.com/office/drawing/2014/main" id="{CCE01E69-B3B5-4EA5-95A7-BC3606BF42FC}"/>
              </a:ext>
            </a:extLst>
          </p:cNvPr>
          <p:cNvSpPr>
            <a:spLocks noGrp="1"/>
          </p:cNvSpPr>
          <p:nvPr/>
        </p:nvSpPr>
        <p:spPr>
          <a:xfrm>
            <a:off x="1000125" y="5600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담당 역할</a:t>
            </a:r>
          </a:p>
        </p:txBody>
      </p:sp>
      <p:sp>
        <p:nvSpPr>
          <p:cNvPr id="18" name="I:body 3">
            <a:extLst>
              <a:ext uri="{FF2B5EF4-FFF2-40B4-BE49-F238E27FC236}">
                <a16:creationId xmlns:a16="http://schemas.microsoft.com/office/drawing/2014/main" id="{70BC47D1-4BE4-4A64-A67F-BE3FCF7965CF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3600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콘텐츠 콘셉트·응답 예시·공유 시나리오 기획</a:t>
            </a:r>
          </a:p>
        </p:txBody>
      </p:sp>
      <p:sp>
        <p:nvSpPr>
          <p:cNvPr id="19" name="I:evidence caption">
            <a:extLst>
              <a:ext uri="{FF2B5EF4-FFF2-40B4-BE49-F238E27FC236}">
                <a16:creationId xmlns:a16="http://schemas.microsoft.com/office/drawing/2014/main" id="{4ED7737E-7C51-4F36-93D6-E82A5AFFE3FE}"/>
              </a:ext>
            </a:extLst>
          </p:cNvPr>
          <p:cNvSpPr>
            <a:spLocks noGrp="1"/>
          </p:cNvSpPr>
          <p:nvPr/>
        </p:nvSpPr>
        <p:spPr>
          <a:xfrm>
            <a:off x="6096000" y="1676400"/>
            <a:ext cx="5600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실제 카나나 응답 예시</a:t>
            </a:r>
          </a:p>
        </p:txBody>
      </p:sp>
      <p:sp>
        <p:nvSpPr>
          <p:cNvPr id="20" name="I:age caption">
            <a:extLst>
              <a:ext uri="{FF2B5EF4-FFF2-40B4-BE49-F238E27FC236}">
                <a16:creationId xmlns:a16="http://schemas.microsoft.com/office/drawing/2014/main" id="{4292D62C-D402-40D6-ABD6-1B3A19958080}"/>
              </a:ext>
            </a:extLst>
          </p:cNvPr>
          <p:cNvSpPr>
            <a:spLocks noGrp="1"/>
          </p:cNvSpPr>
          <p:nvPr/>
        </p:nvSpPr>
        <p:spPr>
          <a:xfrm>
            <a:off x="6143625" y="2057400"/>
            <a:ext cx="25812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말투 나이 측정기</a:t>
            </a:r>
          </a:p>
        </p:txBody>
      </p:sp>
      <p:sp>
        <p:nvSpPr>
          <p:cNvPr id="21" name="I:tbti caption">
            <a:extLst>
              <a:ext uri="{FF2B5EF4-FFF2-40B4-BE49-F238E27FC236}">
                <a16:creationId xmlns:a16="http://schemas.microsoft.com/office/drawing/2014/main" id="{68249E97-C71B-4051-822F-48CEB00A2EB3}"/>
              </a:ext>
            </a:extLst>
          </p:cNvPr>
          <p:cNvSpPr>
            <a:spLocks noGrp="1"/>
          </p:cNvSpPr>
          <p:nvPr/>
        </p:nvSpPr>
        <p:spPr>
          <a:xfrm>
            <a:off x="9029700" y="2057400"/>
            <a:ext cx="25812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대화 성향 TBTI</a:t>
            </a:r>
          </a:p>
        </p:txBody>
      </p:sp>
      <p:pic>
        <p:nvPicPr>
          <p:cNvPr id="22" name=""/>
          <p:cNvPicPr>
            <a:picLocks noChangeAspect="1"/>
          </p:cNvPicPr>
          <p:nvPr/>
        </p:nvPicPr>
        <p:blipFill>
          <a:blip r:embed="rIdIntegrated_R5f9d18ffdb3f4b7d"/>
          <a:stretch/>
        </p:blipFill>
        <p:spPr>
          <a:xfrm>
            <a:off x="6439736" y="2381250"/>
            <a:ext cx="1684254" cy="4171950"/>
          </a:xfrm>
          <a:prstGeom prst="rect">
            <a:avLst/>
          </a:prstGeom>
        </p:spPr>
      </p:pic>
      <p:pic>
        <p:nvPicPr>
          <p:cNvPr id="23" name=""/>
          <p:cNvPicPr>
            <a:picLocks noChangeAspect="1"/>
          </p:cNvPicPr>
          <p:nvPr/>
        </p:nvPicPr>
        <p:blipFill>
          <a:blip r:embed="rIdIntegrated_Re2c2477444a14c4d"/>
          <a:stretch/>
        </p:blipFill>
        <p:spPr>
          <a:xfrm>
            <a:off x="9401175" y="2382349"/>
            <a:ext cx="1800225" cy="4169752"/>
          </a:xfrm>
          <a:prstGeom prst="rect">
            <a:avLst/>
          </a:prstGeom>
        </p:spPr>
      </p:pic>
      <p:sp>
        <p:nvSpPr>
          <p:cNvPr id="9901" name="Role contribution label">
            <a:extLst>
              <a:ext uri="{FF2B5EF4-FFF2-40B4-BE49-F238E27FC236}">
                <a16:creationId xmlns:a16="http://schemas.microsoft.com/office/drawing/2014/main" id="{B5E284A2-2A81-443D-B90C-C8A96BD15BC5}"/>
              </a:ext>
            </a:extLst>
          </p:cNvPr>
          <p:cNvSpPr>
            <a:spLocks noGrp="1"/>
          </p:cNvSpPr>
          <p:nvPr/>
        </p:nvSpPr>
        <p:spPr>
          <a:xfrm>
            <a:off x="1000125" y="58769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기획 기여도</a:t>
            </a:r>
          </a:p>
        </p:txBody>
      </p:sp>
      <p:sp>
        <p:nvSpPr>
          <p:cNvPr id="9902" name="Role contribution value">
            <a:extLst>
              <a:ext uri="{FF2B5EF4-FFF2-40B4-BE49-F238E27FC236}">
                <a16:creationId xmlns:a16="http://schemas.microsoft.com/office/drawing/2014/main" id="{B38064BA-C2DF-4A67-8871-B7ED0A652CA6}"/>
              </a:ext>
            </a:extLst>
          </p:cNvPr>
          <p:cNvSpPr>
            <a:spLocks noGrp="1"/>
          </p:cNvSpPr>
          <p:nvPr/>
        </p:nvSpPr>
        <p:spPr>
          <a:xfrm>
            <a:off x="1905000" y="5876925"/>
            <a:ext cx="3600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2397299692"/>
      </p:ext>
    </p:extLst>
  </p:cSld>
  <p:clrMapOvr>
    <a:masterClrMapping/>
  </p:clrMapOvr>
</p:sld>
</file>

<file path=ppt/slides/slide9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직사각형 27">
            <a:extLst>
              <a:ext uri="{FF2B5EF4-FFF2-40B4-BE49-F238E27FC236}">
                <a16:creationId xmlns:a16="http://schemas.microsoft.com/office/drawing/2014/main" id="{B5392755-5865-F9B0-8A6B-497FC1FEFB7F}"/>
              </a:ext>
            </a:extLst>
          </p:cNvPr>
          <p:cNvSpPr>
            <a:spLocks noGrp="1"/>
          </p:cNvSpPr>
          <p:nvPr/>
        </p:nvSpPr>
        <p:spPr>
          <a:xfrm>
            <a:off x="0" y="824999"/>
            <a:ext cx="1041400" cy="401220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" name="직사각형 24">
            <a:extLst>
              <a:ext uri="{FF2B5EF4-FFF2-40B4-BE49-F238E27FC236}">
                <a16:creationId xmlns:a16="http://schemas.microsoft.com/office/drawing/2014/main" id="{9300C823-004B-CBFA-D2AC-54CAF748651A}"/>
              </a:ext>
            </a:extLst>
          </p:cNvPr>
          <p:cNvSpPr>
            <a:spLocks noGrp="1"/>
          </p:cNvSpPr>
          <p:nvPr/>
        </p:nvSpPr>
        <p:spPr>
          <a:xfrm>
            <a:off x="0" y="56308"/>
            <a:ext cx="12192000" cy="5951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4" name="직사각형 50">
            <a:extLst>
              <a:ext uri="{FF2B5EF4-FFF2-40B4-BE49-F238E27FC236}">
                <a16:creationId xmlns:a16="http://schemas.microsoft.com/office/drawing/2014/main" id="{3A7B5860-8D32-C866-0A67-DA9795350F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5" name="직선 연결선 15">
            <a:extLst>
              <a:ext uri="{FF2B5EF4-FFF2-40B4-BE49-F238E27FC236}">
                <a16:creationId xmlns:a16="http://schemas.microsoft.com/office/drawing/2014/main" id="{95C1A325-505D-4B67-8F4F-385E5E9505B2}"/>
              </a:ext>
            </a:extLst>
          </p:cNvPr>
          <p:cNvSpPr>
            <a:spLocks noGrp="1"/>
          </p:cNvSpPr>
          <p:nvPr/>
        </p:nvSpPr>
        <p:spPr>
          <a:xfrm>
            <a:off x="0" y="1229505"/>
            <a:ext cx="4204447" cy="0"/>
          </a:xfrm>
          <a:prstGeom prst="line">
            <a:avLst/>
          </a:prstGeom>
          <a:ln>
            <a:solidFill>
              <a:srgbClr val="002C5F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sp>
      <p:sp>
        <p:nvSpPr>
          <p:cNvPr id="6" name="직사각형 16">
            <a:extLst>
              <a:ext uri="{FF2B5EF4-FFF2-40B4-BE49-F238E27FC236}">
                <a16:creationId xmlns:a16="http://schemas.microsoft.com/office/drawing/2014/main" id="{BB03FEB3-BCA6-E72B-25F6-6F59200B89FF}"/>
              </a:ext>
            </a:extLst>
          </p:cNvPr>
          <p:cNvSpPr>
            <a:spLocks noGrp="1"/>
          </p:cNvSpPr>
          <p:nvPr/>
        </p:nvSpPr>
        <p:spPr>
          <a:xfrm>
            <a:off x="762759" y="1601182"/>
            <a:ext cx="4931893" cy="4891685"/>
          </a:xfrm>
          <a:prstGeom prst="rect">
            <a:avLst/>
          </a:prstGeom>
          <a:solidFill>
            <a:schemeClr val="bg1">
              <a:lumMod val="75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5" name="I:header">
            <a:extLst>
              <a:ext uri="{FF2B5EF4-FFF2-40B4-BE49-F238E27FC236}">
                <a16:creationId xmlns:a16="http://schemas.microsoft.com/office/drawing/2014/main" id="{848B25C0-C784-4864-9CAE-6F585F04A184}"/>
              </a:ext>
            </a:extLst>
          </p:cNvPr>
          <p:cNvSpPr>
            <a:spLocks noGrp="1"/>
          </p:cNvSpPr>
          <p:nvPr/>
        </p:nvSpPr>
        <p:spPr>
          <a:xfrm>
            <a:off x="190500" y="200025"/>
            <a:ext cx="1114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400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카카오 / AI 서비스 기획</a:t>
            </a:r>
          </a:p>
        </p:txBody>
      </p:sp>
      <p:sp>
        <p:nvSpPr>
          <p:cNvPr id="16" name="I:category">
            <a:extLst>
              <a:ext uri="{FF2B5EF4-FFF2-40B4-BE49-F238E27FC236}">
                <a16:creationId xmlns:a16="http://schemas.microsoft.com/office/drawing/2014/main" id="{9EBEA607-0860-4A4F-B212-ED861FF15562}"/>
              </a:ext>
            </a:extLst>
          </p:cNvPr>
          <p:cNvSpPr>
            <a:spLocks noGrp="1"/>
          </p:cNvSpPr>
          <p:nvPr/>
        </p:nvSpPr>
        <p:spPr>
          <a:xfrm>
            <a:off x="0" y="923925"/>
            <a:ext cx="10382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6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17" name="I:project">
            <a:extLst>
              <a:ext uri="{FF2B5EF4-FFF2-40B4-BE49-F238E27FC236}">
                <a16:creationId xmlns:a16="http://schemas.microsoft.com/office/drawing/2014/main" id="{99B85108-5BA7-49BD-8B4D-60627ADE09EC}"/>
              </a:ext>
            </a:extLst>
          </p:cNvPr>
          <p:cNvSpPr>
            <a:spLocks noGrp="1"/>
          </p:cNvSpPr>
          <p:nvPr/>
        </p:nvSpPr>
        <p:spPr>
          <a:xfrm>
            <a:off x="1171575" y="914400"/>
            <a:ext cx="1038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후속 질문의 재분석·세션 만료·실패 복구 정책 설계</a:t>
            </a:r>
          </a:p>
        </p:txBody>
      </p:sp>
      <p:sp>
        <p:nvSpPr>
          <p:cNvPr id="18" name="I:page">
            <a:extLst>
              <a:ext uri="{FF2B5EF4-FFF2-40B4-BE49-F238E27FC236}">
                <a16:creationId xmlns:a16="http://schemas.microsoft.com/office/drawing/2014/main" id="{CE471578-EAA6-461B-9CE4-9F5134520137}"/>
              </a:ext>
            </a:extLst>
          </p:cNvPr>
          <p:cNvSpPr>
            <a:spLocks noGrp="1"/>
          </p:cNvSpPr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6</a:t>
            </a:r>
          </a:p>
        </p:txBody>
      </p:sp>
      <p:sp>
        <p:nvSpPr>
          <p:cNvPr id="19" name="I:section 0">
            <a:extLst>
              <a:ext uri="{FF2B5EF4-FFF2-40B4-BE49-F238E27FC236}">
                <a16:creationId xmlns:a16="http://schemas.microsoft.com/office/drawing/2014/main" id="{F45298B0-19D3-4D50-A6AD-5834E1276AF1}"/>
              </a:ext>
            </a:extLst>
          </p:cNvPr>
          <p:cNvSpPr>
            <a:spLocks noGrp="1"/>
          </p:cNvSpPr>
          <p:nvPr/>
        </p:nvSpPr>
        <p:spPr>
          <a:xfrm>
            <a:off x="1000125" y="179070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문제 의식 및 목표</a:t>
            </a:r>
          </a:p>
        </p:txBody>
      </p:sp>
      <p:sp>
        <p:nvSpPr>
          <p:cNvPr id="20" name="I:body 0">
            <a:extLst>
              <a:ext uri="{FF2B5EF4-FFF2-40B4-BE49-F238E27FC236}">
                <a16:creationId xmlns:a16="http://schemas.microsoft.com/office/drawing/2014/main" id="{9394D189-31EF-4161-A03C-F9EA4A2D93C8}"/>
              </a:ext>
            </a:extLst>
          </p:cNvPr>
          <p:cNvSpPr>
            <a:spLocks noGrp="1"/>
          </p:cNvSpPr>
          <p:nvPr/>
        </p:nvSpPr>
        <p:spPr>
          <a:xfrm>
            <a:off x="1000125" y="2105025"/>
            <a:ext cx="44577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후속 질문마다 대화 재선택·업로드에 따른 대기 발생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기존 분석의 재사용 조건과 유효 기간 정의 필요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세션 만료·분석 실패 시 사용자 복구 동선 설계</a:t>
            </a:r>
          </a:p>
        </p:txBody>
      </p:sp>
      <p:sp>
        <p:nvSpPr>
          <p:cNvPr id="21" name="I:section 1">
            <a:extLst>
              <a:ext uri="{FF2B5EF4-FFF2-40B4-BE49-F238E27FC236}">
                <a16:creationId xmlns:a16="http://schemas.microsoft.com/office/drawing/2014/main" id="{1E049EE3-1897-4C24-9819-9E007D5FF0D1}"/>
              </a:ext>
            </a:extLst>
          </p:cNvPr>
          <p:cNvSpPr>
            <a:spLocks noGrp="1"/>
          </p:cNvSpPr>
          <p:nvPr/>
        </p:nvSpPr>
        <p:spPr>
          <a:xfrm>
            <a:off x="1000125" y="2867025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주요 업무</a:t>
            </a:r>
          </a:p>
        </p:txBody>
      </p:sp>
      <p:sp>
        <p:nvSpPr>
          <p:cNvPr id="22" name="I:body 1">
            <a:extLst>
              <a:ext uri="{FF2B5EF4-FFF2-40B4-BE49-F238E27FC236}">
                <a16:creationId xmlns:a16="http://schemas.microsoft.com/office/drawing/2014/main" id="{8E9EDD41-F5A5-47EE-AAC0-57A480895877}"/>
              </a:ext>
            </a:extLst>
          </p:cNvPr>
          <p:cNvSpPr>
            <a:spLocks noGrp="1"/>
          </p:cNvSpPr>
          <p:nvPr/>
        </p:nvSpPr>
        <p:spPr>
          <a:xfrm>
            <a:off x="1000125" y="3181350"/>
            <a:ext cx="4457700" cy="1057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refConvId로 기존 분석 세션의 재사용 여부 판단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세션 유효 시간(TTL 3시간)과 만료 시 동선 정의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기존 범위 재사용과 새 분석 시작의 분기 설계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재분석 중 입력 잠금과 완료 안내 흐름 정리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실패·결과 부족 시 재시도 안내 문구 설계</a:t>
            </a:r>
          </a:p>
        </p:txBody>
      </p:sp>
      <p:sp>
        <p:nvSpPr>
          <p:cNvPr id="23" name="I:section 2">
            <a:extLst>
              <a:ext uri="{FF2B5EF4-FFF2-40B4-BE49-F238E27FC236}">
                <a16:creationId xmlns:a16="http://schemas.microsoft.com/office/drawing/2014/main" id="{11803DD3-9DE4-4166-B3D3-995BBBEED112}"/>
              </a:ext>
            </a:extLst>
          </p:cNvPr>
          <p:cNvSpPr>
            <a:spLocks noGrp="1"/>
          </p:cNvSpPr>
          <p:nvPr/>
        </p:nvSpPr>
        <p:spPr>
          <a:xfrm>
            <a:off x="1000125" y="4324350"/>
            <a:ext cx="44577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5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결과/성과</a:t>
            </a:r>
          </a:p>
        </p:txBody>
      </p:sp>
      <p:sp>
        <p:nvSpPr>
          <p:cNvPr id="24" name="I:body 2">
            <a:extLst>
              <a:ext uri="{FF2B5EF4-FFF2-40B4-BE49-F238E27FC236}">
                <a16:creationId xmlns:a16="http://schemas.microsoft.com/office/drawing/2014/main" id="{C35A80FB-CEAB-45D3-B752-EE92A41AE6F5}"/>
              </a:ext>
            </a:extLst>
          </p:cNvPr>
          <p:cNvSpPr>
            <a:spLocks noGrp="1"/>
          </p:cNvSpPr>
          <p:nvPr/>
        </p:nvSpPr>
        <p:spPr>
          <a:xfrm>
            <a:off x="1000125" y="4638675"/>
            <a:ext cx="44577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세션 상태를 </a:t>
            </a:r>
            <a:r>
              <a:rPr sz="1325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3개</a:t>
            </a: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 분기로 정리해 안내 기준 확정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TTL 이내 후속 질문은 채팅방 재선택 없이 진행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실패 시 범위를 바꿔 다시 시도하도록 동선 제공</a:t>
            </a:r>
          </a:p>
          <a:p>
            <a:pPr marL="133350" indent="-104775" algn="l">
              <a:spcAft>
                <a:spcPts val="75"/>
              </a:spcAft>
              <a:buChar char="-"/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재분석 경로에서도 원문 즉시 삭제 처리 유지</a:t>
            </a:r>
          </a:p>
        </p:txBody>
      </p:sp>
      <p:sp>
        <p:nvSpPr>
          <p:cNvPr id="25" name="I:section 3">
            <a:extLst>
              <a:ext uri="{FF2B5EF4-FFF2-40B4-BE49-F238E27FC236}">
                <a16:creationId xmlns:a16="http://schemas.microsoft.com/office/drawing/2014/main" id="{328D514A-5E87-423F-8628-533737966F9E}"/>
              </a:ext>
            </a:extLst>
          </p:cNvPr>
          <p:cNvSpPr>
            <a:spLocks noGrp="1"/>
          </p:cNvSpPr>
          <p:nvPr/>
        </p:nvSpPr>
        <p:spPr>
          <a:xfrm>
            <a:off x="1000125" y="560070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담당 역할</a:t>
            </a:r>
          </a:p>
        </p:txBody>
      </p:sp>
      <p:sp>
        <p:nvSpPr>
          <p:cNvPr id="26" name="I:body 3">
            <a:extLst>
              <a:ext uri="{FF2B5EF4-FFF2-40B4-BE49-F238E27FC236}">
                <a16:creationId xmlns:a16="http://schemas.microsoft.com/office/drawing/2014/main" id="{335D9877-5CAA-41F6-B064-B7622CDACCF4}"/>
              </a:ext>
            </a:extLst>
          </p:cNvPr>
          <p:cNvSpPr>
            <a:spLocks noGrp="1"/>
          </p:cNvSpPr>
          <p:nvPr/>
        </p:nvSpPr>
        <p:spPr>
          <a:xfrm>
            <a:off x="1905000" y="5600700"/>
            <a:ext cx="36004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멀티턴 정책·UX 분기 설계</a:t>
            </a:r>
          </a:p>
        </p:txBody>
      </p:sp>
      <p:pic>
        <p:nvPicPr>
          <p:cNvPr id="95" name="분기도"/>
          <p:cNvPicPr>
            <a:picLocks noChangeAspect="1"/>
          </p:cNvPicPr>
          <p:nvPr/>
        </p:nvPicPr>
        <p:blipFill>
          <a:blip r:embed="rIdBranch"/>
          <a:srcRect/>
          <a:stretch/>
        </p:blipFill>
        <p:spPr>
          <a:xfrm>
            <a:off x="5850000" y="2487532"/>
            <a:ext cx="5900000" cy="3239485"/>
          </a:xfrm>
          <a:prstGeom prst="rect">
            <a:avLst/>
          </a:prstGeom>
          <a:ln w="9525">
            <a:solidFill>
              <a:srgbClr val="E0E4EC"/>
            </a:solidFill>
          </a:ln>
        </p:spPr>
      </p:pic>
      <p:sp>
        <p:nvSpPr>
          <p:cNvPr id="96" name="I:branch caption"/>
          <p:cNvSpPr txBox="1"/>
          <p:nvPr/>
        </p:nvSpPr>
        <p:spPr>
          <a:xfrm>
            <a:off x="6096000" y="6150000"/>
            <a:ext cx="5600700" cy="23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ko-KR" altLang="en-US" sz="1000" dirty="0">
                <a:solidFill>
                  <a:srgbClr val="666666"/>
                </a:solidFill>
                <a:latin typeface="Pretendard Medium"/>
                <a:ea typeface="Pretendard Medium"/>
              </a:rPr>
              <a:t>후속 질문 처리 전체 흐름 · 본인 작성 구조도</a:t>
            </a:r>
          </a:p>
        </p:txBody>
      </p:sp>
      <p:sp>
        <p:nvSpPr>
          <p:cNvPr id="9901" name="Role contribution label">
            <a:extLst>
              <a:ext uri="{FF2B5EF4-FFF2-40B4-BE49-F238E27FC236}">
                <a16:creationId xmlns:a16="http://schemas.microsoft.com/office/drawing/2014/main" id="{343FCDCA-0F52-495F-AC29-421EC53F5177}"/>
              </a:ext>
            </a:extLst>
          </p:cNvPr>
          <p:cNvSpPr>
            <a:spLocks noGrp="1"/>
          </p:cNvSpPr>
          <p:nvPr/>
        </p:nvSpPr>
        <p:spPr>
          <a:xfrm>
            <a:off x="1000125" y="5876925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기획 기여도</a:t>
            </a:r>
          </a:p>
        </p:txBody>
      </p:sp>
      <p:sp>
        <p:nvSpPr>
          <p:cNvPr id="9902" name="Role contribution value">
            <a:extLst>
              <a:ext uri="{FF2B5EF4-FFF2-40B4-BE49-F238E27FC236}">
                <a16:creationId xmlns:a16="http://schemas.microsoft.com/office/drawing/2014/main" id="{E2E670C1-AC66-47EF-BEC2-3D13B7DEC894}"/>
              </a:ext>
            </a:extLst>
          </p:cNvPr>
          <p:cNvSpPr>
            <a:spLocks noGrp="1"/>
          </p:cNvSpPr>
          <p:nvPr/>
        </p:nvSpPr>
        <p:spPr>
          <a:xfrm>
            <a:off x="1905000" y="5876925"/>
            <a:ext cx="3600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25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100%</a:t>
            </a:r>
          </a:p>
        </p:txBody>
      </p:sp>
      <p:sp>
        <p:nvSpPr>
          <p:cNvPr id="9903" name="Team label">
            <a:extLst>
              <a:ext uri="{FF2B5EF4-FFF2-40B4-BE49-F238E27FC236}">
                <a16:creationId xmlns:a16="http://schemas.microsoft.com/office/drawing/2014/main" id="{D74ABFAF-8FF7-48F4-9CA6-5D40D3183F10}"/>
              </a:ext>
            </a:extLst>
          </p:cNvPr>
          <p:cNvSpPr>
            <a:spLocks noGrp="1"/>
          </p:cNvSpPr>
          <p:nvPr/>
        </p:nvSpPr>
        <p:spPr>
          <a:xfrm>
            <a:off x="1000125" y="61531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40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협업 구성</a:t>
            </a:r>
          </a:p>
        </p:txBody>
      </p:sp>
      <p:sp>
        <p:nvSpPr>
          <p:cNvPr id="9904" name="Team value">
            <a:extLst>
              <a:ext uri="{FF2B5EF4-FFF2-40B4-BE49-F238E27FC236}">
                <a16:creationId xmlns:a16="http://schemas.microsoft.com/office/drawing/2014/main" id="{C81314F3-937B-41E9-B83F-61C77331322D}"/>
              </a:ext>
            </a:extLst>
          </p:cNvPr>
          <p:cNvSpPr>
            <a:spLocks noGrp="1"/>
          </p:cNvSpPr>
          <p:nvPr/>
        </p:nvSpPr>
        <p:spPr>
          <a:xfrm>
            <a:off x="1905000" y="6153150"/>
            <a:ext cx="36004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555555"/>
                </a:solidFill>
                <a:latin typeface="Pretendard Medium"/>
                <a:ea typeface="Pretendard Medium"/>
                <a:cs typeface="Pretendard Medium"/>
              </a:rPr>
              <a:t>서버·모델·클라이언트</a:t>
            </a:r>
          </a:p>
        </p:txBody>
      </p:sp>
    </p:spTree>
    <p:extLst>
      <p:ext uri="{BB962C8B-B14F-4D97-AF65-F5344CB8AC3E}">
        <p14:creationId xmlns:p14="http://schemas.microsoft.com/office/powerpoint/2010/main" val="2397299692"/>
      </p:ext>
    </p:extLst>
  </p:cSld>
  <p:clrMapOvr>
    <a:masterClrMapping/>
  </p:clrMapOvr>
</p:sld>
</file>

<file path=ppt/slides/slide9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TB401"/>
          <p:cNvSpPr txBox="1"/>
          <p:nvPr/>
        </p:nvSpPr>
        <p:spPr>
          <a:xfrm>
            <a:off x="1000125" y="700000"/>
            <a:ext cx="600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3000" b="1" dirty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경력 요약</a:t>
            </a:r>
          </a:p>
        </p:txBody>
      </p:sp>
      <p:sp>
        <p:nvSpPr>
          <p:cNvPr id="402" name="TB402">
            <a:extLst>
              <a:ext uri="{FF2B5EF4-FFF2-40B4-BE49-F238E27FC236}">
                <a16:creationId xmlns:a16="http://schemas.microsoft.com/office/drawing/2014/main" id="{281B6702-FE9F-42C8-8016-D00C2A8693BA}"/>
              </a:ext>
            </a:extLst>
          </p:cNvPr>
          <p:cNvSpPr>
            <a:spLocks noGrp="1"/>
          </p:cNvSpPr>
          <p:nvPr/>
        </p:nvSpPr>
        <p:spPr>
          <a:xfrm>
            <a:off x="1000125" y="1239965"/>
            <a:ext cx="102012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00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00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11년 8개월 · 커머스·광고·금융·AI 영역의 제품 기획·출시·운영</a:t>
            </a:r>
          </a:p>
        </p:txBody>
      </p:sp>
      <p:sp>
        <p:nvSpPr>
          <p:cNvPr id="403" name="RC403"/>
          <p:cNvSpPr/>
          <p:nvPr/>
        </p:nvSpPr>
        <p:spPr>
          <a:xfrm>
            <a:off x="2960000" y="1900000"/>
            <a:ext cx="12700" cy="4150000"/>
          </a:xfrm>
          <a:prstGeom prst="rect">
            <a:avLst/>
          </a:prstGeom>
          <a:solidFill>
            <a:srgbClr val="DDE2EA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04" name="TB404">
            <a:extLst>
              <a:ext uri="{FF2B5EF4-FFF2-40B4-BE49-F238E27FC236}">
                <a16:creationId xmlns:a16="http://schemas.microsoft.com/office/drawing/2014/main" id="{9D76FB8C-AA00-4E34-9644-CB78222A6E5A}"/>
              </a:ext>
            </a:extLst>
          </p:cNvPr>
          <p:cNvSpPr>
            <a:spLocks noGrp="1"/>
          </p:cNvSpPr>
          <p:nvPr/>
        </p:nvSpPr>
        <p:spPr>
          <a:xfrm>
            <a:off x="800000" y="1910000"/>
            <a:ext cx="2000125" cy="3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2025.12.01 ~ 현재</a:t>
            </a:r>
          </a:p>
        </p:txBody>
      </p:sp>
      <p:sp>
        <p:nvSpPr>
          <p:cNvPr id="405" name="TB405">
            <a:extLst>
              <a:ext uri="{FF2B5EF4-FFF2-40B4-BE49-F238E27FC236}">
                <a16:creationId xmlns:a16="http://schemas.microsoft.com/office/drawing/2014/main" id="{FA119217-F5EE-4CA1-A19A-1075C626BAA6}"/>
              </a:ext>
            </a:extLst>
          </p:cNvPr>
          <p:cNvSpPr>
            <a:spLocks noGrp="1"/>
          </p:cNvSpPr>
          <p:nvPr/>
        </p:nvSpPr>
        <p:spPr>
          <a:xfrm>
            <a:off x="800000" y="2210000"/>
            <a:ext cx="2000125" cy="2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050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rPr>
              <a:t>9개월 21일 · 재직 중</a:t>
            </a:r>
          </a:p>
        </p:txBody>
      </p:sp>
      <p:sp>
        <p:nvSpPr>
          <p:cNvPr id="406" name="RC406"/>
          <p:cNvSpPr/>
          <p:nvPr/>
        </p:nvSpPr>
        <p:spPr>
          <a:xfrm>
            <a:off x="2900000" y="1960000"/>
            <a:ext cx="130000" cy="130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07" name="TB407">
            <a:hlinkClick r:id="rIdNav5" action="ppaction://hlinksldjump" tooltip="5p 사례로 이동"/>
          </p:cNvPr>
          <p:cNvSpPr txBox="1"/>
          <p:nvPr/>
        </p:nvSpPr>
        <p:spPr>
          <a:xfrm>
            <a:off x="3250000" y="1900000"/>
            <a:ext cx="6600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  <a:hlinkClick r:id="rIdNav5" action="ppaction://hlinksldjump" tooltip="5p 사례로 이동"/>
              </a:rPr>
              <a:t>카카오 · 대화연동 AI 서비스 기획</a:t>
            </a:r>
          </a:p>
        </p:txBody>
      </p:sp>
      <p:sp>
        <p:nvSpPr>
          <p:cNvPr id="408" name="TB408"/>
          <p:cNvSpPr txBox="1"/>
          <p:nvPr/>
        </p:nvSpPr>
        <p:spPr>
          <a:xfrm>
            <a:off x="3250000" y="227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50" b="0" dirty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</a:rPr>
              <a:t>카카오톡 대화 데이터 기반 AI 에이전트·메모리·바이럴 기획</a:t>
            </a:r>
          </a:p>
        </p:txBody>
      </p:sp>
      <p:sp>
        <p:nvSpPr>
          <p:cNvPr id="409" name="TB409">
            <a:hlinkClick r:id="rIdNav5" action="ppaction://hlinksldjump" tooltip="5p 사례로 이동"/>
          </p:cNvPr>
          <p:cNvSpPr txBox="1"/>
          <p:nvPr/>
        </p:nvSpPr>
        <p:spPr>
          <a:xfrm>
            <a:off x="10200000" y="1920000"/>
            <a:ext cx="1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altLang="en-US" sz="1200" b="0" dirty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  <a:hlinkClick r:id="rIdNav5" action="ppaction://hlinksldjump" tooltip="5p 사례로 이동"/>
              </a:rPr>
              <a:t>5–10p</a:t>
            </a:r>
          </a:p>
        </p:txBody>
      </p:sp>
      <p:sp>
        <p:nvSpPr>
          <p:cNvPr id="410" name="TB410">
            <a:extLst>
              <a:ext uri="{FF2B5EF4-FFF2-40B4-BE49-F238E27FC236}">
                <a16:creationId xmlns:a16="http://schemas.microsoft.com/office/drawing/2014/main" id="{18CA8AE6-BEBE-4533-97B3-9706B1D877E5}"/>
              </a:ext>
            </a:extLst>
          </p:cNvPr>
          <p:cNvSpPr>
            <a:spLocks noGrp="1"/>
          </p:cNvSpPr>
          <p:nvPr/>
        </p:nvSpPr>
        <p:spPr>
          <a:xfrm>
            <a:off x="800000" y="2740000"/>
            <a:ext cx="2000125" cy="3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2025.02.01 ~ 2025.11.14</a:t>
            </a:r>
          </a:p>
        </p:txBody>
      </p:sp>
      <p:sp>
        <p:nvSpPr>
          <p:cNvPr id="411" name="TB411">
            <a:extLst>
              <a:ext uri="{FF2B5EF4-FFF2-40B4-BE49-F238E27FC236}">
                <a16:creationId xmlns:a16="http://schemas.microsoft.com/office/drawing/2014/main" id="{24A94DAF-327F-47F6-9355-8E41FFBF2E70}"/>
              </a:ext>
            </a:extLst>
          </p:cNvPr>
          <p:cNvSpPr>
            <a:spLocks noGrp="1"/>
          </p:cNvSpPr>
          <p:nvPr/>
        </p:nvSpPr>
        <p:spPr>
          <a:xfrm>
            <a:off x="800000" y="3040000"/>
            <a:ext cx="2000125" cy="2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050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rPr>
              <a:t>9개월 14일</a:t>
            </a:r>
          </a:p>
        </p:txBody>
      </p:sp>
      <p:sp>
        <p:nvSpPr>
          <p:cNvPr id="412" name="RC412"/>
          <p:cNvSpPr/>
          <p:nvPr/>
        </p:nvSpPr>
        <p:spPr>
          <a:xfrm>
            <a:off x="2900000" y="2790000"/>
            <a:ext cx="130000" cy="130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13" name="TB413">
            <a:hlinkClick r:id="rIdNav11" action="ppaction://hlinksldjump" tooltip="11p 사례로 이동"/>
          </p:cNvPr>
          <p:cNvSpPr txBox="1"/>
          <p:nvPr/>
        </p:nvSpPr>
        <p:spPr>
          <a:xfrm>
            <a:off x="3250000" y="2730000"/>
            <a:ext cx="6600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  <a:hlinkClick r:id="rIdNav11" action="ppaction://hlinksldjump" tooltip="11p 사례로 이동"/>
              </a:rPr>
              <a:t>삼성증권 · 모니모 서비스 기획·운영</a:t>
            </a:r>
          </a:p>
        </p:txBody>
      </p:sp>
      <p:sp>
        <p:nvSpPr>
          <p:cNvPr id="414" name="TB414"/>
          <p:cNvSpPr txBox="1"/>
          <p:nvPr/>
        </p:nvSpPr>
        <p:spPr>
          <a:xfrm>
            <a:off x="3250000" y="310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50" b="0" dirty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</a:rPr>
              <a:t>대출 상태 시각화와 상황별 행동 유도로 사용자 여정 재설계</a:t>
            </a:r>
          </a:p>
        </p:txBody>
      </p:sp>
      <p:sp>
        <p:nvSpPr>
          <p:cNvPr id="415" name="TB415">
            <a:hlinkClick r:id="rIdNav11" action="ppaction://hlinksldjump" tooltip="11p 사례로 이동"/>
          </p:cNvPr>
          <p:cNvSpPr txBox="1"/>
          <p:nvPr/>
        </p:nvSpPr>
        <p:spPr>
          <a:xfrm>
            <a:off x="10200000" y="2750000"/>
            <a:ext cx="1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altLang="en-US" sz="1200" b="0" dirty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  <a:hlinkClick r:id="rIdNav11" action="ppaction://hlinksldjump" tooltip="11p 사례로 이동"/>
              </a:rPr>
              <a:t>11p</a:t>
            </a:r>
          </a:p>
        </p:txBody>
      </p:sp>
      <p:sp>
        <p:nvSpPr>
          <p:cNvPr id="416" name="TB416">
            <a:extLst>
              <a:ext uri="{FF2B5EF4-FFF2-40B4-BE49-F238E27FC236}">
                <a16:creationId xmlns:a16="http://schemas.microsoft.com/office/drawing/2014/main" id="{0E4EEBDF-15A9-4593-9399-E05361A6EA02}"/>
              </a:ext>
            </a:extLst>
          </p:cNvPr>
          <p:cNvSpPr>
            <a:spLocks noGrp="1"/>
          </p:cNvSpPr>
          <p:nvPr/>
        </p:nvSpPr>
        <p:spPr>
          <a:xfrm>
            <a:off x="800000" y="3570000"/>
            <a:ext cx="2000125" cy="3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2021.03.29 ~ 2024.11.26</a:t>
            </a:r>
          </a:p>
        </p:txBody>
      </p:sp>
      <p:sp>
        <p:nvSpPr>
          <p:cNvPr id="417" name="TB417">
            <a:extLst>
              <a:ext uri="{FF2B5EF4-FFF2-40B4-BE49-F238E27FC236}">
                <a16:creationId xmlns:a16="http://schemas.microsoft.com/office/drawing/2014/main" id="{4E3F90CB-620D-407C-8C70-46C2303B1227}"/>
              </a:ext>
            </a:extLst>
          </p:cNvPr>
          <p:cNvSpPr>
            <a:spLocks noGrp="1"/>
          </p:cNvSpPr>
          <p:nvPr/>
        </p:nvSpPr>
        <p:spPr>
          <a:xfrm>
            <a:off x="800000" y="3870000"/>
            <a:ext cx="2000125" cy="2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050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rPr>
              <a:t>3년 7개월 29일</a:t>
            </a:r>
          </a:p>
        </p:txBody>
      </p:sp>
      <p:sp>
        <p:nvSpPr>
          <p:cNvPr id="418" name="RC418"/>
          <p:cNvSpPr/>
          <p:nvPr/>
        </p:nvSpPr>
        <p:spPr>
          <a:xfrm>
            <a:off x="2900000" y="3620000"/>
            <a:ext cx="130000" cy="130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19" name="TB419">
            <a:hlinkClick r:id="rIdNav12" action="ppaction://hlinksldjump" tooltip="12p 사례로 이동"/>
          </p:cNvPr>
          <p:cNvSpPr txBox="1"/>
          <p:nvPr/>
        </p:nvSpPr>
        <p:spPr>
          <a:xfrm>
            <a:off x="3250000" y="3560000"/>
            <a:ext cx="6600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  <a:hlinkClick r:id="rIdNav12" action="ppaction://hlinksldjump" tooltip="12p 사례로 이동"/>
              </a:rPr>
              <a:t>토스 · 대출·보험 Product Owner</a:t>
            </a:r>
          </a:p>
        </p:txBody>
      </p:sp>
      <p:sp>
        <p:nvSpPr>
          <p:cNvPr id="420" name="TB420"/>
          <p:cNvSpPr txBox="1"/>
          <p:nvPr/>
        </p:nvSpPr>
        <p:spPr>
          <a:xfrm>
            <a:off x="3250000" y="393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50" b="0" dirty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</a:rPr>
              <a:t>퍼널 분석 기반 전환율·매출 성장, 금융사 연동과 규제특례 추진</a:t>
            </a:r>
          </a:p>
        </p:txBody>
      </p:sp>
      <p:sp>
        <p:nvSpPr>
          <p:cNvPr id="421" name="TB421">
            <a:hlinkClick r:id="rIdNav12" action="ppaction://hlinksldjump" tooltip="12p 사례로 이동"/>
          </p:cNvPr>
          <p:cNvSpPr txBox="1"/>
          <p:nvPr/>
        </p:nvSpPr>
        <p:spPr>
          <a:xfrm>
            <a:off x="10200000" y="3580000"/>
            <a:ext cx="1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altLang="en-US" sz="1200" b="0" dirty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  <a:hlinkClick r:id="rIdNav12" action="ppaction://hlinksldjump" tooltip="12p 사례로 이동"/>
              </a:rPr>
              <a:t>12–22p</a:t>
            </a:r>
          </a:p>
        </p:txBody>
      </p:sp>
      <p:sp>
        <p:nvSpPr>
          <p:cNvPr id="422" name="TB422">
            <a:extLst>
              <a:ext uri="{FF2B5EF4-FFF2-40B4-BE49-F238E27FC236}">
                <a16:creationId xmlns:a16="http://schemas.microsoft.com/office/drawing/2014/main" id="{1D0C3C1D-F293-4486-B02D-1D488403759C}"/>
              </a:ext>
            </a:extLst>
          </p:cNvPr>
          <p:cNvSpPr>
            <a:spLocks noGrp="1"/>
          </p:cNvSpPr>
          <p:nvPr/>
        </p:nvSpPr>
        <p:spPr>
          <a:xfrm>
            <a:off x="800000" y="4400000"/>
            <a:ext cx="2000125" cy="3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2017.12.01 ~ 2021.03.31</a:t>
            </a:r>
          </a:p>
        </p:txBody>
      </p:sp>
      <p:sp>
        <p:nvSpPr>
          <p:cNvPr id="423" name="TB423">
            <a:extLst>
              <a:ext uri="{FF2B5EF4-FFF2-40B4-BE49-F238E27FC236}">
                <a16:creationId xmlns:a16="http://schemas.microsoft.com/office/drawing/2014/main" id="{501E0862-A98E-4689-8E69-D1B56882905C}"/>
              </a:ext>
            </a:extLst>
          </p:cNvPr>
          <p:cNvSpPr>
            <a:spLocks noGrp="1"/>
          </p:cNvSpPr>
          <p:nvPr/>
        </p:nvSpPr>
        <p:spPr>
          <a:xfrm>
            <a:off x="800000" y="4700000"/>
            <a:ext cx="2000125" cy="2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050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rPr>
              <a:t>3년 4개월</a:t>
            </a:r>
          </a:p>
        </p:txBody>
      </p:sp>
      <p:sp>
        <p:nvSpPr>
          <p:cNvPr id="424" name="RC424"/>
          <p:cNvSpPr/>
          <p:nvPr/>
        </p:nvSpPr>
        <p:spPr>
          <a:xfrm>
            <a:off x="2900000" y="4450000"/>
            <a:ext cx="130000" cy="130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25" name="TB425">
            <a:hlinkClick r:id="rIdNav23" action="ppaction://hlinksldjump" tooltip="23p 사례로 이동"/>
          </p:cNvPr>
          <p:cNvSpPr txBox="1"/>
          <p:nvPr/>
        </p:nvSpPr>
        <p:spPr>
          <a:xfrm>
            <a:off x="3250000" y="4390000"/>
            <a:ext cx="6600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  <a:hlinkClick r:id="rIdNav23" action="ppaction://hlinksldjump" tooltip="23p 사례로 이동"/>
              </a:rPr>
              <a:t>NHN DATA · 광고 플랫폼 Product Manager</a:t>
            </a:r>
          </a:p>
        </p:txBody>
      </p:sp>
      <p:sp>
        <p:nvSpPr>
          <p:cNvPr id="426" name="TB426"/>
          <p:cNvSpPr txBox="1"/>
          <p:nvPr/>
        </p:nvSpPr>
        <p:spPr>
          <a:xfrm>
            <a:off x="3250000" y="476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50" b="0" dirty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</a:rPr>
              <a:t>국내외 광고 플랫폼 제휴와 데이터 기반 광고 상품 기획</a:t>
            </a:r>
          </a:p>
        </p:txBody>
      </p:sp>
      <p:sp>
        <p:nvSpPr>
          <p:cNvPr id="427" name="TB427">
            <a:hlinkClick r:id="rIdNav23" action="ppaction://hlinksldjump" tooltip="23p 사례로 이동"/>
          </p:cNvPr>
          <p:cNvSpPr txBox="1"/>
          <p:nvPr/>
        </p:nvSpPr>
        <p:spPr>
          <a:xfrm>
            <a:off x="10200000" y="4410000"/>
            <a:ext cx="1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altLang="en-US" sz="1200" b="0" dirty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  <a:hlinkClick r:id="rIdNav23" action="ppaction://hlinksldjump" tooltip="23p 사례로 이동"/>
              </a:rPr>
              <a:t>23–28p</a:t>
            </a:r>
          </a:p>
        </p:txBody>
      </p:sp>
      <p:sp>
        <p:nvSpPr>
          <p:cNvPr id="428" name="TB428">
            <a:extLst>
              <a:ext uri="{FF2B5EF4-FFF2-40B4-BE49-F238E27FC236}">
                <a16:creationId xmlns:a16="http://schemas.microsoft.com/office/drawing/2014/main" id="{F000CFB7-ABEC-446E-91D8-262E2020D614}"/>
              </a:ext>
            </a:extLst>
          </p:cNvPr>
          <p:cNvSpPr>
            <a:spLocks noGrp="1"/>
          </p:cNvSpPr>
          <p:nvPr/>
        </p:nvSpPr>
        <p:spPr>
          <a:xfrm>
            <a:off x="800000" y="5230000"/>
            <a:ext cx="2000125" cy="3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2014.08.01 ~ 2017.09.19</a:t>
            </a:r>
          </a:p>
        </p:txBody>
      </p:sp>
      <p:sp>
        <p:nvSpPr>
          <p:cNvPr id="429" name="TB429">
            <a:extLst>
              <a:ext uri="{FF2B5EF4-FFF2-40B4-BE49-F238E27FC236}">
                <a16:creationId xmlns:a16="http://schemas.microsoft.com/office/drawing/2014/main" id="{633848E1-E7D5-47C5-AE7D-7D59672A2AB1}"/>
              </a:ext>
            </a:extLst>
          </p:cNvPr>
          <p:cNvSpPr>
            <a:spLocks noGrp="1"/>
          </p:cNvSpPr>
          <p:nvPr/>
        </p:nvSpPr>
        <p:spPr>
          <a:xfrm>
            <a:off x="800000" y="5530000"/>
            <a:ext cx="2000125" cy="2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050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rPr>
              <a:t>3년 1개월 19일</a:t>
            </a:r>
          </a:p>
        </p:txBody>
      </p:sp>
      <p:sp>
        <p:nvSpPr>
          <p:cNvPr id="430" name="RC430"/>
          <p:cNvSpPr/>
          <p:nvPr/>
        </p:nvSpPr>
        <p:spPr>
          <a:xfrm>
            <a:off x="2900000" y="5280000"/>
            <a:ext cx="130000" cy="130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31" name="TB431">
            <a:hlinkClick r:id="rIdNav29" action="ppaction://hlinksldjump" tooltip="29p 사례로 이동"/>
          </p:cNvPr>
          <p:cNvSpPr txBox="1"/>
          <p:nvPr/>
        </p:nvSpPr>
        <p:spPr>
          <a:xfrm>
            <a:off x="3250000" y="5220000"/>
            <a:ext cx="6600000" cy="3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  <a:hlinkClick r:id="rIdNav29" action="ppaction://hlinksldjump" tooltip="29p 사례로 이동"/>
              </a:rPr>
              <a:t>소셜업 · SNS 광고 오픈마켓 창업</a:t>
            </a:r>
          </a:p>
        </p:txBody>
      </p:sp>
      <p:sp>
        <p:nvSpPr>
          <p:cNvPr id="432" name="TB432"/>
          <p:cNvSpPr txBox="1"/>
          <p:nvPr/>
        </p:nvSpPr>
        <p:spPr>
          <a:xfrm>
            <a:off x="3250000" y="5590000"/>
            <a:ext cx="7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50" b="0" dirty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</a:rPr>
              <a:t>광고주 수요 검증부터 서비스 기획·출시·운영까지 총괄</a:t>
            </a:r>
          </a:p>
        </p:txBody>
      </p:sp>
      <p:sp>
        <p:nvSpPr>
          <p:cNvPr id="433" name="TB433">
            <a:hlinkClick r:id="rIdNav29" action="ppaction://hlinksldjump" tooltip="29p 사례로 이동"/>
          </p:cNvPr>
          <p:cNvSpPr txBox="1"/>
          <p:nvPr/>
        </p:nvSpPr>
        <p:spPr>
          <a:xfrm>
            <a:off x="10200000" y="5240000"/>
            <a:ext cx="1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altLang="en-US" sz="1200" b="0" dirty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  <a:hlinkClick r:id="rIdNav29" action="ppaction://hlinksldjump" tooltip="29p 사례로 이동"/>
              </a:rPr>
              <a:t>29p</a:t>
            </a:r>
          </a:p>
        </p:txBody>
      </p:sp>
      <p:sp>
        <p:nvSpPr>
          <p:cNvPr id="434" name="TB434">
            <a:extLst>
              <a:ext uri="{FF2B5EF4-FFF2-40B4-BE49-F238E27FC236}">
                <a16:creationId xmlns:a16="http://schemas.microsoft.com/office/drawing/2014/main" id="{9B3E5449-2F23-492C-97FB-2DCD3EC5ABA8}"/>
              </a:ext>
            </a:extLst>
          </p:cNvPr>
          <p:cNvSpPr>
            <a:spLocks noGrp="1"/>
          </p:cNvSpPr>
          <p:nvPr/>
        </p:nvSpPr>
        <p:spPr>
          <a:xfrm>
            <a:off x="1000125" y="6400800"/>
            <a:ext cx="10201275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00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100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슬라이드 쇼에서 회사명·페이지 번호 클릭 시 해당 사례로 이동</a:t>
            </a:r>
          </a:p>
        </p:txBody>
      </p:sp>
      <p:sp>
        <p:nvSpPr>
          <p:cNvPr id="435" name="TB435"/>
          <p:cNvSpPr txBox="1"/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altLang="en-US" sz="1200" b="0" dirty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2</a:t>
            </a:r>
          </a:p>
        </p:txBody>
      </p:sp>
      <p:sp>
        <p:nvSpPr>
          <p:cNvPr id="9900" name="Tenure basis">
            <a:extLst>
              <a:ext uri="{FF2B5EF4-FFF2-40B4-BE49-F238E27FC236}">
                <a16:creationId xmlns:a16="http://schemas.microsoft.com/office/drawing/2014/main" id="{60B459DB-1731-4A03-81E9-DA48D2EF9269}"/>
              </a:ext>
            </a:extLst>
          </p:cNvPr>
          <p:cNvSpPr>
            <a:spLocks noGrp="1"/>
          </p:cNvSpPr>
          <p:nvPr/>
        </p:nvSpPr>
        <p:spPr>
          <a:xfrm>
            <a:off x="1000125" y="6153150"/>
            <a:ext cx="102012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00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000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2026.09.21 기준 · 입·퇴사일 포함 실재직 4,281일 · 중복 3일 제외 · 총 경력 365일/년·30일/월 환산, 잔여일 생략</a:t>
            </a:r>
          </a:p>
        </p:txBody>
      </p:sp>
    </p:spTree>
  </p:cSld>
  <p:clrMapOvr>
    <a:masterClrMapping/>
  </p:clrMapOvr>
</p:sld>
</file>

<file path=ppt/slides/slide9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TB436"/>
          <p:cNvSpPr txBox="1"/>
          <p:nvPr/>
        </p:nvSpPr>
        <p:spPr>
          <a:xfrm>
            <a:off x="1000125" y="700000"/>
            <a:ext cx="7000000" cy="5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3000" b="1" dirty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핵심 성과</a:t>
            </a:r>
          </a:p>
        </p:txBody>
      </p:sp>
      <p:sp>
        <p:nvSpPr>
          <p:cNvPr id="437" name="TB437">
            <a:extLst>
              <a:ext uri="{FF2B5EF4-FFF2-40B4-BE49-F238E27FC236}">
                <a16:creationId xmlns:a16="http://schemas.microsoft.com/office/drawing/2014/main" id="{4695B53B-0285-4BED-A41D-5BD11FE3BAFF}"/>
              </a:ext>
            </a:extLst>
          </p:cNvPr>
          <p:cNvSpPr>
            <a:spLocks noGrp="1"/>
          </p:cNvSpPr>
          <p:nvPr/>
        </p:nvSpPr>
        <p:spPr>
          <a:xfrm>
            <a:off x="1000125" y="1240000"/>
            <a:ext cx="9000000" cy="3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00" b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00" b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</a:rPr>
              <a:t>데이터 기반 제품 성장과 신규 사업·AI 서비스 기획 성과</a:t>
            </a:r>
          </a:p>
        </p:txBody>
      </p:sp>
      <p:sp>
        <p:nvSpPr>
          <p:cNvPr id="438" name="RC438"/>
          <p:cNvSpPr/>
          <p:nvPr/>
        </p:nvSpPr>
        <p:spPr>
          <a:xfrm>
            <a:off x="1000125" y="1900000"/>
            <a:ext cx="3300000" cy="1580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2EA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439" name="TB439"/>
          <p:cNvSpPr txBox="1"/>
          <p:nvPr/>
        </p:nvSpPr>
        <p:spPr>
          <a:xfrm>
            <a:off x="1230125" y="2150000"/>
            <a:ext cx="29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2600" b="1" dirty="0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</a:rPr>
              <a:t>8배 · 28배</a:t>
            </a:r>
          </a:p>
        </p:txBody>
      </p:sp>
      <p:sp>
        <p:nvSpPr>
          <p:cNvPr id="440" name="TB440"/>
          <p:cNvSpPr txBox="1"/>
          <p:nvPr/>
        </p:nvSpPr>
        <p:spPr>
          <a:xfrm>
            <a:off x="1230125" y="2780000"/>
            <a:ext cx="29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50" b="1" dirty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대출 전환율 · 매출 증가</a:t>
            </a:r>
          </a:p>
        </p:txBody>
      </p:sp>
      <p:sp>
        <p:nvSpPr>
          <p:cNvPr id="441" name="TB441"/>
          <p:cNvSpPr txBox="1"/>
          <p:nvPr/>
        </p:nvSpPr>
        <p:spPr>
          <a:xfrm>
            <a:off x="1230125" y="3110000"/>
            <a:ext cx="29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050" b="0" dirty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</a:rPr>
              <a:t>토스 · 퍼널 병목 분석 개선</a:t>
            </a:r>
          </a:p>
        </p:txBody>
      </p:sp>
      <p:sp>
        <p:nvSpPr>
          <p:cNvPr id="442" name="RC442"/>
          <p:cNvSpPr/>
          <p:nvPr/>
        </p:nvSpPr>
        <p:spPr>
          <a:xfrm>
            <a:off x="4600125" y="1900000"/>
            <a:ext cx="3300000" cy="1580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2EA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443" name="TB443"/>
          <p:cNvSpPr txBox="1"/>
          <p:nvPr/>
        </p:nvSpPr>
        <p:spPr>
          <a:xfrm>
            <a:off x="4830125" y="2150000"/>
            <a:ext cx="29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2600" b="1" dirty="0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</a:rPr>
              <a:t>6개월</a:t>
            </a:r>
          </a:p>
        </p:txBody>
      </p:sp>
      <p:sp>
        <p:nvSpPr>
          <p:cNvPr id="444" name="TB444"/>
          <p:cNvSpPr txBox="1"/>
          <p:nvPr/>
        </p:nvSpPr>
        <p:spPr>
          <a:xfrm>
            <a:off x="4830125" y="2780000"/>
            <a:ext cx="29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50" b="1" dirty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규제 샌드박스 → 혁신금융서비스 지정</a:t>
            </a:r>
          </a:p>
        </p:txBody>
      </p:sp>
      <p:sp>
        <p:nvSpPr>
          <p:cNvPr id="445" name="TB445"/>
          <p:cNvSpPr txBox="1"/>
          <p:nvPr/>
        </p:nvSpPr>
        <p:spPr>
          <a:xfrm>
            <a:off x="4830125" y="3110000"/>
            <a:ext cx="29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050" b="0" dirty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</a:rPr>
              <a:t>토스 · 신규 중개 모델 기획</a:t>
            </a:r>
          </a:p>
        </p:txBody>
      </p:sp>
      <p:sp>
        <p:nvSpPr>
          <p:cNvPr id="446" name="RC446"/>
          <p:cNvSpPr/>
          <p:nvPr/>
        </p:nvSpPr>
        <p:spPr>
          <a:xfrm>
            <a:off x="8200125" y="1900000"/>
            <a:ext cx="3300000" cy="1580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2EA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447" name="TB447">
            <a:extLst>
              <a:ext uri="{FF2B5EF4-FFF2-40B4-BE49-F238E27FC236}">
                <a16:creationId xmlns:a16="http://schemas.microsoft.com/office/drawing/2014/main" id="{7E330266-27AC-4549-ACC7-9042E0EDD079}"/>
              </a:ext>
            </a:extLst>
          </p:cNvPr>
          <p:cNvSpPr>
            <a:spLocks noGrp="1"/>
          </p:cNvSpPr>
          <p:nvPr/>
        </p:nvSpPr>
        <p:spPr>
          <a:xfrm>
            <a:off x="8430125" y="2150000"/>
            <a:ext cx="2900000" cy="5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600" b="1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2600" b="1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</a:rPr>
              <a:t>22개 · 6배</a:t>
            </a:r>
          </a:p>
        </p:txBody>
      </p:sp>
      <p:sp>
        <p:nvSpPr>
          <p:cNvPr id="448" name="TB448">
            <a:extLst>
              <a:ext uri="{FF2B5EF4-FFF2-40B4-BE49-F238E27FC236}">
                <a16:creationId xmlns:a16="http://schemas.microsoft.com/office/drawing/2014/main" id="{58C96981-C462-4650-B85D-0E18C317B2AA}"/>
              </a:ext>
            </a:extLst>
          </p:cNvPr>
          <p:cNvSpPr>
            <a:spLocks noGrp="1"/>
          </p:cNvSpPr>
          <p:nvPr/>
        </p:nvSpPr>
        <p:spPr>
          <a:xfrm>
            <a:off x="8430125" y="2780000"/>
            <a:ext cx="2900000" cy="3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50" b="1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금융사 연동 · 신청 대비 실행률 개선</a:t>
            </a:r>
          </a:p>
        </p:txBody>
      </p:sp>
      <p:sp>
        <p:nvSpPr>
          <p:cNvPr id="449" name="TB449"/>
          <p:cNvSpPr txBox="1"/>
          <p:nvPr/>
        </p:nvSpPr>
        <p:spPr>
          <a:xfrm>
            <a:off x="8430125" y="3110000"/>
            <a:ext cx="29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050" b="0" dirty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</a:rPr>
              <a:t>토스 · 제휴 확대</a:t>
            </a:r>
          </a:p>
        </p:txBody>
      </p:sp>
      <p:sp>
        <p:nvSpPr>
          <p:cNvPr id="450" name="RC450"/>
          <p:cNvSpPr/>
          <p:nvPr/>
        </p:nvSpPr>
        <p:spPr>
          <a:xfrm>
            <a:off x="1000125" y="3740000"/>
            <a:ext cx="3300000" cy="1580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2EA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451" name="TB451"/>
          <p:cNvSpPr txBox="1"/>
          <p:nvPr/>
        </p:nvSpPr>
        <p:spPr>
          <a:xfrm>
            <a:off x="1230125" y="3990000"/>
            <a:ext cx="29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2600" b="1" dirty="0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</a:rPr>
              <a:t>22%↓ 38%↑</a:t>
            </a:r>
          </a:p>
        </p:txBody>
      </p:sp>
      <p:sp>
        <p:nvSpPr>
          <p:cNvPr id="452" name="TB452"/>
          <p:cNvSpPr txBox="1"/>
          <p:nvPr/>
        </p:nvSpPr>
        <p:spPr>
          <a:xfrm>
            <a:off x="1230125" y="4620000"/>
            <a:ext cx="29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50" b="1" dirty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보험 홈 이탈 · 혜택 전환율</a:t>
            </a:r>
          </a:p>
        </p:txBody>
      </p:sp>
      <p:sp>
        <p:nvSpPr>
          <p:cNvPr id="453" name="TB453"/>
          <p:cNvSpPr txBox="1"/>
          <p:nvPr/>
        </p:nvSpPr>
        <p:spPr>
          <a:xfrm>
            <a:off x="1230125" y="4950000"/>
            <a:ext cx="29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050" b="0" dirty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</a:rPr>
              <a:t>토스 · 보험 홈 개편</a:t>
            </a:r>
          </a:p>
        </p:txBody>
      </p:sp>
      <p:sp>
        <p:nvSpPr>
          <p:cNvPr id="454" name="RC454"/>
          <p:cNvSpPr/>
          <p:nvPr/>
        </p:nvSpPr>
        <p:spPr>
          <a:xfrm>
            <a:off x="4600125" y="3740000"/>
            <a:ext cx="3300000" cy="1580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2EA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455" name="TB455"/>
          <p:cNvSpPr txBox="1"/>
          <p:nvPr/>
        </p:nvSpPr>
        <p:spPr>
          <a:xfrm>
            <a:off x="4830125" y="3990000"/>
            <a:ext cx="29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2600" b="1" dirty="0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</a:rPr>
              <a:t>525회</a:t>
            </a:r>
          </a:p>
        </p:txBody>
      </p:sp>
      <p:sp>
        <p:nvSpPr>
          <p:cNvPr id="456" name="TB456"/>
          <p:cNvSpPr txBox="1"/>
          <p:nvPr/>
        </p:nvSpPr>
        <p:spPr>
          <a:xfrm>
            <a:off x="4830125" y="4620000"/>
            <a:ext cx="29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50" b="1" dirty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모델·프롬프트 비교 평가</a:t>
            </a:r>
          </a:p>
        </p:txBody>
      </p:sp>
      <p:sp>
        <p:nvSpPr>
          <p:cNvPr id="457" name="TB457">
            <a:extLst>
              <a:ext uri="{FF2B5EF4-FFF2-40B4-BE49-F238E27FC236}">
                <a16:creationId xmlns:a16="http://schemas.microsoft.com/office/drawing/2014/main" id="{7F038550-587B-49B2-8742-E9A25B55A115}"/>
              </a:ext>
            </a:extLst>
          </p:cNvPr>
          <p:cNvSpPr>
            <a:spLocks noGrp="1"/>
          </p:cNvSpPr>
          <p:nvPr/>
        </p:nvSpPr>
        <p:spPr>
          <a:xfrm>
            <a:off x="4830125" y="4950000"/>
            <a:ext cx="2900000" cy="2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050" b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</a:rPr>
              <a:t>카카오 · 오프라인 평가·개선 후보 제안</a:t>
            </a:r>
          </a:p>
        </p:txBody>
      </p:sp>
      <p:sp>
        <p:nvSpPr>
          <p:cNvPr id="458" name="RC458"/>
          <p:cNvSpPr/>
          <p:nvPr/>
        </p:nvSpPr>
        <p:spPr>
          <a:xfrm>
            <a:off x="8200125" y="3740000"/>
            <a:ext cx="3300000" cy="15800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2EA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459" name="TB459"/>
          <p:cNvSpPr txBox="1"/>
          <p:nvPr/>
        </p:nvSpPr>
        <p:spPr>
          <a:xfrm>
            <a:off x="8430125" y="3990000"/>
            <a:ext cx="2900000" cy="5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2600" b="1" dirty="0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</a:rPr>
              <a:t>연 1.2억</a:t>
            </a:r>
          </a:p>
        </p:txBody>
      </p:sp>
      <p:sp>
        <p:nvSpPr>
          <p:cNvPr id="460" name="TB460">
            <a:extLst>
              <a:ext uri="{FF2B5EF4-FFF2-40B4-BE49-F238E27FC236}">
                <a16:creationId xmlns:a16="http://schemas.microsoft.com/office/drawing/2014/main" id="{4FD585B6-5DF0-415B-9D42-FA6661DD43F7}"/>
              </a:ext>
            </a:extLst>
          </p:cNvPr>
          <p:cNvSpPr>
            <a:spLocks noGrp="1"/>
          </p:cNvSpPr>
          <p:nvPr/>
        </p:nvSpPr>
        <p:spPr>
          <a:xfrm>
            <a:off x="8430125" y="4620000"/>
            <a:ext cx="2900000" cy="3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50" b="1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50" b="1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부정 매체 관리에 따른 비용 절감</a:t>
            </a:r>
          </a:p>
        </p:txBody>
      </p:sp>
      <p:sp>
        <p:nvSpPr>
          <p:cNvPr id="461" name="TB461"/>
          <p:cNvSpPr txBox="1"/>
          <p:nvPr/>
        </p:nvSpPr>
        <p:spPr>
          <a:xfrm>
            <a:off x="8430125" y="4950000"/>
            <a:ext cx="2900000" cy="2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050" b="0" dirty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</a:rPr>
              <a:t>NHN DATA · 부정 매체 관리</a:t>
            </a:r>
          </a:p>
        </p:txBody>
      </p:sp>
      <p:sp>
        <p:nvSpPr>
          <p:cNvPr id="462" name="TB462"/>
          <p:cNvSpPr txBox="1"/>
          <p:nvPr/>
        </p:nvSpPr>
        <p:spPr>
          <a:xfrm>
            <a:off x="1000125" y="5850000"/>
            <a:ext cx="10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ko-KR" altLang="en-US" sz="1200" b="0" dirty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</a:rPr>
              <a:t>그 외 · SNS 광고 오픈마켓 창업 — 시드 투자 2억 원 유치, 인플루언서 약 1,300명 데이터 확보</a:t>
            </a:r>
          </a:p>
        </p:txBody>
      </p:sp>
      <p:sp>
        <p:nvSpPr>
          <p:cNvPr id="463" name="TB463"/>
          <p:cNvSpPr txBox="1"/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altLang="en-US" sz="1200" b="0" dirty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3</a:t>
            </a:r>
          </a:p>
        </p:txBody>
      </p:sp>
    </p:spTree>
  </p:cSld>
  <p:clrMapOvr>
    <a:masterClrMapping/>
  </p:clrMapOvr>
</p:sld>
</file>

<file path=ppt/slides/slide9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TB464">
            <a:extLst>
              <a:ext uri="{FF2B5EF4-FFF2-40B4-BE49-F238E27FC236}">
                <a16:creationId xmlns:a16="http://schemas.microsoft.com/office/drawing/2014/main" id="{4AEEF4BC-DEDA-4C60-968C-7BF8CE10BD51}"/>
              </a:ext>
            </a:extLst>
          </p:cNvPr>
          <p:cNvSpPr>
            <a:spLocks noGrp="1"/>
          </p:cNvSpPr>
          <p:nvPr/>
        </p:nvSpPr>
        <p:spPr>
          <a:xfrm>
            <a:off x="1000125" y="700000"/>
            <a:ext cx="7000000" cy="5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3000" b="1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일하는 방식</a:t>
            </a:r>
          </a:p>
        </p:txBody>
      </p:sp>
      <p:sp>
        <p:nvSpPr>
          <p:cNvPr id="465" name="TB465">
            <a:extLst>
              <a:ext uri="{FF2B5EF4-FFF2-40B4-BE49-F238E27FC236}">
                <a16:creationId xmlns:a16="http://schemas.microsoft.com/office/drawing/2014/main" id="{2C82EF9D-2CA0-4B8A-BC0F-D7BADF99BD6F}"/>
              </a:ext>
            </a:extLst>
          </p:cNvPr>
          <p:cNvSpPr>
            <a:spLocks noGrp="1"/>
          </p:cNvSpPr>
          <p:nvPr/>
        </p:nvSpPr>
        <p:spPr>
          <a:xfrm>
            <a:off x="1000125" y="1240000"/>
            <a:ext cx="9500000" cy="3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00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300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데이터 기반 원인 분석과 제품·제휴·제도 개선</a:t>
            </a:r>
          </a:p>
        </p:txBody>
      </p:sp>
      <p:sp>
        <p:nvSpPr>
          <p:cNvPr id="466" name="RC466"/>
          <p:cNvSpPr/>
          <p:nvPr/>
        </p:nvSpPr>
        <p:spPr>
          <a:xfrm>
            <a:off x="1000125" y="1860000"/>
            <a:ext cx="3295650" cy="44386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A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467" name="TB467">
            <a:extLst>
              <a:ext uri="{FF2B5EF4-FFF2-40B4-BE49-F238E27FC236}">
                <a16:creationId xmlns:a16="http://schemas.microsoft.com/office/drawing/2014/main" id="{CB1D1E06-C573-4830-9FC7-1A7AE99851D0}"/>
              </a:ext>
            </a:extLst>
          </p:cNvPr>
          <p:cNvSpPr>
            <a:spLocks noGrp="1"/>
          </p:cNvSpPr>
          <p:nvPr/>
        </p:nvSpPr>
        <p:spPr>
          <a:xfrm>
            <a:off x="1219200" y="2057400"/>
            <a:ext cx="285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토스 · 보험 홈</a:t>
            </a:r>
          </a:p>
        </p:txBody>
      </p:sp>
      <p:sp>
        <p:nvSpPr>
          <p:cNvPr id="468" name="TB468">
            <a:extLst>
              <a:ext uri="{FF2B5EF4-FFF2-40B4-BE49-F238E27FC236}">
                <a16:creationId xmlns:a16="http://schemas.microsoft.com/office/drawing/2014/main" id="{6DE0CE20-8287-4B1C-96BA-BDE0C6BB4DB7}"/>
              </a:ext>
            </a:extLst>
          </p:cNvPr>
          <p:cNvSpPr>
            <a:spLocks noGrp="1"/>
          </p:cNvSpPr>
          <p:nvPr/>
        </p:nvSpPr>
        <p:spPr>
          <a:xfrm>
            <a:off x="1219200" y="2371725"/>
            <a:ext cx="2857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rPr>
              <a:t>광고 지면 축소와</a:t>
            </a:r>
          </a:p>
          <a:p>
            <a:pPr algn="l">
              <a:defRPr sz="1875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rPr>
              <a:t>전환 성장</a:t>
            </a:r>
          </a:p>
        </p:txBody>
      </p:sp>
      <p:sp>
        <p:nvSpPr>
          <p:cNvPr id="469" name="RC469"/>
          <p:cNvSpPr/>
          <p:nvPr/>
        </p:nvSpPr>
        <p:spPr>
          <a:xfrm>
            <a:off x="1143000" y="3038475"/>
            <a:ext cx="62000" cy="62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70" name="TB470">
            <a:extLst>
              <a:ext uri="{FF2B5EF4-FFF2-40B4-BE49-F238E27FC236}">
                <a16:creationId xmlns:a16="http://schemas.microsoft.com/office/drawing/2014/main" id="{0C294EA1-5E1E-4CD7-946C-A03925EB8A04}"/>
              </a:ext>
            </a:extLst>
          </p:cNvPr>
          <p:cNvSpPr>
            <a:spLocks noGrp="1"/>
          </p:cNvSpPr>
          <p:nvPr/>
        </p:nvSpPr>
        <p:spPr>
          <a:xfrm>
            <a:off x="1257300" y="3000375"/>
            <a:ext cx="2800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1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</a:rPr>
              <a:t>관찰</a:t>
            </a:r>
          </a:p>
        </p:txBody>
      </p:sp>
      <p:sp>
        <p:nvSpPr>
          <p:cNvPr id="471" name="TB471">
            <a:extLst>
              <a:ext uri="{FF2B5EF4-FFF2-40B4-BE49-F238E27FC236}">
                <a16:creationId xmlns:a16="http://schemas.microsoft.com/office/drawing/2014/main" id="{9C446A53-275B-4961-B235-38E2DB71ADC4}"/>
              </a:ext>
            </a:extLst>
          </p:cNvPr>
          <p:cNvSpPr>
            <a:spLocks noGrp="1"/>
          </p:cNvSpPr>
          <p:nvPr/>
        </p:nvSpPr>
        <p:spPr>
          <a:xfrm>
            <a:off x="1257300" y="3276600"/>
            <a:ext cx="28003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광고 중심 지면의 낮은 클릭률 확인</a:t>
            </a:r>
          </a:p>
        </p:txBody>
      </p:sp>
      <p:sp>
        <p:nvSpPr>
          <p:cNvPr id="472" name="RC472"/>
          <p:cNvSpPr/>
          <p:nvPr/>
        </p:nvSpPr>
        <p:spPr>
          <a:xfrm>
            <a:off x="1143000" y="3781425"/>
            <a:ext cx="62000" cy="62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73" name="TB473">
            <a:extLst>
              <a:ext uri="{FF2B5EF4-FFF2-40B4-BE49-F238E27FC236}">
                <a16:creationId xmlns:a16="http://schemas.microsoft.com/office/drawing/2014/main" id="{C5B0907F-F3B7-400A-854F-A1C1D4F4612C}"/>
              </a:ext>
            </a:extLst>
          </p:cNvPr>
          <p:cNvSpPr>
            <a:spLocks noGrp="1"/>
          </p:cNvSpPr>
          <p:nvPr/>
        </p:nvSpPr>
        <p:spPr>
          <a:xfrm>
            <a:off x="1257300" y="3743325"/>
            <a:ext cx="2800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1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</a:rPr>
              <a:t>검증</a:t>
            </a:r>
          </a:p>
        </p:txBody>
      </p:sp>
      <p:sp>
        <p:nvSpPr>
          <p:cNvPr id="474" name="TB474">
            <a:extLst>
              <a:ext uri="{FF2B5EF4-FFF2-40B4-BE49-F238E27FC236}">
                <a16:creationId xmlns:a16="http://schemas.microsoft.com/office/drawing/2014/main" id="{40335E08-67BB-45B3-965C-E5585697CAE9}"/>
              </a:ext>
            </a:extLst>
          </p:cNvPr>
          <p:cNvSpPr>
            <a:spLocks noGrp="1"/>
          </p:cNvSpPr>
          <p:nvPr/>
        </p:nvSpPr>
        <p:spPr>
          <a:xfrm>
            <a:off x="1257300" y="4019550"/>
            <a:ext cx="28003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사용성 인터뷰·이용 데이터 분석</a:t>
            </a:r>
          </a:p>
          <a:p>
            <a:pPr marL="133350" indent="-104775" algn="l">
              <a:spcAft>
                <a:spcPts val="75"/>
              </a:spcAft>
              <a:buChar char="-"/>
              <a:def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보유 보험 확인·분석 수요 확인</a:t>
            </a:r>
          </a:p>
        </p:txBody>
      </p:sp>
      <p:sp>
        <p:nvSpPr>
          <p:cNvPr id="475" name="RC475"/>
          <p:cNvSpPr/>
          <p:nvPr/>
        </p:nvSpPr>
        <p:spPr>
          <a:xfrm>
            <a:off x="1143000" y="4686300"/>
            <a:ext cx="62000" cy="62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76" name="TB476">
            <a:extLst>
              <a:ext uri="{FF2B5EF4-FFF2-40B4-BE49-F238E27FC236}">
                <a16:creationId xmlns:a16="http://schemas.microsoft.com/office/drawing/2014/main" id="{CAC81024-0828-4363-87EF-B6BDDE16EC2B}"/>
              </a:ext>
            </a:extLst>
          </p:cNvPr>
          <p:cNvSpPr>
            <a:spLocks noGrp="1"/>
          </p:cNvSpPr>
          <p:nvPr/>
        </p:nvSpPr>
        <p:spPr>
          <a:xfrm>
            <a:off x="1257300" y="4648200"/>
            <a:ext cx="2800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1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</a:rPr>
              <a:t>판단</a:t>
            </a:r>
          </a:p>
        </p:txBody>
      </p:sp>
      <p:sp>
        <p:nvSpPr>
          <p:cNvPr id="477" name="TB477">
            <a:extLst>
              <a:ext uri="{FF2B5EF4-FFF2-40B4-BE49-F238E27FC236}">
                <a16:creationId xmlns:a16="http://schemas.microsoft.com/office/drawing/2014/main" id="{C5DAE2B9-1D07-485F-AF12-DAE54F069E1D}"/>
              </a:ext>
            </a:extLst>
          </p:cNvPr>
          <p:cNvSpPr>
            <a:spLocks noGrp="1"/>
          </p:cNvSpPr>
          <p:nvPr/>
        </p:nvSpPr>
        <p:spPr>
          <a:xfrm>
            <a:off x="1257300" y="4924425"/>
            <a:ext cx="28003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보험 관리 기능의 전면 배치</a:t>
            </a:r>
          </a:p>
          <a:p>
            <a:pPr marL="133350" indent="-104775" algn="l">
              <a:spcAft>
                <a:spcPts val="75"/>
              </a:spcAft>
              <a:buChar char="-"/>
              <a:def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혜택·상담으로 연결하는 구조 개편</a:t>
            </a:r>
          </a:p>
        </p:txBody>
      </p:sp>
      <p:sp>
        <p:nvSpPr>
          <p:cNvPr id="478" name="RC478"/>
          <p:cNvSpPr/>
          <p:nvPr/>
        </p:nvSpPr>
        <p:spPr>
          <a:xfrm>
            <a:off x="1152525" y="5505450"/>
            <a:ext cx="2990850" cy="7239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79" name="TB479">
            <a:extLst>
              <a:ext uri="{FF2B5EF4-FFF2-40B4-BE49-F238E27FC236}">
                <a16:creationId xmlns:a16="http://schemas.microsoft.com/office/drawing/2014/main" id="{43E083A1-1483-467B-A673-EBCBE74B2682}"/>
              </a:ext>
            </a:extLst>
          </p:cNvPr>
          <p:cNvSpPr>
            <a:spLocks noGrp="1"/>
          </p:cNvSpPr>
          <p:nvPr/>
        </p:nvSpPr>
        <p:spPr>
          <a:xfrm>
            <a:off x="1257300" y="5553075"/>
            <a:ext cx="2800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</a:rPr>
              <a:t>결과</a:t>
            </a:r>
          </a:p>
        </p:txBody>
      </p:sp>
      <p:sp>
        <p:nvSpPr>
          <p:cNvPr id="480" name="TB480">
            <a:extLst>
              <a:ext uri="{FF2B5EF4-FFF2-40B4-BE49-F238E27FC236}">
                <a16:creationId xmlns:a16="http://schemas.microsoft.com/office/drawing/2014/main" id="{B1E3653F-6A64-4529-AB19-EDA2DE9D9378}"/>
              </a:ext>
            </a:extLst>
          </p:cNvPr>
          <p:cNvSpPr>
            <a:spLocks noGrp="1"/>
          </p:cNvSpPr>
          <p:nvPr/>
        </p:nvSpPr>
        <p:spPr>
          <a:xfrm>
            <a:off x="1228725" y="5800725"/>
            <a:ext cx="28384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250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50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rPr>
              <a:t>이탈 </a:t>
            </a:r>
            <a:r>
              <a:rPr sz="125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22%</a:t>
            </a:r>
            <a:r>
              <a:rPr sz="1250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rPr>
              <a:t> 감소·혜택 전환 </a:t>
            </a:r>
            <a:r>
              <a:rPr sz="125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38%</a:t>
            </a:r>
            <a:r>
              <a:rPr sz="1250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rPr>
              <a:t> 증가</a:t>
            </a:r>
          </a:p>
          <a:p>
            <a:pPr marL="133350" indent="-104775" algn="l">
              <a:spcAft>
                <a:spcPts val="75"/>
              </a:spcAft>
              <a:buChar char="-"/>
              <a:defRPr sz="1250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50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rPr>
              <a:t>상담 신청 전환율 </a:t>
            </a:r>
            <a:r>
              <a:rPr sz="125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15%</a:t>
            </a:r>
            <a:r>
              <a:rPr sz="1250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rPr>
              <a:t> 증가</a:t>
            </a:r>
          </a:p>
        </p:txBody>
      </p:sp>
      <p:sp>
        <p:nvSpPr>
          <p:cNvPr id="481" name="RC481"/>
          <p:cNvSpPr/>
          <p:nvPr/>
        </p:nvSpPr>
        <p:spPr>
          <a:xfrm>
            <a:off x="4600575" y="1860000"/>
            <a:ext cx="3295650" cy="44386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A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482" name="TB482">
            <a:extLst>
              <a:ext uri="{FF2B5EF4-FFF2-40B4-BE49-F238E27FC236}">
                <a16:creationId xmlns:a16="http://schemas.microsoft.com/office/drawing/2014/main" id="{5388B2C2-3C59-480E-BFFC-AE5034E6668B}"/>
              </a:ext>
            </a:extLst>
          </p:cNvPr>
          <p:cNvSpPr>
            <a:spLocks noGrp="1"/>
          </p:cNvSpPr>
          <p:nvPr/>
        </p:nvSpPr>
        <p:spPr>
          <a:xfrm>
            <a:off x="4819650" y="2057400"/>
            <a:ext cx="285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토스 · 후순위 대출</a:t>
            </a:r>
          </a:p>
        </p:txBody>
      </p:sp>
      <p:sp>
        <p:nvSpPr>
          <p:cNvPr id="483" name="TB483">
            <a:extLst>
              <a:ext uri="{FF2B5EF4-FFF2-40B4-BE49-F238E27FC236}">
                <a16:creationId xmlns:a16="http://schemas.microsoft.com/office/drawing/2014/main" id="{B8C9F926-E086-4991-8B68-2F47C2F51170}"/>
              </a:ext>
            </a:extLst>
          </p:cNvPr>
          <p:cNvSpPr>
            <a:spLocks noGrp="1"/>
          </p:cNvSpPr>
          <p:nvPr/>
        </p:nvSpPr>
        <p:spPr>
          <a:xfrm>
            <a:off x="4819650" y="2371725"/>
            <a:ext cx="2857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rPr>
              <a:t>상담 원문 분석을 통한</a:t>
            </a:r>
          </a:p>
          <a:p>
            <a:pPr algn="l">
              <a:defRPr sz="1875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rPr>
              <a:t>신규 매출원 발굴</a:t>
            </a:r>
          </a:p>
        </p:txBody>
      </p:sp>
      <p:sp>
        <p:nvSpPr>
          <p:cNvPr id="484" name="RC484"/>
          <p:cNvSpPr/>
          <p:nvPr/>
        </p:nvSpPr>
        <p:spPr>
          <a:xfrm>
            <a:off x="4743450" y="3038475"/>
            <a:ext cx="62000" cy="62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85" name="TB485">
            <a:extLst>
              <a:ext uri="{FF2B5EF4-FFF2-40B4-BE49-F238E27FC236}">
                <a16:creationId xmlns:a16="http://schemas.microsoft.com/office/drawing/2014/main" id="{28631DE4-3BCC-4B7A-9B1E-F6AA4A74B2A1}"/>
              </a:ext>
            </a:extLst>
          </p:cNvPr>
          <p:cNvSpPr>
            <a:spLocks noGrp="1"/>
          </p:cNvSpPr>
          <p:nvPr/>
        </p:nvSpPr>
        <p:spPr>
          <a:xfrm>
            <a:off x="4857750" y="3000375"/>
            <a:ext cx="2800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1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</a:rPr>
              <a:t>관찰</a:t>
            </a:r>
          </a:p>
        </p:txBody>
      </p:sp>
      <p:sp>
        <p:nvSpPr>
          <p:cNvPr id="486" name="TB486">
            <a:extLst>
              <a:ext uri="{FF2B5EF4-FFF2-40B4-BE49-F238E27FC236}">
                <a16:creationId xmlns:a16="http://schemas.microsoft.com/office/drawing/2014/main" id="{17BE12B1-BF63-446F-9F7B-5F5F44F66B27}"/>
              </a:ext>
            </a:extLst>
          </p:cNvPr>
          <p:cNvSpPr>
            <a:spLocks noGrp="1"/>
          </p:cNvSpPr>
          <p:nvPr/>
        </p:nvSpPr>
        <p:spPr>
          <a:xfrm>
            <a:off x="4857750" y="3276600"/>
            <a:ext cx="28003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상담 신청 이후 대출 미실행 확인</a:t>
            </a:r>
          </a:p>
        </p:txBody>
      </p:sp>
      <p:sp>
        <p:nvSpPr>
          <p:cNvPr id="487" name="RC487"/>
          <p:cNvSpPr/>
          <p:nvPr/>
        </p:nvSpPr>
        <p:spPr>
          <a:xfrm>
            <a:off x="4743450" y="3781425"/>
            <a:ext cx="62000" cy="62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88" name="TB488">
            <a:extLst>
              <a:ext uri="{FF2B5EF4-FFF2-40B4-BE49-F238E27FC236}">
                <a16:creationId xmlns:a16="http://schemas.microsoft.com/office/drawing/2014/main" id="{528BCBF5-26AA-48E6-9EA3-1C17F4D24AA4}"/>
              </a:ext>
            </a:extLst>
          </p:cNvPr>
          <p:cNvSpPr>
            <a:spLocks noGrp="1"/>
          </p:cNvSpPr>
          <p:nvPr/>
        </p:nvSpPr>
        <p:spPr>
          <a:xfrm>
            <a:off x="4857750" y="3743325"/>
            <a:ext cx="2800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1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</a:rPr>
              <a:t>검증</a:t>
            </a:r>
          </a:p>
        </p:txBody>
      </p:sp>
      <p:sp>
        <p:nvSpPr>
          <p:cNvPr id="489" name="TB489">
            <a:extLst>
              <a:ext uri="{FF2B5EF4-FFF2-40B4-BE49-F238E27FC236}">
                <a16:creationId xmlns:a16="http://schemas.microsoft.com/office/drawing/2014/main" id="{AE64E0FB-EF49-422E-9687-FD43C82204A7}"/>
              </a:ext>
            </a:extLst>
          </p:cNvPr>
          <p:cNvSpPr>
            <a:spLocks noGrp="1"/>
          </p:cNvSpPr>
          <p:nvPr/>
        </p:nvSpPr>
        <p:spPr>
          <a:xfrm>
            <a:off x="4857750" y="4019550"/>
            <a:ext cx="28003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제휴사 콜센터 상담 원문 수천 건 분석</a:t>
            </a:r>
          </a:p>
          <a:p>
            <a:pPr marL="133350" indent="-104775" algn="l">
              <a:spcAft>
                <a:spcPts val="75"/>
              </a:spcAft>
              <a:buChar char="-"/>
              <a:def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한도 부족에 따른 미실행 비중 34% 확인</a:t>
            </a:r>
          </a:p>
        </p:txBody>
      </p:sp>
      <p:sp>
        <p:nvSpPr>
          <p:cNvPr id="490" name="RC490"/>
          <p:cNvSpPr/>
          <p:nvPr/>
        </p:nvSpPr>
        <p:spPr>
          <a:xfrm>
            <a:off x="4743450" y="4686300"/>
            <a:ext cx="62000" cy="62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91" name="TB491">
            <a:extLst>
              <a:ext uri="{FF2B5EF4-FFF2-40B4-BE49-F238E27FC236}">
                <a16:creationId xmlns:a16="http://schemas.microsoft.com/office/drawing/2014/main" id="{E9511295-A441-40EE-ACC0-70DEFFD97DC6}"/>
              </a:ext>
            </a:extLst>
          </p:cNvPr>
          <p:cNvSpPr>
            <a:spLocks noGrp="1"/>
          </p:cNvSpPr>
          <p:nvPr/>
        </p:nvSpPr>
        <p:spPr>
          <a:xfrm>
            <a:off x="4857750" y="4648200"/>
            <a:ext cx="2800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1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</a:rPr>
              <a:t>판단</a:t>
            </a:r>
          </a:p>
        </p:txBody>
      </p:sp>
      <p:sp>
        <p:nvSpPr>
          <p:cNvPr id="492" name="TB492">
            <a:extLst>
              <a:ext uri="{FF2B5EF4-FFF2-40B4-BE49-F238E27FC236}">
                <a16:creationId xmlns:a16="http://schemas.microsoft.com/office/drawing/2014/main" id="{4651763E-7282-43E7-BD8E-F6DC633AA5B2}"/>
              </a:ext>
            </a:extLst>
          </p:cNvPr>
          <p:cNvSpPr>
            <a:spLocks noGrp="1"/>
          </p:cNvSpPr>
          <p:nvPr/>
        </p:nvSpPr>
        <p:spPr>
          <a:xfrm>
            <a:off x="4857750" y="4924425"/>
            <a:ext cx="28003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LTV 90% 취급·DSR 미적용 상품을 보유한 후순위 대출 금융사 발굴·제휴</a:t>
            </a:r>
          </a:p>
        </p:txBody>
      </p:sp>
      <p:sp>
        <p:nvSpPr>
          <p:cNvPr id="493" name="RC493"/>
          <p:cNvSpPr/>
          <p:nvPr/>
        </p:nvSpPr>
        <p:spPr>
          <a:xfrm>
            <a:off x="4752975" y="5505450"/>
            <a:ext cx="2990850" cy="7239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94" name="TB494">
            <a:extLst>
              <a:ext uri="{FF2B5EF4-FFF2-40B4-BE49-F238E27FC236}">
                <a16:creationId xmlns:a16="http://schemas.microsoft.com/office/drawing/2014/main" id="{F8184664-63A5-45AF-A9E7-24E265C1F269}"/>
              </a:ext>
            </a:extLst>
          </p:cNvPr>
          <p:cNvSpPr>
            <a:spLocks noGrp="1"/>
          </p:cNvSpPr>
          <p:nvPr/>
        </p:nvSpPr>
        <p:spPr>
          <a:xfrm>
            <a:off x="4857750" y="5553075"/>
            <a:ext cx="2800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</a:rPr>
              <a:t>결과</a:t>
            </a:r>
          </a:p>
        </p:txBody>
      </p:sp>
      <p:sp>
        <p:nvSpPr>
          <p:cNvPr id="495" name="TB495">
            <a:extLst>
              <a:ext uri="{FF2B5EF4-FFF2-40B4-BE49-F238E27FC236}">
                <a16:creationId xmlns:a16="http://schemas.microsoft.com/office/drawing/2014/main" id="{A5B6F4FC-73A3-4E27-B68D-4649884D5DF9}"/>
              </a:ext>
            </a:extLst>
          </p:cNvPr>
          <p:cNvSpPr>
            <a:spLocks noGrp="1"/>
          </p:cNvSpPr>
          <p:nvPr/>
        </p:nvSpPr>
        <p:spPr>
          <a:xfrm>
            <a:off x="4829175" y="5800725"/>
            <a:ext cx="28384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250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50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rPr>
              <a:t>전체 매출 중 후순위 제휴사 비중 최대 </a:t>
            </a:r>
            <a:r>
              <a:rPr sz="125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28%</a:t>
            </a:r>
          </a:p>
        </p:txBody>
      </p:sp>
      <p:sp>
        <p:nvSpPr>
          <p:cNvPr id="496" name="RC496"/>
          <p:cNvSpPr/>
          <p:nvPr/>
        </p:nvSpPr>
        <p:spPr>
          <a:xfrm>
            <a:off x="8201025" y="1860000"/>
            <a:ext cx="3295650" cy="44386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A"/>
            </a:solidFill>
          </a:ln>
        </p:spPr>
        <p:txBody>
          <a:bodyPr/>
          <a:lstStyle/>
          <a:p>
            <a:endParaRPr lang="ko-KR"/>
          </a:p>
        </p:txBody>
      </p:sp>
      <p:sp>
        <p:nvSpPr>
          <p:cNvPr id="497" name="TB497">
            <a:extLst>
              <a:ext uri="{FF2B5EF4-FFF2-40B4-BE49-F238E27FC236}">
                <a16:creationId xmlns:a16="http://schemas.microsoft.com/office/drawing/2014/main" id="{CEDACAB4-4F59-414B-9666-E71F1EAE41BB}"/>
              </a:ext>
            </a:extLst>
          </p:cNvPr>
          <p:cNvSpPr>
            <a:spLocks noGrp="1"/>
          </p:cNvSpPr>
          <p:nvPr/>
        </p:nvSpPr>
        <p:spPr>
          <a:xfrm>
            <a:off x="8420100" y="2057400"/>
            <a:ext cx="285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777777"/>
                </a:solidFill>
                <a:latin typeface="Pretendard Medium"/>
                <a:ea typeface="Pretendard Medium"/>
                <a:cs typeface="Pretendard Medium"/>
              </a:rPr>
              <a:t>토스 · 대출 모집인 중개</a:t>
            </a:r>
          </a:p>
        </p:txBody>
      </p:sp>
      <p:sp>
        <p:nvSpPr>
          <p:cNvPr id="498" name="TB498">
            <a:extLst>
              <a:ext uri="{FF2B5EF4-FFF2-40B4-BE49-F238E27FC236}">
                <a16:creationId xmlns:a16="http://schemas.microsoft.com/office/drawing/2014/main" id="{F279AA59-130B-4CEC-9C39-7C72675F42BB}"/>
              </a:ext>
            </a:extLst>
          </p:cNvPr>
          <p:cNvSpPr>
            <a:spLocks noGrp="1"/>
          </p:cNvSpPr>
          <p:nvPr/>
        </p:nvSpPr>
        <p:spPr>
          <a:xfrm>
            <a:off x="8420100" y="2371725"/>
            <a:ext cx="2857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rPr>
              <a:t>규제특례를 통한</a:t>
            </a:r>
          </a:p>
          <a:p>
            <a:pPr algn="l">
              <a:defRPr sz="1875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875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rPr>
              <a:t>신규 사업 기회 확보</a:t>
            </a:r>
          </a:p>
        </p:txBody>
      </p:sp>
      <p:sp>
        <p:nvSpPr>
          <p:cNvPr id="499" name="RC499"/>
          <p:cNvSpPr/>
          <p:nvPr/>
        </p:nvSpPr>
        <p:spPr>
          <a:xfrm>
            <a:off x="8343900" y="3038475"/>
            <a:ext cx="62000" cy="62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500" name="TB500">
            <a:extLst>
              <a:ext uri="{FF2B5EF4-FFF2-40B4-BE49-F238E27FC236}">
                <a16:creationId xmlns:a16="http://schemas.microsoft.com/office/drawing/2014/main" id="{1E09B18D-A245-4B38-AAB8-EB4F00218CAD}"/>
              </a:ext>
            </a:extLst>
          </p:cNvPr>
          <p:cNvSpPr>
            <a:spLocks noGrp="1"/>
          </p:cNvSpPr>
          <p:nvPr/>
        </p:nvSpPr>
        <p:spPr>
          <a:xfrm>
            <a:off x="8458200" y="3000375"/>
            <a:ext cx="2800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1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</a:rPr>
              <a:t>관찰</a:t>
            </a:r>
          </a:p>
        </p:txBody>
      </p:sp>
      <p:sp>
        <p:nvSpPr>
          <p:cNvPr id="501" name="TB501">
            <a:extLst>
              <a:ext uri="{FF2B5EF4-FFF2-40B4-BE49-F238E27FC236}">
                <a16:creationId xmlns:a16="http://schemas.microsoft.com/office/drawing/2014/main" id="{AD1A834F-8775-4690-A891-B7352159B267}"/>
              </a:ext>
            </a:extLst>
          </p:cNvPr>
          <p:cNvSpPr>
            <a:spLocks noGrp="1"/>
          </p:cNvSpPr>
          <p:nvPr/>
        </p:nvSpPr>
        <p:spPr>
          <a:xfrm>
            <a:off x="8458200" y="3276600"/>
            <a:ext cx="28003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주택담보대출 온라인 이용 비중 약 6%</a:t>
            </a:r>
          </a:p>
        </p:txBody>
      </p:sp>
      <p:sp>
        <p:nvSpPr>
          <p:cNvPr id="502" name="RC502"/>
          <p:cNvSpPr/>
          <p:nvPr/>
        </p:nvSpPr>
        <p:spPr>
          <a:xfrm>
            <a:off x="8343900" y="3781425"/>
            <a:ext cx="62000" cy="62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503" name="TB503">
            <a:extLst>
              <a:ext uri="{FF2B5EF4-FFF2-40B4-BE49-F238E27FC236}">
                <a16:creationId xmlns:a16="http://schemas.microsoft.com/office/drawing/2014/main" id="{D45EB3B2-ED0C-4817-96E9-7DDC73489AD1}"/>
              </a:ext>
            </a:extLst>
          </p:cNvPr>
          <p:cNvSpPr>
            <a:spLocks noGrp="1"/>
          </p:cNvSpPr>
          <p:nvPr/>
        </p:nvSpPr>
        <p:spPr>
          <a:xfrm>
            <a:off x="8458200" y="3743325"/>
            <a:ext cx="2800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1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</a:rPr>
              <a:t>검증</a:t>
            </a:r>
          </a:p>
        </p:txBody>
      </p:sp>
      <p:sp>
        <p:nvSpPr>
          <p:cNvPr id="504" name="TB504">
            <a:extLst>
              <a:ext uri="{FF2B5EF4-FFF2-40B4-BE49-F238E27FC236}">
                <a16:creationId xmlns:a16="http://schemas.microsoft.com/office/drawing/2014/main" id="{D012B296-7FF6-4E0F-AB93-803564709FC1}"/>
              </a:ext>
            </a:extLst>
          </p:cNvPr>
          <p:cNvSpPr>
            <a:spLocks noGrp="1"/>
          </p:cNvSpPr>
          <p:nvPr/>
        </p:nvSpPr>
        <p:spPr>
          <a:xfrm>
            <a:off x="8458200" y="4019550"/>
            <a:ext cx="28003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은행 대출 실행의 50~70%가 모집인 경유</a:t>
            </a:r>
          </a:p>
          <a:p>
            <a:pPr marL="133350" indent="-104775" algn="l">
              <a:spcAft>
                <a:spcPts val="75"/>
              </a:spcAft>
              <a:buChar char="-"/>
              <a:def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고령층의 모집인 이용 수요 확인</a:t>
            </a:r>
          </a:p>
        </p:txBody>
      </p:sp>
      <p:sp>
        <p:nvSpPr>
          <p:cNvPr id="505" name="RC505"/>
          <p:cNvSpPr/>
          <p:nvPr/>
        </p:nvSpPr>
        <p:spPr>
          <a:xfrm>
            <a:off x="8343900" y="4686300"/>
            <a:ext cx="62000" cy="620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506" name="TB506">
            <a:extLst>
              <a:ext uri="{FF2B5EF4-FFF2-40B4-BE49-F238E27FC236}">
                <a16:creationId xmlns:a16="http://schemas.microsoft.com/office/drawing/2014/main" id="{9CB504B6-4A44-44E9-8930-D578816B7B79}"/>
              </a:ext>
            </a:extLst>
          </p:cNvPr>
          <p:cNvSpPr>
            <a:spLocks noGrp="1"/>
          </p:cNvSpPr>
          <p:nvPr/>
        </p:nvSpPr>
        <p:spPr>
          <a:xfrm>
            <a:off x="8458200" y="4648200"/>
            <a:ext cx="2800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1">
                <a:solidFill>
                  <a:srgbClr val="1F3864"/>
                </a:solidFill>
                <a:latin typeface="Pretendard Medium"/>
                <a:ea typeface="Pretendard Medium"/>
                <a:cs typeface="Pretendard Medium"/>
              </a:rPr>
              <a:t>판단</a:t>
            </a:r>
          </a:p>
        </p:txBody>
      </p:sp>
      <p:sp>
        <p:nvSpPr>
          <p:cNvPr id="507" name="TB507">
            <a:extLst>
              <a:ext uri="{FF2B5EF4-FFF2-40B4-BE49-F238E27FC236}">
                <a16:creationId xmlns:a16="http://schemas.microsoft.com/office/drawing/2014/main" id="{86FD931C-6291-40EC-B846-45C91725E085}"/>
              </a:ext>
            </a:extLst>
          </p:cNvPr>
          <p:cNvSpPr>
            <a:spLocks noGrp="1"/>
          </p:cNvSpPr>
          <p:nvPr/>
        </p:nvSpPr>
        <p:spPr>
          <a:xfrm>
            <a:off x="8458200" y="4924425"/>
            <a:ext cx="28003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금소법상 재위탁 금지 쟁점 확인</a:t>
            </a:r>
          </a:p>
          <a:p>
            <a:pPr marL="133350" indent="-104775" algn="l">
              <a:spcAft>
                <a:spcPts val="75"/>
              </a:spcAft>
              <a:buChar char="-"/>
              <a:def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13" b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규제 샌드박스 신청·심사위원회 발표</a:t>
            </a:r>
          </a:p>
        </p:txBody>
      </p:sp>
      <p:sp>
        <p:nvSpPr>
          <p:cNvPr id="508" name="RC508"/>
          <p:cNvSpPr/>
          <p:nvPr/>
        </p:nvSpPr>
        <p:spPr>
          <a:xfrm>
            <a:off x="8353425" y="5505450"/>
            <a:ext cx="2990850" cy="723900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509" name="TB509">
            <a:extLst>
              <a:ext uri="{FF2B5EF4-FFF2-40B4-BE49-F238E27FC236}">
                <a16:creationId xmlns:a16="http://schemas.microsoft.com/office/drawing/2014/main" id="{0B0EE1DA-71CC-4A01-ABEF-90B7D4390273}"/>
              </a:ext>
            </a:extLst>
          </p:cNvPr>
          <p:cNvSpPr>
            <a:spLocks noGrp="1"/>
          </p:cNvSpPr>
          <p:nvPr/>
        </p:nvSpPr>
        <p:spPr>
          <a:xfrm>
            <a:off x="8458200" y="5553075"/>
            <a:ext cx="2800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00" b="0">
                <a:solidFill>
                  <a:srgbClr val="767676"/>
                </a:solidFill>
                <a:latin typeface="Pretendard Medium"/>
                <a:ea typeface="Pretendard Medium"/>
                <a:cs typeface="Pretendard Medium"/>
              </a:rPr>
              <a:t>결과</a:t>
            </a:r>
          </a:p>
        </p:txBody>
      </p:sp>
      <p:sp>
        <p:nvSpPr>
          <p:cNvPr id="510" name="TB510">
            <a:extLst>
              <a:ext uri="{FF2B5EF4-FFF2-40B4-BE49-F238E27FC236}">
                <a16:creationId xmlns:a16="http://schemas.microsoft.com/office/drawing/2014/main" id="{4DA09FB1-BC44-4EF4-84C9-1E1C9AB5BEBF}"/>
              </a:ext>
            </a:extLst>
          </p:cNvPr>
          <p:cNvSpPr>
            <a:spLocks noGrp="1"/>
          </p:cNvSpPr>
          <p:nvPr/>
        </p:nvSpPr>
        <p:spPr>
          <a:xfrm>
            <a:off x="8429625" y="5800725"/>
            <a:ext cx="28384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133350" indent="-104775" algn="l">
              <a:spcAft>
                <a:spcPts val="75"/>
              </a:spcAft>
              <a:buChar char="-"/>
              <a:defRPr sz="1250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defRPr>
            </a:pPr>
            <a:r>
              <a:rPr sz="1250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rPr>
              <a:t>신청 </a:t>
            </a:r>
            <a:r>
              <a:rPr sz="1250" b="1">
                <a:solidFill>
                  <a:srgbClr val="002C5F"/>
                </a:solidFill>
                <a:latin typeface="Pretendard Medium"/>
                <a:ea typeface="Pretendard Medium"/>
                <a:cs typeface="Pretendard Medium"/>
              </a:rPr>
              <a:t>6개월</a:t>
            </a:r>
            <a:r>
              <a:rPr sz="1250" b="0">
                <a:solidFill>
                  <a:srgbClr val="203D6B"/>
                </a:solidFill>
                <a:latin typeface="Pretendard Medium"/>
                <a:ea typeface="Pretendard Medium"/>
                <a:cs typeface="Pretendard Medium"/>
              </a:rPr>
              <a:t> 만에 혁신금융서비스 지정</a:t>
            </a:r>
          </a:p>
        </p:txBody>
      </p:sp>
      <p:sp>
        <p:nvSpPr>
          <p:cNvPr id="511" name="TB511"/>
          <p:cNvSpPr txBox="1"/>
          <p:nvPr/>
        </p:nvSpPr>
        <p:spPr>
          <a:xfrm>
            <a:off x="11601450" y="6591300"/>
            <a:ext cx="47625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ko-KR" altLang="en-US" sz="1200" b="0" dirty="0">
                <a:solidFill>
                  <a:srgbClr val="888888"/>
                </a:solidFill>
                <a:latin typeface="Pretendard Medium"/>
                <a:ea typeface="Pretendard Medium"/>
                <a:cs typeface="Pretendard Medium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37296</TotalTime>
  <Words>3853</Words>
  <Application>Microsoft Office PowerPoint</Application>
  <PresentationFormat>와이드스크린</PresentationFormat>
  <Paragraphs>542</Paragraphs>
  <Slides>27</Slides>
  <Notes>27</Notes>
  <HiddenSlides>0</HiddenSlides>
  <MMClips>0</MMClips>
  <ScaleCrop>false</ScaleCrop>
  <HeadingPairs>
    <vt:vector size="8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0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Pretendard Medium</vt:lpstr>
      <vt:lpstr>Arial</vt:lpstr>
      <vt:lpstr>나눔스퀘어라운드OTF Regular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수지 이</cp:lastModifiedBy>
  <cp:revision>1850</cp:revision>
  <dcterms:created xsi:type="dcterms:W3CDTF">2018-09-25T08:09:04Z</dcterms:created>
  <dcterms:modified xsi:type="dcterms:W3CDTF">2026-09-20T12:50:30Z</dcterms:modified>
</cp:coreProperties>
</file>